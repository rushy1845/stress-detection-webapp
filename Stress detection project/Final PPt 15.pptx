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3">
  <p:sldMasterIdLst>
    <p:sldMasterId id="2147483648" r:id="rId1"/>
  </p:sldMasterIdLst>
  <p:sldIdLst>
    <p:sldId id="282" r:id="rId2"/>
    <p:sldId id="256" r:id="rId3"/>
    <p:sldId id="257" r:id="rId4"/>
    <p:sldId id="258" r:id="rId5"/>
    <p:sldId id="285" r:id="rId6"/>
    <p:sldId id="259" r:id="rId7"/>
    <p:sldId id="260" r:id="rId8"/>
    <p:sldId id="261" r:id="rId9"/>
    <p:sldId id="286" r:id="rId10"/>
    <p:sldId id="262" r:id="rId11"/>
    <p:sldId id="263" r:id="rId12"/>
    <p:sldId id="264" r:id="rId13"/>
    <p:sldId id="289" r:id="rId14"/>
    <p:sldId id="265" r:id="rId15"/>
    <p:sldId id="288" r:id="rId16"/>
    <p:sldId id="266" r:id="rId17"/>
    <p:sldId id="267" r:id="rId18"/>
    <p:sldId id="268" r:id="rId19"/>
    <p:sldId id="269" r:id="rId20"/>
    <p:sldId id="270" r:id="rId21"/>
    <p:sldId id="271" r:id="rId22"/>
    <p:sldId id="272" r:id="rId23"/>
    <p:sldId id="273" r:id="rId24"/>
    <p:sldId id="292" r:id="rId25"/>
    <p:sldId id="274" r:id="rId26"/>
    <p:sldId id="275" r:id="rId27"/>
    <p:sldId id="291" r:id="rId28"/>
    <p:sldId id="277" r:id="rId29"/>
    <p:sldId id="290" r:id="rId30"/>
    <p:sldId id="278" r:id="rId31"/>
    <p:sldId id="279" r:id="rId32"/>
    <p:sldId id="283" r:id="rId33"/>
    <p:sldId id="280" r:id="rId34"/>
    <p:sldId id="281"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83" d="100"/>
          <a:sy n="83" d="100"/>
        </p:scale>
        <p:origin x="658"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9A22710-4047-794F-0DF8-09DC3CF31B2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xmlns="" id="{177C3200-2126-AE3A-1953-463FD65508F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xmlns="" id="{B64EEC9A-ED14-CF07-62A7-69A6949B2403}"/>
              </a:ext>
            </a:extLst>
          </p:cNvPr>
          <p:cNvSpPr>
            <a:spLocks noGrp="1"/>
          </p:cNvSpPr>
          <p:nvPr>
            <p:ph type="dt" sz="half" idx="10"/>
          </p:nvPr>
        </p:nvSpPr>
        <p:spPr/>
        <p:txBody>
          <a:bodyPr/>
          <a:lstStyle/>
          <a:p>
            <a:fld id="{3132D215-7036-4912-B65F-40C5BCA61A74}" type="datetimeFigureOut">
              <a:rPr lang="en-IN" smtClean="0"/>
              <a:t>25-05-2024</a:t>
            </a:fld>
            <a:endParaRPr lang="en-IN"/>
          </a:p>
        </p:txBody>
      </p:sp>
      <p:sp>
        <p:nvSpPr>
          <p:cNvPr id="5" name="Footer Placeholder 4">
            <a:extLst>
              <a:ext uri="{FF2B5EF4-FFF2-40B4-BE49-F238E27FC236}">
                <a16:creationId xmlns:a16="http://schemas.microsoft.com/office/drawing/2014/main" xmlns="" id="{8B10FCB9-9C91-DEC5-FBAD-88675C11E72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B5AB770E-954F-20F7-91A0-7401CE26E324}"/>
              </a:ext>
            </a:extLst>
          </p:cNvPr>
          <p:cNvSpPr>
            <a:spLocks noGrp="1"/>
          </p:cNvSpPr>
          <p:nvPr>
            <p:ph type="sldNum" sz="quarter" idx="12"/>
          </p:nvPr>
        </p:nvSpPr>
        <p:spPr/>
        <p:txBody>
          <a:bodyPr/>
          <a:lstStyle/>
          <a:p>
            <a:fld id="{3666057D-A0FB-46C0-8D7F-B26D053002F4}" type="slidenum">
              <a:rPr lang="en-IN" smtClean="0"/>
              <a:t>‹#›</a:t>
            </a:fld>
            <a:endParaRPr lang="en-IN"/>
          </a:p>
        </p:txBody>
      </p:sp>
    </p:spTree>
    <p:extLst>
      <p:ext uri="{BB962C8B-B14F-4D97-AF65-F5344CB8AC3E}">
        <p14:creationId xmlns:p14="http://schemas.microsoft.com/office/powerpoint/2010/main" val="35890908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07F8764-2BFE-0E46-6E6E-CB1AAF5DBEB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D801F3C1-F7B8-D3B9-BD59-781B5A252AF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C6FB2786-C8B9-1538-6DA4-B9E993023F46}"/>
              </a:ext>
            </a:extLst>
          </p:cNvPr>
          <p:cNvSpPr>
            <a:spLocks noGrp="1"/>
          </p:cNvSpPr>
          <p:nvPr>
            <p:ph type="dt" sz="half" idx="10"/>
          </p:nvPr>
        </p:nvSpPr>
        <p:spPr/>
        <p:txBody>
          <a:bodyPr/>
          <a:lstStyle/>
          <a:p>
            <a:fld id="{3132D215-7036-4912-B65F-40C5BCA61A74}" type="datetimeFigureOut">
              <a:rPr lang="en-IN" smtClean="0"/>
              <a:t>25-05-2024</a:t>
            </a:fld>
            <a:endParaRPr lang="en-IN"/>
          </a:p>
        </p:txBody>
      </p:sp>
      <p:sp>
        <p:nvSpPr>
          <p:cNvPr id="5" name="Footer Placeholder 4">
            <a:extLst>
              <a:ext uri="{FF2B5EF4-FFF2-40B4-BE49-F238E27FC236}">
                <a16:creationId xmlns:a16="http://schemas.microsoft.com/office/drawing/2014/main" xmlns="" id="{223FC2C6-808A-5441-BE6A-3E33EEE6C76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592187BA-6126-EF98-23C7-F7F6AB0C0A4F}"/>
              </a:ext>
            </a:extLst>
          </p:cNvPr>
          <p:cNvSpPr>
            <a:spLocks noGrp="1"/>
          </p:cNvSpPr>
          <p:nvPr>
            <p:ph type="sldNum" sz="quarter" idx="12"/>
          </p:nvPr>
        </p:nvSpPr>
        <p:spPr/>
        <p:txBody>
          <a:bodyPr/>
          <a:lstStyle/>
          <a:p>
            <a:fld id="{3666057D-A0FB-46C0-8D7F-B26D053002F4}" type="slidenum">
              <a:rPr lang="en-IN" smtClean="0"/>
              <a:t>‹#›</a:t>
            </a:fld>
            <a:endParaRPr lang="en-IN"/>
          </a:p>
        </p:txBody>
      </p:sp>
    </p:spTree>
    <p:extLst>
      <p:ext uri="{BB962C8B-B14F-4D97-AF65-F5344CB8AC3E}">
        <p14:creationId xmlns:p14="http://schemas.microsoft.com/office/powerpoint/2010/main" val="6548522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E0D5BC5-DE5F-972F-31B9-7471928F6D9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xmlns="" id="{571BBA3A-0C1A-8349-D272-3C1CD0E1430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xmlns="" id="{28B24266-5FA9-4729-82EC-36C8B35EF498}"/>
              </a:ext>
            </a:extLst>
          </p:cNvPr>
          <p:cNvSpPr>
            <a:spLocks noGrp="1"/>
          </p:cNvSpPr>
          <p:nvPr>
            <p:ph type="dt" sz="half" idx="10"/>
          </p:nvPr>
        </p:nvSpPr>
        <p:spPr/>
        <p:txBody>
          <a:bodyPr/>
          <a:lstStyle/>
          <a:p>
            <a:fld id="{3132D215-7036-4912-B65F-40C5BCA61A74}" type="datetimeFigureOut">
              <a:rPr lang="en-IN" smtClean="0"/>
              <a:t>25-05-2024</a:t>
            </a:fld>
            <a:endParaRPr lang="en-IN"/>
          </a:p>
        </p:txBody>
      </p:sp>
      <p:sp>
        <p:nvSpPr>
          <p:cNvPr id="5" name="Footer Placeholder 4">
            <a:extLst>
              <a:ext uri="{FF2B5EF4-FFF2-40B4-BE49-F238E27FC236}">
                <a16:creationId xmlns:a16="http://schemas.microsoft.com/office/drawing/2014/main" xmlns="" id="{576E861D-1F64-4A62-1B26-C878088E4C2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593D238C-3AF9-6B55-1799-E97CDEA2D58E}"/>
              </a:ext>
            </a:extLst>
          </p:cNvPr>
          <p:cNvSpPr>
            <a:spLocks noGrp="1"/>
          </p:cNvSpPr>
          <p:nvPr>
            <p:ph type="sldNum" sz="quarter" idx="12"/>
          </p:nvPr>
        </p:nvSpPr>
        <p:spPr/>
        <p:txBody>
          <a:bodyPr/>
          <a:lstStyle/>
          <a:p>
            <a:fld id="{3666057D-A0FB-46C0-8D7F-B26D053002F4}" type="slidenum">
              <a:rPr lang="en-IN" smtClean="0"/>
              <a:t>‹#›</a:t>
            </a:fld>
            <a:endParaRPr lang="en-IN"/>
          </a:p>
        </p:txBody>
      </p:sp>
    </p:spTree>
    <p:extLst>
      <p:ext uri="{BB962C8B-B14F-4D97-AF65-F5344CB8AC3E}">
        <p14:creationId xmlns:p14="http://schemas.microsoft.com/office/powerpoint/2010/main" val="11401615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C96CA34-9ED8-1123-5E07-17B043C31A3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2BB598AA-4B28-7696-9913-601A18545A7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xmlns="" id="{43F03923-5552-6744-C340-12E9A05DE85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xmlns="" id="{422C34BA-BD8F-4449-89F3-04430F88DCC5}"/>
              </a:ext>
            </a:extLst>
          </p:cNvPr>
          <p:cNvSpPr>
            <a:spLocks noGrp="1"/>
          </p:cNvSpPr>
          <p:nvPr>
            <p:ph type="dt" sz="half" idx="10"/>
          </p:nvPr>
        </p:nvSpPr>
        <p:spPr/>
        <p:txBody>
          <a:bodyPr/>
          <a:lstStyle/>
          <a:p>
            <a:fld id="{3132D215-7036-4912-B65F-40C5BCA61A74}" type="datetimeFigureOut">
              <a:rPr lang="en-IN" smtClean="0"/>
              <a:t>25-05-2024</a:t>
            </a:fld>
            <a:endParaRPr lang="en-IN"/>
          </a:p>
        </p:txBody>
      </p:sp>
      <p:sp>
        <p:nvSpPr>
          <p:cNvPr id="6" name="Footer Placeholder 5">
            <a:extLst>
              <a:ext uri="{FF2B5EF4-FFF2-40B4-BE49-F238E27FC236}">
                <a16:creationId xmlns:a16="http://schemas.microsoft.com/office/drawing/2014/main" xmlns="" id="{30AE7B84-2B41-CFB2-946E-DFB2038AD2B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2CB230A4-D21F-5ED1-1A5C-36A3FA9BFCC1}"/>
              </a:ext>
            </a:extLst>
          </p:cNvPr>
          <p:cNvSpPr>
            <a:spLocks noGrp="1"/>
          </p:cNvSpPr>
          <p:nvPr>
            <p:ph type="sldNum" sz="quarter" idx="12"/>
          </p:nvPr>
        </p:nvSpPr>
        <p:spPr/>
        <p:txBody>
          <a:bodyPr/>
          <a:lstStyle/>
          <a:p>
            <a:fld id="{3666057D-A0FB-46C0-8D7F-B26D053002F4}" type="slidenum">
              <a:rPr lang="en-IN" smtClean="0"/>
              <a:t>‹#›</a:t>
            </a:fld>
            <a:endParaRPr lang="en-IN"/>
          </a:p>
        </p:txBody>
      </p:sp>
    </p:spTree>
    <p:extLst>
      <p:ext uri="{BB962C8B-B14F-4D97-AF65-F5344CB8AC3E}">
        <p14:creationId xmlns:p14="http://schemas.microsoft.com/office/powerpoint/2010/main" val="19535922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BFE998A-4716-BCE8-F1E4-118AEDF69E7E}"/>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xmlns="" id="{C9CC8A5F-A75A-6B94-8549-D8651DE49A7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xmlns="" id="{BB66FB63-8624-1608-44E5-74702C5B898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xmlns="" id="{86F372E6-1B3C-F87A-903F-8F1B6DEB140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xmlns="" id="{CBB32298-3055-840A-77E4-891970825B1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xmlns="" id="{B85B7F9C-44A4-6F56-E024-53730251E173}"/>
              </a:ext>
            </a:extLst>
          </p:cNvPr>
          <p:cNvSpPr>
            <a:spLocks noGrp="1"/>
          </p:cNvSpPr>
          <p:nvPr>
            <p:ph type="dt" sz="half" idx="10"/>
          </p:nvPr>
        </p:nvSpPr>
        <p:spPr/>
        <p:txBody>
          <a:bodyPr/>
          <a:lstStyle/>
          <a:p>
            <a:fld id="{3132D215-7036-4912-B65F-40C5BCA61A74}" type="datetimeFigureOut">
              <a:rPr lang="en-IN" smtClean="0"/>
              <a:t>25-05-2024</a:t>
            </a:fld>
            <a:endParaRPr lang="en-IN"/>
          </a:p>
        </p:txBody>
      </p:sp>
      <p:sp>
        <p:nvSpPr>
          <p:cNvPr id="8" name="Footer Placeholder 7">
            <a:extLst>
              <a:ext uri="{FF2B5EF4-FFF2-40B4-BE49-F238E27FC236}">
                <a16:creationId xmlns:a16="http://schemas.microsoft.com/office/drawing/2014/main" xmlns="" id="{8FDEB86C-3B36-2D39-5E52-03088D5F2C95}"/>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xmlns="" id="{66331DE4-9557-3A1F-4045-185DF830E083}"/>
              </a:ext>
            </a:extLst>
          </p:cNvPr>
          <p:cNvSpPr>
            <a:spLocks noGrp="1"/>
          </p:cNvSpPr>
          <p:nvPr>
            <p:ph type="sldNum" sz="quarter" idx="12"/>
          </p:nvPr>
        </p:nvSpPr>
        <p:spPr/>
        <p:txBody>
          <a:bodyPr/>
          <a:lstStyle/>
          <a:p>
            <a:fld id="{3666057D-A0FB-46C0-8D7F-B26D053002F4}" type="slidenum">
              <a:rPr lang="en-IN" smtClean="0"/>
              <a:t>‹#›</a:t>
            </a:fld>
            <a:endParaRPr lang="en-IN"/>
          </a:p>
        </p:txBody>
      </p:sp>
    </p:spTree>
    <p:extLst>
      <p:ext uri="{BB962C8B-B14F-4D97-AF65-F5344CB8AC3E}">
        <p14:creationId xmlns:p14="http://schemas.microsoft.com/office/powerpoint/2010/main" val="32928276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8D05AD0-DA3B-40AC-8AD4-092515887DE3}"/>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xmlns="" id="{F55FCDD3-30BA-5C90-DE4E-238F3D14F1E0}"/>
              </a:ext>
            </a:extLst>
          </p:cNvPr>
          <p:cNvSpPr>
            <a:spLocks noGrp="1"/>
          </p:cNvSpPr>
          <p:nvPr>
            <p:ph type="dt" sz="half" idx="10"/>
          </p:nvPr>
        </p:nvSpPr>
        <p:spPr/>
        <p:txBody>
          <a:bodyPr/>
          <a:lstStyle/>
          <a:p>
            <a:fld id="{3132D215-7036-4912-B65F-40C5BCA61A74}" type="datetimeFigureOut">
              <a:rPr lang="en-IN" smtClean="0"/>
              <a:t>25-05-2024</a:t>
            </a:fld>
            <a:endParaRPr lang="en-IN"/>
          </a:p>
        </p:txBody>
      </p:sp>
      <p:sp>
        <p:nvSpPr>
          <p:cNvPr id="4" name="Footer Placeholder 3">
            <a:extLst>
              <a:ext uri="{FF2B5EF4-FFF2-40B4-BE49-F238E27FC236}">
                <a16:creationId xmlns:a16="http://schemas.microsoft.com/office/drawing/2014/main" xmlns="" id="{8C1B92B6-C923-BE39-DF95-6058290A9375}"/>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xmlns="" id="{74176DB8-95D7-DC0D-EF67-7C741BE2EA1A}"/>
              </a:ext>
            </a:extLst>
          </p:cNvPr>
          <p:cNvSpPr>
            <a:spLocks noGrp="1"/>
          </p:cNvSpPr>
          <p:nvPr>
            <p:ph type="sldNum" sz="quarter" idx="12"/>
          </p:nvPr>
        </p:nvSpPr>
        <p:spPr/>
        <p:txBody>
          <a:bodyPr/>
          <a:lstStyle/>
          <a:p>
            <a:fld id="{3666057D-A0FB-46C0-8D7F-B26D053002F4}" type="slidenum">
              <a:rPr lang="en-IN" smtClean="0"/>
              <a:t>‹#›</a:t>
            </a:fld>
            <a:endParaRPr lang="en-IN"/>
          </a:p>
        </p:txBody>
      </p:sp>
    </p:spTree>
    <p:extLst>
      <p:ext uri="{BB962C8B-B14F-4D97-AF65-F5344CB8AC3E}">
        <p14:creationId xmlns:p14="http://schemas.microsoft.com/office/powerpoint/2010/main" val="29020078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8D6F90D4-45C5-7188-268A-FB6793195E90}"/>
              </a:ext>
            </a:extLst>
          </p:cNvPr>
          <p:cNvSpPr>
            <a:spLocks noGrp="1"/>
          </p:cNvSpPr>
          <p:nvPr>
            <p:ph type="dt" sz="half" idx="10"/>
          </p:nvPr>
        </p:nvSpPr>
        <p:spPr/>
        <p:txBody>
          <a:bodyPr/>
          <a:lstStyle/>
          <a:p>
            <a:fld id="{3132D215-7036-4912-B65F-40C5BCA61A74}" type="datetimeFigureOut">
              <a:rPr lang="en-IN" smtClean="0"/>
              <a:t>25-05-2024</a:t>
            </a:fld>
            <a:endParaRPr lang="en-IN"/>
          </a:p>
        </p:txBody>
      </p:sp>
      <p:sp>
        <p:nvSpPr>
          <p:cNvPr id="3" name="Footer Placeholder 2">
            <a:extLst>
              <a:ext uri="{FF2B5EF4-FFF2-40B4-BE49-F238E27FC236}">
                <a16:creationId xmlns:a16="http://schemas.microsoft.com/office/drawing/2014/main" xmlns="" id="{0064F1FA-EBFE-E5F9-8EA5-CA9CD2B8C428}"/>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xmlns="" id="{50CDCEA1-FA96-79D6-EFD8-23B6D9AA4511}"/>
              </a:ext>
            </a:extLst>
          </p:cNvPr>
          <p:cNvSpPr>
            <a:spLocks noGrp="1"/>
          </p:cNvSpPr>
          <p:nvPr>
            <p:ph type="sldNum" sz="quarter" idx="12"/>
          </p:nvPr>
        </p:nvSpPr>
        <p:spPr/>
        <p:txBody>
          <a:bodyPr/>
          <a:lstStyle/>
          <a:p>
            <a:fld id="{3666057D-A0FB-46C0-8D7F-B26D053002F4}" type="slidenum">
              <a:rPr lang="en-IN" smtClean="0"/>
              <a:t>‹#›</a:t>
            </a:fld>
            <a:endParaRPr lang="en-IN"/>
          </a:p>
        </p:txBody>
      </p:sp>
    </p:spTree>
    <p:extLst>
      <p:ext uri="{BB962C8B-B14F-4D97-AF65-F5344CB8AC3E}">
        <p14:creationId xmlns:p14="http://schemas.microsoft.com/office/powerpoint/2010/main" val="29993895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2AA6EC2-BFB0-5807-C013-8115C4EF15E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15F6FCFD-51E7-34F8-7590-3D493D69C4E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xmlns="" id="{CADFEB07-05C5-A37E-275F-6B2D43DFD8C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CDB2FB27-BF1D-19A5-8D19-78AD15F2C99E}"/>
              </a:ext>
            </a:extLst>
          </p:cNvPr>
          <p:cNvSpPr>
            <a:spLocks noGrp="1"/>
          </p:cNvSpPr>
          <p:nvPr>
            <p:ph type="dt" sz="half" idx="10"/>
          </p:nvPr>
        </p:nvSpPr>
        <p:spPr/>
        <p:txBody>
          <a:bodyPr/>
          <a:lstStyle/>
          <a:p>
            <a:fld id="{3132D215-7036-4912-B65F-40C5BCA61A74}" type="datetimeFigureOut">
              <a:rPr lang="en-IN" smtClean="0"/>
              <a:t>25-05-2024</a:t>
            </a:fld>
            <a:endParaRPr lang="en-IN"/>
          </a:p>
        </p:txBody>
      </p:sp>
      <p:sp>
        <p:nvSpPr>
          <p:cNvPr id="6" name="Footer Placeholder 5">
            <a:extLst>
              <a:ext uri="{FF2B5EF4-FFF2-40B4-BE49-F238E27FC236}">
                <a16:creationId xmlns:a16="http://schemas.microsoft.com/office/drawing/2014/main" xmlns="" id="{E2C7EA93-994F-BB28-A310-B1B5F9EC4BF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C1F0937D-CA15-FDD2-592C-3D0D6B587AFB}"/>
              </a:ext>
            </a:extLst>
          </p:cNvPr>
          <p:cNvSpPr>
            <a:spLocks noGrp="1"/>
          </p:cNvSpPr>
          <p:nvPr>
            <p:ph type="sldNum" sz="quarter" idx="12"/>
          </p:nvPr>
        </p:nvSpPr>
        <p:spPr/>
        <p:txBody>
          <a:bodyPr/>
          <a:lstStyle/>
          <a:p>
            <a:fld id="{3666057D-A0FB-46C0-8D7F-B26D053002F4}" type="slidenum">
              <a:rPr lang="en-IN" smtClean="0"/>
              <a:t>‹#›</a:t>
            </a:fld>
            <a:endParaRPr lang="en-IN"/>
          </a:p>
        </p:txBody>
      </p:sp>
    </p:spTree>
    <p:extLst>
      <p:ext uri="{BB962C8B-B14F-4D97-AF65-F5344CB8AC3E}">
        <p14:creationId xmlns:p14="http://schemas.microsoft.com/office/powerpoint/2010/main" val="11794037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E06475E-CC02-C210-7258-2676733D92B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xmlns="" id="{DA99344B-0AA9-8488-D48E-91E69093517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xmlns="" id="{F5CBD01B-A421-545B-113C-D9CADD61E30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D1203F74-EE05-ECA1-ABCC-9330D334E18D}"/>
              </a:ext>
            </a:extLst>
          </p:cNvPr>
          <p:cNvSpPr>
            <a:spLocks noGrp="1"/>
          </p:cNvSpPr>
          <p:nvPr>
            <p:ph type="dt" sz="half" idx="10"/>
          </p:nvPr>
        </p:nvSpPr>
        <p:spPr/>
        <p:txBody>
          <a:bodyPr/>
          <a:lstStyle/>
          <a:p>
            <a:fld id="{3132D215-7036-4912-B65F-40C5BCA61A74}" type="datetimeFigureOut">
              <a:rPr lang="en-IN" smtClean="0"/>
              <a:t>25-05-2024</a:t>
            </a:fld>
            <a:endParaRPr lang="en-IN"/>
          </a:p>
        </p:txBody>
      </p:sp>
      <p:sp>
        <p:nvSpPr>
          <p:cNvPr id="6" name="Footer Placeholder 5">
            <a:extLst>
              <a:ext uri="{FF2B5EF4-FFF2-40B4-BE49-F238E27FC236}">
                <a16:creationId xmlns:a16="http://schemas.microsoft.com/office/drawing/2014/main" xmlns="" id="{7C3BC05A-11FF-227E-31E7-8B4E1DD555B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F0A37A13-F059-A70D-F99F-691CDC2C1E9C}"/>
              </a:ext>
            </a:extLst>
          </p:cNvPr>
          <p:cNvSpPr>
            <a:spLocks noGrp="1"/>
          </p:cNvSpPr>
          <p:nvPr>
            <p:ph type="sldNum" sz="quarter" idx="12"/>
          </p:nvPr>
        </p:nvSpPr>
        <p:spPr/>
        <p:txBody>
          <a:bodyPr/>
          <a:lstStyle/>
          <a:p>
            <a:fld id="{3666057D-A0FB-46C0-8D7F-B26D053002F4}" type="slidenum">
              <a:rPr lang="en-IN" smtClean="0"/>
              <a:t>‹#›</a:t>
            </a:fld>
            <a:endParaRPr lang="en-IN"/>
          </a:p>
        </p:txBody>
      </p:sp>
    </p:spTree>
    <p:extLst>
      <p:ext uri="{BB962C8B-B14F-4D97-AF65-F5344CB8AC3E}">
        <p14:creationId xmlns:p14="http://schemas.microsoft.com/office/powerpoint/2010/main" val="24011983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5BC5E89-3522-C243-AC58-11A495A1E92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xmlns="" id="{EB16E82A-BE45-D56B-CCCE-E6B8988810B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A767C8AA-F5F7-181D-3415-4BA478381817}"/>
              </a:ext>
            </a:extLst>
          </p:cNvPr>
          <p:cNvSpPr>
            <a:spLocks noGrp="1"/>
          </p:cNvSpPr>
          <p:nvPr>
            <p:ph type="dt" sz="half" idx="10"/>
          </p:nvPr>
        </p:nvSpPr>
        <p:spPr/>
        <p:txBody>
          <a:bodyPr/>
          <a:lstStyle/>
          <a:p>
            <a:fld id="{3132D215-7036-4912-B65F-40C5BCA61A74}" type="datetimeFigureOut">
              <a:rPr lang="en-IN" smtClean="0"/>
              <a:t>25-05-2024</a:t>
            </a:fld>
            <a:endParaRPr lang="en-IN"/>
          </a:p>
        </p:txBody>
      </p:sp>
      <p:sp>
        <p:nvSpPr>
          <p:cNvPr id="5" name="Footer Placeholder 4">
            <a:extLst>
              <a:ext uri="{FF2B5EF4-FFF2-40B4-BE49-F238E27FC236}">
                <a16:creationId xmlns:a16="http://schemas.microsoft.com/office/drawing/2014/main" xmlns="" id="{9453EA08-67DD-9D6A-B47A-88B4C7065EF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2144F13F-BA8F-5641-573D-63E3114B7A2C}"/>
              </a:ext>
            </a:extLst>
          </p:cNvPr>
          <p:cNvSpPr>
            <a:spLocks noGrp="1"/>
          </p:cNvSpPr>
          <p:nvPr>
            <p:ph type="sldNum" sz="quarter" idx="12"/>
          </p:nvPr>
        </p:nvSpPr>
        <p:spPr/>
        <p:txBody>
          <a:bodyPr/>
          <a:lstStyle/>
          <a:p>
            <a:fld id="{3666057D-A0FB-46C0-8D7F-B26D053002F4}" type="slidenum">
              <a:rPr lang="en-IN" smtClean="0"/>
              <a:t>‹#›</a:t>
            </a:fld>
            <a:endParaRPr lang="en-IN"/>
          </a:p>
        </p:txBody>
      </p:sp>
    </p:spTree>
    <p:extLst>
      <p:ext uri="{BB962C8B-B14F-4D97-AF65-F5344CB8AC3E}">
        <p14:creationId xmlns:p14="http://schemas.microsoft.com/office/powerpoint/2010/main" val="6366644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1EFF2B66-BD4E-CBD8-84CF-C2FDA9DD283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xmlns="" id="{A4708AD7-1AC0-4A97-982A-F36E1593B18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62ECDBFE-DE84-D0D1-5C83-1F905754F740}"/>
              </a:ext>
            </a:extLst>
          </p:cNvPr>
          <p:cNvSpPr>
            <a:spLocks noGrp="1"/>
          </p:cNvSpPr>
          <p:nvPr>
            <p:ph type="dt" sz="half" idx="10"/>
          </p:nvPr>
        </p:nvSpPr>
        <p:spPr/>
        <p:txBody>
          <a:bodyPr/>
          <a:lstStyle/>
          <a:p>
            <a:fld id="{3132D215-7036-4912-B65F-40C5BCA61A74}" type="datetimeFigureOut">
              <a:rPr lang="en-IN" smtClean="0"/>
              <a:t>25-05-2024</a:t>
            </a:fld>
            <a:endParaRPr lang="en-IN"/>
          </a:p>
        </p:txBody>
      </p:sp>
      <p:sp>
        <p:nvSpPr>
          <p:cNvPr id="5" name="Footer Placeholder 4">
            <a:extLst>
              <a:ext uri="{FF2B5EF4-FFF2-40B4-BE49-F238E27FC236}">
                <a16:creationId xmlns:a16="http://schemas.microsoft.com/office/drawing/2014/main" xmlns="" id="{150A52A4-2DC8-1F7C-37E9-59773C1657F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F1864B03-37CA-3EE7-BC18-BE4C0AF455C9}"/>
              </a:ext>
            </a:extLst>
          </p:cNvPr>
          <p:cNvSpPr>
            <a:spLocks noGrp="1"/>
          </p:cNvSpPr>
          <p:nvPr>
            <p:ph type="sldNum" sz="quarter" idx="12"/>
          </p:nvPr>
        </p:nvSpPr>
        <p:spPr/>
        <p:txBody>
          <a:bodyPr/>
          <a:lstStyle/>
          <a:p>
            <a:fld id="{3666057D-A0FB-46C0-8D7F-B26D053002F4}" type="slidenum">
              <a:rPr lang="en-IN" smtClean="0"/>
              <a:t>‹#›</a:t>
            </a:fld>
            <a:endParaRPr lang="en-IN"/>
          </a:p>
        </p:txBody>
      </p:sp>
    </p:spTree>
    <p:extLst>
      <p:ext uri="{BB962C8B-B14F-4D97-AF65-F5344CB8AC3E}">
        <p14:creationId xmlns:p14="http://schemas.microsoft.com/office/powerpoint/2010/main" val="2507381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200AE49C-CBA0-3893-97E3-3F9DCB11044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xmlns="" id="{6DE32513-69FB-D9F7-9313-871F6934605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E6752F68-CAC5-3B19-EAD0-933566D13FF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132D215-7036-4912-B65F-40C5BCA61A74}" type="datetimeFigureOut">
              <a:rPr lang="en-IN" smtClean="0"/>
              <a:t>25-05-2024</a:t>
            </a:fld>
            <a:endParaRPr lang="en-IN"/>
          </a:p>
        </p:txBody>
      </p:sp>
      <p:sp>
        <p:nvSpPr>
          <p:cNvPr id="5" name="Footer Placeholder 4">
            <a:extLst>
              <a:ext uri="{FF2B5EF4-FFF2-40B4-BE49-F238E27FC236}">
                <a16:creationId xmlns:a16="http://schemas.microsoft.com/office/drawing/2014/main" xmlns="" id="{BD5B19AA-5E6C-575C-B22D-08060B3455E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xmlns="" id="{A0E1E77B-FD70-7450-7E57-9FEB5D15F5C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666057D-A0FB-46C0-8D7F-B26D053002F4}" type="slidenum">
              <a:rPr lang="en-IN" smtClean="0"/>
              <a:t>‹#›</a:t>
            </a:fld>
            <a:endParaRPr lang="en-IN"/>
          </a:p>
        </p:txBody>
      </p:sp>
    </p:spTree>
    <p:extLst>
      <p:ext uri="{BB962C8B-B14F-4D97-AF65-F5344CB8AC3E}">
        <p14:creationId xmlns:p14="http://schemas.microsoft.com/office/powerpoint/2010/main" val="327011857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image4.png">
            <a:extLst>
              <a:ext uri="{FF2B5EF4-FFF2-40B4-BE49-F238E27FC236}">
                <a16:creationId xmlns:a16="http://schemas.microsoft.com/office/drawing/2014/main" xmlns="" id="{CCD7B43A-703D-9FBF-9EE0-07FA16208682}"/>
              </a:ext>
            </a:extLst>
          </p:cNvPr>
          <p:cNvPicPr/>
          <p:nvPr/>
        </p:nvPicPr>
        <p:blipFill>
          <a:blip r:embed="rId2"/>
          <a:srcRect/>
          <a:stretch>
            <a:fillRect/>
          </a:stretch>
        </p:blipFill>
        <p:spPr>
          <a:xfrm>
            <a:off x="5388662" y="4031873"/>
            <a:ext cx="1212619" cy="1372827"/>
          </a:xfrm>
          <a:prstGeom prst="rect">
            <a:avLst/>
          </a:prstGeom>
          <a:ln/>
        </p:spPr>
      </p:pic>
      <p:sp>
        <p:nvSpPr>
          <p:cNvPr id="15" name="TextBox 14">
            <a:extLst>
              <a:ext uri="{FF2B5EF4-FFF2-40B4-BE49-F238E27FC236}">
                <a16:creationId xmlns:a16="http://schemas.microsoft.com/office/drawing/2014/main" xmlns="" id="{836FA736-1092-2E5D-A56E-6E0DE51F7172}"/>
              </a:ext>
            </a:extLst>
          </p:cNvPr>
          <p:cNvSpPr txBox="1"/>
          <p:nvPr/>
        </p:nvSpPr>
        <p:spPr>
          <a:xfrm>
            <a:off x="1" y="0"/>
            <a:ext cx="11989942" cy="4031873"/>
          </a:xfrm>
          <a:prstGeom prst="rect">
            <a:avLst/>
          </a:prstGeom>
          <a:noFill/>
        </p:spPr>
        <p:txBody>
          <a:bodyPr wrap="square" rtlCol="0">
            <a:spAutoFit/>
          </a:bodyPr>
          <a:lstStyle/>
          <a:p>
            <a:pPr algn="ctr"/>
            <a:r>
              <a:rPr lang="en-US" sz="2000" b="1" dirty="0">
                <a:solidFill>
                  <a:srgbClr val="00000A"/>
                </a:solidFill>
                <a:effectLst/>
                <a:latin typeface="Times New Roman" panose="02020603050405020304" pitchFamily="18" charset="0"/>
                <a:ea typeface="Times New Roman" panose="02020603050405020304" pitchFamily="18" charset="0"/>
              </a:rPr>
              <a:t> </a:t>
            </a:r>
            <a:r>
              <a:rPr lang="en-US" sz="1600" b="1" dirty="0">
                <a:solidFill>
                  <a:srgbClr val="00000A"/>
                </a:solidFill>
                <a:effectLst/>
                <a:latin typeface="Times New Roman" panose="02020603050405020304" pitchFamily="18" charset="0"/>
                <a:ea typeface="Times New Roman" panose="02020603050405020304" pitchFamily="18" charset="0"/>
              </a:rPr>
              <a:t>A PROJECT REPORT</a:t>
            </a:r>
            <a:r>
              <a:rPr lang="en-IN" sz="1600" b="1" dirty="0">
                <a:solidFill>
                  <a:srgbClr val="00000A"/>
                </a:solidFill>
                <a:latin typeface="Times New Roman" panose="02020603050405020304" pitchFamily="18" charset="0"/>
                <a:ea typeface="Times New Roman" panose="02020603050405020304" pitchFamily="18" charset="0"/>
              </a:rPr>
              <a:t/>
            </a:r>
            <a:br>
              <a:rPr lang="en-IN" sz="1600" b="1" dirty="0">
                <a:solidFill>
                  <a:srgbClr val="00000A"/>
                </a:solidFill>
                <a:latin typeface="Times New Roman" panose="02020603050405020304" pitchFamily="18" charset="0"/>
                <a:ea typeface="Times New Roman" panose="02020603050405020304" pitchFamily="18" charset="0"/>
              </a:rPr>
            </a:br>
            <a:r>
              <a:rPr lang="en-IN" sz="1600" b="1" dirty="0">
                <a:solidFill>
                  <a:srgbClr val="00000A"/>
                </a:solidFill>
                <a:latin typeface="Times New Roman" panose="02020603050405020304" pitchFamily="18" charset="0"/>
                <a:ea typeface="Times New Roman" panose="02020603050405020304" pitchFamily="18" charset="0"/>
              </a:rPr>
              <a:t>on</a:t>
            </a:r>
            <a:r>
              <a:rPr lang="en-IN" sz="1600" dirty="0">
                <a:solidFill>
                  <a:srgbClr val="00000A"/>
                </a:solidFill>
                <a:effectLst/>
                <a:latin typeface="Times New Roman" panose="02020603050405020304" pitchFamily="18" charset="0"/>
                <a:ea typeface="Times New Roman" panose="02020603050405020304" pitchFamily="18" charset="0"/>
              </a:rPr>
              <a:t/>
            </a:r>
            <a:br>
              <a:rPr lang="en-IN" sz="1600" dirty="0">
                <a:solidFill>
                  <a:srgbClr val="00000A"/>
                </a:solidFill>
                <a:effectLst/>
                <a:latin typeface="Times New Roman" panose="02020603050405020304" pitchFamily="18" charset="0"/>
                <a:ea typeface="Times New Roman" panose="02020603050405020304" pitchFamily="18" charset="0"/>
              </a:rPr>
            </a:br>
            <a:r>
              <a:rPr lang="en-US" b="1" dirty="0" smtClean="0">
                <a:solidFill>
                  <a:srgbClr val="FF0000"/>
                </a:solidFill>
                <a:effectLst/>
                <a:latin typeface="Times New Roman" panose="02020603050405020304" pitchFamily="18" charset="0"/>
                <a:ea typeface="Times New Roman" panose="02020603050405020304" pitchFamily="18" charset="0"/>
              </a:rPr>
              <a:t>“</a:t>
            </a:r>
            <a:r>
              <a:rPr lang="en-US" b="1" dirty="0" smtClean="0">
                <a:solidFill>
                  <a:srgbClr val="FF0000"/>
                </a:solidFill>
                <a:latin typeface="Times New Roman" panose="02020603050405020304" pitchFamily="18" charset="0"/>
                <a:ea typeface="Times New Roman" panose="02020603050405020304" pitchFamily="18" charset="0"/>
              </a:rPr>
              <a:t>Stress and Depression Detection via Social Media Using Machine Learning</a:t>
            </a:r>
            <a:r>
              <a:rPr lang="en-US" b="1" dirty="0" smtClean="0">
                <a:solidFill>
                  <a:srgbClr val="FF0000"/>
                </a:solidFill>
                <a:effectLst/>
                <a:latin typeface="Times New Roman" panose="02020603050405020304" pitchFamily="18" charset="0"/>
                <a:ea typeface="Times New Roman" panose="02020603050405020304" pitchFamily="18" charset="0"/>
              </a:rPr>
              <a:t>”</a:t>
            </a:r>
            <a:r>
              <a:rPr lang="en-IN" sz="1600" b="1" dirty="0">
                <a:solidFill>
                  <a:srgbClr val="00000A"/>
                </a:solidFill>
                <a:effectLst/>
                <a:latin typeface="Times New Roman" panose="02020603050405020304" pitchFamily="18" charset="0"/>
                <a:ea typeface="Times New Roman" panose="02020603050405020304" pitchFamily="18" charset="0"/>
              </a:rPr>
              <a:t/>
            </a:r>
            <a:br>
              <a:rPr lang="en-IN" sz="1600" b="1" dirty="0">
                <a:solidFill>
                  <a:srgbClr val="00000A"/>
                </a:solidFill>
                <a:effectLst/>
                <a:latin typeface="Times New Roman" panose="02020603050405020304" pitchFamily="18" charset="0"/>
                <a:ea typeface="Times New Roman" panose="02020603050405020304" pitchFamily="18" charset="0"/>
              </a:rPr>
            </a:br>
            <a:r>
              <a:rPr lang="en-US" sz="1600" dirty="0">
                <a:solidFill>
                  <a:srgbClr val="00000A"/>
                </a:solidFill>
                <a:effectLst/>
                <a:latin typeface="Times New Roman" panose="02020603050405020304" pitchFamily="18" charset="0"/>
                <a:ea typeface="Times New Roman" panose="02020603050405020304" pitchFamily="18" charset="0"/>
              </a:rPr>
              <a:t>  Submitted to the</a:t>
            </a:r>
            <a:r>
              <a:rPr lang="en-IN" sz="1600" dirty="0">
                <a:solidFill>
                  <a:srgbClr val="00000A"/>
                </a:solidFill>
                <a:effectLst/>
                <a:latin typeface="Times New Roman" panose="02020603050405020304" pitchFamily="18" charset="0"/>
                <a:ea typeface="Times New Roman" panose="02020603050405020304" pitchFamily="18" charset="0"/>
              </a:rPr>
              <a:t/>
            </a:r>
            <a:br>
              <a:rPr lang="en-IN" sz="1600" dirty="0">
                <a:solidFill>
                  <a:srgbClr val="00000A"/>
                </a:solidFill>
                <a:effectLst/>
                <a:latin typeface="Times New Roman" panose="02020603050405020304" pitchFamily="18" charset="0"/>
                <a:ea typeface="Times New Roman" panose="02020603050405020304" pitchFamily="18" charset="0"/>
              </a:rPr>
            </a:br>
            <a:r>
              <a:rPr lang="en-US" sz="1600" dirty="0">
                <a:solidFill>
                  <a:srgbClr val="00000A"/>
                </a:solidFill>
                <a:effectLst/>
                <a:latin typeface="Times New Roman" panose="02020603050405020304" pitchFamily="18" charset="0"/>
                <a:ea typeface="Times New Roman" panose="02020603050405020304" pitchFamily="18" charset="0"/>
              </a:rPr>
              <a:t>SAVITRIBAI  PHULE PUNE UNIVERSITY</a:t>
            </a:r>
            <a:r>
              <a:rPr lang="en-IN" sz="1600" dirty="0">
                <a:solidFill>
                  <a:srgbClr val="00000A"/>
                </a:solidFill>
                <a:effectLst/>
                <a:latin typeface="Times New Roman" panose="02020603050405020304" pitchFamily="18" charset="0"/>
                <a:ea typeface="Times New Roman" panose="02020603050405020304" pitchFamily="18" charset="0"/>
              </a:rPr>
              <a:t/>
            </a:r>
            <a:br>
              <a:rPr lang="en-IN" sz="1600" dirty="0">
                <a:solidFill>
                  <a:srgbClr val="00000A"/>
                </a:solidFill>
                <a:effectLst/>
                <a:latin typeface="Times New Roman" panose="02020603050405020304" pitchFamily="18" charset="0"/>
                <a:ea typeface="Times New Roman" panose="02020603050405020304" pitchFamily="18" charset="0"/>
              </a:rPr>
            </a:br>
            <a:r>
              <a:rPr lang="en-US" sz="1600" dirty="0">
                <a:solidFill>
                  <a:srgbClr val="00000A"/>
                </a:solidFill>
                <a:effectLst/>
                <a:latin typeface="Times New Roman" panose="02020603050405020304" pitchFamily="18" charset="0"/>
                <a:ea typeface="Times New Roman" panose="02020603050405020304" pitchFamily="18" charset="0"/>
              </a:rPr>
              <a:t>IN PARTIAL FULFILLMENT FOR THE AWARD OF THE DEGREE OF</a:t>
            </a:r>
            <a:r>
              <a:rPr lang="en-IN" sz="1600" dirty="0">
                <a:solidFill>
                  <a:srgbClr val="00000A"/>
                </a:solidFill>
                <a:effectLst/>
                <a:latin typeface="Times New Roman" panose="02020603050405020304" pitchFamily="18" charset="0"/>
                <a:ea typeface="Times New Roman" panose="02020603050405020304" pitchFamily="18" charset="0"/>
              </a:rPr>
              <a:t/>
            </a:r>
            <a:br>
              <a:rPr lang="en-IN" sz="1600" dirty="0">
                <a:solidFill>
                  <a:srgbClr val="00000A"/>
                </a:solidFill>
                <a:effectLst/>
                <a:latin typeface="Times New Roman" panose="02020603050405020304" pitchFamily="18" charset="0"/>
                <a:ea typeface="Times New Roman" panose="02020603050405020304" pitchFamily="18" charset="0"/>
              </a:rPr>
            </a:br>
            <a:r>
              <a:rPr lang="en-US" sz="1600" b="1" dirty="0">
                <a:solidFill>
                  <a:srgbClr val="00000A"/>
                </a:solidFill>
                <a:effectLst/>
                <a:latin typeface="Times New Roman" panose="02020603050405020304" pitchFamily="18" charset="0"/>
                <a:ea typeface="Times New Roman" panose="02020603050405020304" pitchFamily="18" charset="0"/>
              </a:rPr>
              <a:t>BACHELOR OF ENGINEERING</a:t>
            </a:r>
            <a:r>
              <a:rPr lang="en-IN" sz="1600" dirty="0">
                <a:solidFill>
                  <a:srgbClr val="00000A"/>
                </a:solidFill>
                <a:effectLst/>
                <a:latin typeface="Times New Roman" panose="02020603050405020304" pitchFamily="18" charset="0"/>
                <a:ea typeface="Times New Roman" panose="02020603050405020304" pitchFamily="18" charset="0"/>
              </a:rPr>
              <a:t/>
            </a:r>
            <a:br>
              <a:rPr lang="en-IN" sz="1600" dirty="0">
                <a:solidFill>
                  <a:srgbClr val="00000A"/>
                </a:solidFill>
                <a:effectLst/>
                <a:latin typeface="Times New Roman" panose="02020603050405020304" pitchFamily="18" charset="0"/>
                <a:ea typeface="Times New Roman" panose="02020603050405020304" pitchFamily="18" charset="0"/>
              </a:rPr>
            </a:br>
            <a:r>
              <a:rPr lang="en-US" sz="1600" b="1" dirty="0">
                <a:solidFill>
                  <a:srgbClr val="00000A"/>
                </a:solidFill>
                <a:effectLst/>
                <a:latin typeface="Times New Roman" panose="02020603050405020304" pitchFamily="18" charset="0"/>
                <a:ea typeface="Times New Roman" panose="02020603050405020304" pitchFamily="18" charset="0"/>
              </a:rPr>
              <a:t>Information Technology</a:t>
            </a:r>
            <a:r>
              <a:rPr lang="en-IN" sz="1600" dirty="0">
                <a:solidFill>
                  <a:srgbClr val="00000A"/>
                </a:solidFill>
                <a:effectLst/>
                <a:latin typeface="Times New Roman" panose="02020603050405020304" pitchFamily="18" charset="0"/>
                <a:ea typeface="Times New Roman" panose="02020603050405020304" pitchFamily="18" charset="0"/>
              </a:rPr>
              <a:t/>
            </a:r>
            <a:br>
              <a:rPr lang="en-IN" sz="1600" dirty="0">
                <a:solidFill>
                  <a:srgbClr val="00000A"/>
                </a:solidFill>
                <a:effectLst/>
                <a:latin typeface="Times New Roman" panose="02020603050405020304" pitchFamily="18" charset="0"/>
                <a:ea typeface="Times New Roman" panose="02020603050405020304" pitchFamily="18" charset="0"/>
              </a:rPr>
            </a:br>
            <a:r>
              <a:rPr lang="en-US" sz="1600" dirty="0">
                <a:solidFill>
                  <a:srgbClr val="00000A"/>
                </a:solidFill>
                <a:effectLst/>
                <a:latin typeface="Times New Roman" panose="02020603050405020304" pitchFamily="18" charset="0"/>
                <a:ea typeface="Times New Roman" panose="02020603050405020304" pitchFamily="18" charset="0"/>
              </a:rPr>
              <a:t>By</a:t>
            </a:r>
            <a:r>
              <a:rPr lang="en-IN" sz="1800" dirty="0">
                <a:solidFill>
                  <a:srgbClr val="00000A"/>
                </a:solidFill>
                <a:effectLst/>
                <a:latin typeface="Times New Roman" panose="02020603050405020304" pitchFamily="18" charset="0"/>
                <a:ea typeface="Times New Roman" panose="02020603050405020304" pitchFamily="18" charset="0"/>
              </a:rPr>
              <a:t/>
            </a:r>
            <a:br>
              <a:rPr lang="en-IN" sz="1800" dirty="0">
                <a:solidFill>
                  <a:srgbClr val="00000A"/>
                </a:solidFill>
                <a:effectLst/>
                <a:latin typeface="Times New Roman" panose="02020603050405020304" pitchFamily="18" charset="0"/>
                <a:ea typeface="Times New Roman" panose="02020603050405020304" pitchFamily="18" charset="0"/>
              </a:rPr>
            </a:br>
            <a:r>
              <a:rPr lang="en-IN" dirty="0" err="1" smtClean="0">
                <a:solidFill>
                  <a:srgbClr val="FF0000"/>
                </a:solidFill>
                <a:latin typeface="Times New Roman" panose="02020603050405020304" pitchFamily="18" charset="0"/>
                <a:ea typeface="Times New Roman" panose="02020603050405020304" pitchFamily="18" charset="0"/>
              </a:rPr>
              <a:t>Ashutosh</a:t>
            </a:r>
            <a:r>
              <a:rPr lang="en-IN" dirty="0" smtClean="0">
                <a:solidFill>
                  <a:srgbClr val="FF0000"/>
                </a:solidFill>
                <a:latin typeface="Times New Roman" panose="02020603050405020304" pitchFamily="18" charset="0"/>
                <a:ea typeface="Times New Roman" panose="02020603050405020304" pitchFamily="18" charset="0"/>
              </a:rPr>
              <a:t> </a:t>
            </a:r>
            <a:r>
              <a:rPr lang="en-IN" dirty="0" err="1" smtClean="0">
                <a:solidFill>
                  <a:srgbClr val="FF0000"/>
                </a:solidFill>
                <a:latin typeface="Times New Roman" panose="02020603050405020304" pitchFamily="18" charset="0"/>
                <a:ea typeface="Times New Roman" panose="02020603050405020304" pitchFamily="18" charset="0"/>
              </a:rPr>
              <a:t>Todkar</a:t>
            </a:r>
            <a:r>
              <a:rPr lang="en-IN" dirty="0" smtClean="0">
                <a:solidFill>
                  <a:srgbClr val="FF0000"/>
                </a:solidFill>
                <a:latin typeface="Times New Roman" panose="02020603050405020304" pitchFamily="18" charset="0"/>
                <a:ea typeface="Times New Roman" panose="02020603050405020304" pitchFamily="18" charset="0"/>
              </a:rPr>
              <a:t>	</a:t>
            </a:r>
            <a:r>
              <a:rPr lang="en-IN" sz="1800" dirty="0">
                <a:solidFill>
                  <a:srgbClr val="FF0000"/>
                </a:solidFill>
                <a:effectLst/>
                <a:latin typeface="Times New Roman" panose="02020603050405020304" pitchFamily="18" charset="0"/>
                <a:ea typeface="Times New Roman" panose="02020603050405020304" pitchFamily="18" charset="0"/>
              </a:rPr>
              <a:t>	</a:t>
            </a:r>
            <a:r>
              <a:rPr lang="en-IN" sz="1800" dirty="0" smtClean="0">
                <a:solidFill>
                  <a:srgbClr val="FF0000"/>
                </a:solidFill>
                <a:effectLst/>
                <a:latin typeface="Times New Roman" panose="02020603050405020304" pitchFamily="18" charset="0"/>
                <a:ea typeface="Times New Roman" panose="02020603050405020304" pitchFamily="18" charset="0"/>
              </a:rPr>
              <a:t>(B190658563)</a:t>
            </a:r>
            <a:r>
              <a:rPr lang="en-IN" sz="1800" dirty="0">
                <a:solidFill>
                  <a:srgbClr val="00000A"/>
                </a:solidFill>
                <a:effectLst/>
                <a:latin typeface="Times New Roman" panose="02020603050405020304" pitchFamily="18" charset="0"/>
                <a:ea typeface="Times New Roman" panose="02020603050405020304" pitchFamily="18" charset="0"/>
              </a:rPr>
              <a:t/>
            </a:r>
            <a:br>
              <a:rPr lang="en-IN" sz="1800" dirty="0">
                <a:solidFill>
                  <a:srgbClr val="00000A"/>
                </a:solidFill>
                <a:effectLst/>
                <a:latin typeface="Times New Roman" panose="02020603050405020304" pitchFamily="18" charset="0"/>
                <a:ea typeface="Times New Roman" panose="02020603050405020304" pitchFamily="18" charset="0"/>
              </a:rPr>
            </a:br>
            <a:r>
              <a:rPr lang="en-IN" dirty="0" err="1" smtClean="0">
                <a:solidFill>
                  <a:srgbClr val="FF0000"/>
                </a:solidFill>
                <a:latin typeface="Times New Roman" panose="02020603050405020304" pitchFamily="18" charset="0"/>
                <a:ea typeface="Times New Roman" panose="02020603050405020304" pitchFamily="18" charset="0"/>
              </a:rPr>
              <a:t>Pranit</a:t>
            </a:r>
            <a:r>
              <a:rPr lang="en-IN" dirty="0" smtClean="0">
                <a:solidFill>
                  <a:srgbClr val="FF0000"/>
                </a:solidFill>
                <a:latin typeface="Times New Roman" panose="02020603050405020304" pitchFamily="18" charset="0"/>
                <a:ea typeface="Times New Roman" panose="02020603050405020304" pitchFamily="18" charset="0"/>
              </a:rPr>
              <a:t> </a:t>
            </a:r>
            <a:r>
              <a:rPr lang="en-IN" dirty="0" err="1" smtClean="0">
                <a:solidFill>
                  <a:srgbClr val="FF0000"/>
                </a:solidFill>
                <a:latin typeface="Times New Roman" panose="02020603050405020304" pitchFamily="18" charset="0"/>
                <a:ea typeface="Times New Roman" panose="02020603050405020304" pitchFamily="18" charset="0"/>
              </a:rPr>
              <a:t>Vichare</a:t>
            </a:r>
            <a:r>
              <a:rPr lang="en-IN" sz="1800" dirty="0">
                <a:solidFill>
                  <a:srgbClr val="FF0000"/>
                </a:solidFill>
                <a:effectLst/>
                <a:latin typeface="Times New Roman" panose="02020603050405020304" pitchFamily="18" charset="0"/>
                <a:ea typeface="Times New Roman" panose="02020603050405020304" pitchFamily="18" charset="0"/>
              </a:rPr>
              <a:t>	</a:t>
            </a:r>
            <a:r>
              <a:rPr lang="en-IN" sz="1800" dirty="0" smtClean="0">
                <a:solidFill>
                  <a:srgbClr val="FF0000"/>
                </a:solidFill>
                <a:effectLst/>
                <a:latin typeface="Times New Roman" panose="02020603050405020304" pitchFamily="18" charset="0"/>
                <a:ea typeface="Times New Roman" panose="02020603050405020304" pitchFamily="18" charset="0"/>
              </a:rPr>
              <a:t>	(B190658564)</a:t>
            </a:r>
            <a:r>
              <a:rPr lang="en-IN" sz="1800" dirty="0">
                <a:solidFill>
                  <a:srgbClr val="00000A"/>
                </a:solidFill>
                <a:effectLst/>
                <a:latin typeface="Times New Roman" panose="02020603050405020304" pitchFamily="18" charset="0"/>
                <a:ea typeface="Times New Roman" panose="02020603050405020304" pitchFamily="18" charset="0"/>
              </a:rPr>
              <a:t/>
            </a:r>
            <a:br>
              <a:rPr lang="en-IN" sz="1800" dirty="0">
                <a:solidFill>
                  <a:srgbClr val="00000A"/>
                </a:solidFill>
                <a:effectLst/>
                <a:latin typeface="Times New Roman" panose="02020603050405020304" pitchFamily="18" charset="0"/>
                <a:ea typeface="Times New Roman" panose="02020603050405020304" pitchFamily="18" charset="0"/>
              </a:rPr>
            </a:br>
            <a:r>
              <a:rPr lang="en-IN" dirty="0" err="1" smtClean="0">
                <a:solidFill>
                  <a:srgbClr val="FF0000"/>
                </a:solidFill>
                <a:latin typeface="Times New Roman" panose="02020603050405020304" pitchFamily="18" charset="0"/>
                <a:ea typeface="Times New Roman" panose="02020603050405020304" pitchFamily="18" charset="0"/>
              </a:rPr>
              <a:t>Rushikesh</a:t>
            </a:r>
            <a:r>
              <a:rPr lang="en-IN" dirty="0" smtClean="0">
                <a:solidFill>
                  <a:srgbClr val="FF0000"/>
                </a:solidFill>
                <a:latin typeface="Times New Roman" panose="02020603050405020304" pitchFamily="18" charset="0"/>
                <a:ea typeface="Times New Roman" panose="02020603050405020304" pitchFamily="18" charset="0"/>
              </a:rPr>
              <a:t> </a:t>
            </a:r>
            <a:r>
              <a:rPr lang="en-IN" dirty="0" err="1" smtClean="0">
                <a:solidFill>
                  <a:srgbClr val="FF0000"/>
                </a:solidFill>
                <a:latin typeface="Times New Roman" panose="02020603050405020304" pitchFamily="18" charset="0"/>
                <a:ea typeface="Times New Roman" panose="02020603050405020304" pitchFamily="18" charset="0"/>
              </a:rPr>
              <a:t>Gadhave</a:t>
            </a:r>
            <a:r>
              <a:rPr lang="en-IN" sz="1800" dirty="0">
                <a:solidFill>
                  <a:srgbClr val="FF0000"/>
                </a:solidFill>
                <a:effectLst/>
                <a:latin typeface="Times New Roman" panose="02020603050405020304" pitchFamily="18" charset="0"/>
                <a:ea typeface="Times New Roman" panose="02020603050405020304" pitchFamily="18" charset="0"/>
              </a:rPr>
              <a:t>	</a:t>
            </a:r>
            <a:r>
              <a:rPr lang="en-IN" sz="1800" dirty="0" smtClean="0">
                <a:solidFill>
                  <a:srgbClr val="FF0000"/>
                </a:solidFill>
                <a:effectLst/>
                <a:latin typeface="Times New Roman" panose="02020603050405020304" pitchFamily="18" charset="0"/>
                <a:ea typeface="Times New Roman" panose="02020603050405020304" pitchFamily="18" charset="0"/>
              </a:rPr>
              <a:t> 	(B190658519)</a:t>
            </a:r>
            <a:r>
              <a:rPr lang="en-IN" sz="1800" dirty="0">
                <a:solidFill>
                  <a:srgbClr val="00000A"/>
                </a:solidFill>
                <a:effectLst/>
                <a:latin typeface="Times New Roman" panose="02020603050405020304" pitchFamily="18" charset="0"/>
                <a:ea typeface="Times New Roman" panose="02020603050405020304" pitchFamily="18" charset="0"/>
              </a:rPr>
              <a:t/>
            </a:r>
            <a:br>
              <a:rPr lang="en-IN" sz="1800" dirty="0">
                <a:solidFill>
                  <a:srgbClr val="00000A"/>
                </a:solidFill>
                <a:effectLst/>
                <a:latin typeface="Times New Roman" panose="02020603050405020304" pitchFamily="18" charset="0"/>
                <a:ea typeface="Times New Roman" panose="02020603050405020304" pitchFamily="18" charset="0"/>
              </a:rPr>
            </a:br>
            <a:r>
              <a:rPr lang="en-IN" dirty="0" smtClean="0">
                <a:solidFill>
                  <a:srgbClr val="FF0000"/>
                </a:solidFill>
                <a:latin typeface="Times New Roman" panose="02020603050405020304" pitchFamily="18" charset="0"/>
                <a:ea typeface="Times New Roman" panose="02020603050405020304" pitchFamily="18" charset="0"/>
              </a:rPr>
              <a:t>Prasad </a:t>
            </a:r>
            <a:r>
              <a:rPr lang="en-IN" dirty="0" err="1" smtClean="0">
                <a:solidFill>
                  <a:srgbClr val="FF0000"/>
                </a:solidFill>
                <a:latin typeface="Times New Roman" panose="02020603050405020304" pitchFamily="18" charset="0"/>
                <a:ea typeface="Times New Roman" panose="02020603050405020304" pitchFamily="18" charset="0"/>
              </a:rPr>
              <a:t>Ghodake</a:t>
            </a:r>
            <a:r>
              <a:rPr lang="en-IN" sz="1800" dirty="0">
                <a:solidFill>
                  <a:srgbClr val="FF0000"/>
                </a:solidFill>
                <a:effectLst/>
                <a:latin typeface="Times New Roman" panose="02020603050405020304" pitchFamily="18" charset="0"/>
                <a:ea typeface="Times New Roman" panose="02020603050405020304" pitchFamily="18" charset="0"/>
              </a:rPr>
              <a:t>	</a:t>
            </a:r>
            <a:r>
              <a:rPr lang="en-IN" sz="1800" dirty="0" smtClean="0">
                <a:solidFill>
                  <a:srgbClr val="FF0000"/>
                </a:solidFill>
                <a:effectLst/>
                <a:latin typeface="Times New Roman" panose="02020603050405020304" pitchFamily="18" charset="0"/>
                <a:ea typeface="Times New Roman" panose="02020603050405020304" pitchFamily="18" charset="0"/>
              </a:rPr>
              <a:t>	(B190658521)</a:t>
            </a:r>
            <a:endParaRPr lang="en-IN" sz="1800" dirty="0">
              <a:solidFill>
                <a:srgbClr val="00000A"/>
              </a:solidFill>
              <a:effectLst/>
              <a:latin typeface="Times New Roman" panose="02020603050405020304" pitchFamily="18" charset="0"/>
              <a:ea typeface="Times New Roman" panose="02020603050405020304" pitchFamily="18" charset="0"/>
            </a:endParaRPr>
          </a:p>
          <a:p>
            <a:pPr algn="ctr"/>
            <a:r>
              <a:rPr lang="en-US" sz="1600" b="1" dirty="0">
                <a:solidFill>
                  <a:srgbClr val="00000A"/>
                </a:solidFill>
                <a:effectLst/>
                <a:latin typeface="Times New Roman" panose="02020603050405020304" pitchFamily="18" charset="0"/>
                <a:ea typeface="Times New Roman" panose="02020603050405020304" pitchFamily="18" charset="0"/>
              </a:rPr>
              <a:t>UNDER THE GUIDANCE OF</a:t>
            </a:r>
            <a:r>
              <a:rPr lang="en-IN" sz="2000" dirty="0">
                <a:solidFill>
                  <a:srgbClr val="00000A"/>
                </a:solidFill>
                <a:effectLst/>
                <a:latin typeface="Times New Roman" panose="02020603050405020304" pitchFamily="18" charset="0"/>
                <a:ea typeface="Times New Roman" panose="02020603050405020304" pitchFamily="18" charset="0"/>
              </a:rPr>
              <a:t/>
            </a:r>
            <a:br>
              <a:rPr lang="en-IN" sz="2000" dirty="0">
                <a:solidFill>
                  <a:srgbClr val="00000A"/>
                </a:solidFill>
                <a:effectLst/>
                <a:latin typeface="Times New Roman" panose="02020603050405020304" pitchFamily="18" charset="0"/>
                <a:ea typeface="Times New Roman" panose="02020603050405020304" pitchFamily="18" charset="0"/>
              </a:rPr>
            </a:br>
            <a:r>
              <a:rPr lang="en-US" b="1" dirty="0" smtClean="0">
                <a:solidFill>
                  <a:srgbClr val="FF0000"/>
                </a:solidFill>
                <a:latin typeface="Times New Roman" panose="02020603050405020304" pitchFamily="18" charset="0"/>
                <a:ea typeface="Times New Roman" panose="02020603050405020304" pitchFamily="18" charset="0"/>
              </a:rPr>
              <a:t>Prof</a:t>
            </a:r>
            <a:r>
              <a:rPr lang="en-US" b="1" dirty="0" smtClean="0">
                <a:solidFill>
                  <a:srgbClr val="FF0000"/>
                </a:solidFill>
                <a:effectLst/>
                <a:latin typeface="Times New Roman" panose="02020603050405020304" pitchFamily="18" charset="0"/>
                <a:ea typeface="Times New Roman" panose="02020603050405020304" pitchFamily="18" charset="0"/>
              </a:rPr>
              <a:t>. </a:t>
            </a:r>
            <a:r>
              <a:rPr lang="en-US" b="1" dirty="0" smtClean="0">
                <a:solidFill>
                  <a:srgbClr val="FF0000"/>
                </a:solidFill>
                <a:latin typeface="Times New Roman" panose="02020603050405020304" pitchFamily="18" charset="0"/>
                <a:ea typeface="Times New Roman" panose="02020603050405020304" pitchFamily="18" charset="0"/>
              </a:rPr>
              <a:t>A. G.</a:t>
            </a:r>
            <a:r>
              <a:rPr lang="en-US" b="1" dirty="0" smtClean="0">
                <a:solidFill>
                  <a:srgbClr val="FF0000"/>
                </a:solidFill>
                <a:effectLst/>
                <a:latin typeface="Times New Roman" panose="02020603050405020304" pitchFamily="18" charset="0"/>
                <a:ea typeface="Times New Roman" panose="02020603050405020304" pitchFamily="18" charset="0"/>
              </a:rPr>
              <a:t> </a:t>
            </a:r>
            <a:r>
              <a:rPr lang="en-US" b="1" dirty="0" err="1" smtClean="0">
                <a:solidFill>
                  <a:srgbClr val="FF0000"/>
                </a:solidFill>
                <a:latin typeface="Times New Roman" panose="02020603050405020304" pitchFamily="18" charset="0"/>
                <a:ea typeface="Times New Roman" panose="02020603050405020304" pitchFamily="18" charset="0"/>
              </a:rPr>
              <a:t>Kadam</a:t>
            </a:r>
            <a:endParaRPr lang="en-IN" dirty="0"/>
          </a:p>
        </p:txBody>
      </p:sp>
      <p:sp>
        <p:nvSpPr>
          <p:cNvPr id="16" name="TextBox 15">
            <a:extLst>
              <a:ext uri="{FF2B5EF4-FFF2-40B4-BE49-F238E27FC236}">
                <a16:creationId xmlns:a16="http://schemas.microsoft.com/office/drawing/2014/main" xmlns="" id="{A6A47B8B-535C-9F19-81B6-B9E9708DC7AA}"/>
              </a:ext>
            </a:extLst>
          </p:cNvPr>
          <p:cNvSpPr txBox="1"/>
          <p:nvPr/>
        </p:nvSpPr>
        <p:spPr>
          <a:xfrm>
            <a:off x="1683249" y="5485173"/>
            <a:ext cx="8825502" cy="1346331"/>
          </a:xfrm>
          <a:prstGeom prst="rect">
            <a:avLst/>
          </a:prstGeom>
          <a:noFill/>
        </p:spPr>
        <p:txBody>
          <a:bodyPr wrap="square" rtlCol="0">
            <a:spAutoFit/>
          </a:bodyPr>
          <a:lstStyle/>
          <a:p>
            <a:pPr algn="ctr">
              <a:lnSpc>
                <a:spcPct val="150000"/>
              </a:lnSpc>
            </a:pPr>
            <a:r>
              <a:rPr lang="en-US" sz="1400" b="1" dirty="0">
                <a:solidFill>
                  <a:srgbClr val="00000A"/>
                </a:solidFill>
                <a:effectLst/>
                <a:latin typeface="Times New Roman" panose="02020603050405020304" pitchFamily="18" charset="0"/>
                <a:ea typeface="Times New Roman" panose="02020603050405020304" pitchFamily="18" charset="0"/>
              </a:rPr>
              <a:t>DEPARTMENT OF  INFORMATION TECHNOLOGY</a:t>
            </a:r>
            <a:endParaRPr lang="en-IN" sz="1400" dirty="0">
              <a:solidFill>
                <a:srgbClr val="00000A"/>
              </a:solidFill>
              <a:effectLst/>
              <a:latin typeface="Times New Roman" panose="02020603050405020304" pitchFamily="18" charset="0"/>
              <a:ea typeface="Times New Roman" panose="02020603050405020304" pitchFamily="18" charset="0"/>
            </a:endParaRPr>
          </a:p>
          <a:p>
            <a:pPr algn="ctr">
              <a:lnSpc>
                <a:spcPct val="150000"/>
              </a:lnSpc>
            </a:pPr>
            <a:r>
              <a:rPr lang="en-US" sz="1400" b="1" dirty="0">
                <a:solidFill>
                  <a:srgbClr val="000000"/>
                </a:solidFill>
                <a:effectLst/>
                <a:latin typeface="Times New Roman" panose="02020603050405020304" pitchFamily="18" charset="0"/>
                <a:ea typeface="Times New Roman" panose="02020603050405020304" pitchFamily="18" charset="0"/>
              </a:rPr>
              <a:t>TRINITY COLLEGE OF ENGINEERING AND RESEARCH,PUNE</a:t>
            </a:r>
            <a:endParaRPr lang="en-IN" sz="1400" dirty="0">
              <a:solidFill>
                <a:srgbClr val="00000A"/>
              </a:solidFill>
              <a:effectLst/>
              <a:latin typeface="Times New Roman" panose="02020603050405020304" pitchFamily="18" charset="0"/>
              <a:ea typeface="Times New Roman" panose="02020603050405020304" pitchFamily="18" charset="0"/>
            </a:endParaRPr>
          </a:p>
          <a:p>
            <a:pPr algn="ctr">
              <a:lnSpc>
                <a:spcPct val="150000"/>
              </a:lnSpc>
            </a:pPr>
            <a:r>
              <a:rPr lang="en-US" sz="1400" b="1" dirty="0">
                <a:solidFill>
                  <a:srgbClr val="000000"/>
                </a:solidFill>
                <a:effectLst/>
                <a:latin typeface="Times New Roman" panose="02020603050405020304" pitchFamily="18" charset="0"/>
                <a:ea typeface="Times New Roman" panose="02020603050405020304" pitchFamily="18" charset="0"/>
              </a:rPr>
              <a:t>NEAR KHADI MACHINE CHOWK, KONDHWA ANNEX</a:t>
            </a:r>
            <a:r>
              <a:rPr lang="en-US" sz="1400" b="1" dirty="0">
                <a:solidFill>
                  <a:srgbClr val="00000A"/>
                </a:solidFill>
                <a:effectLst/>
                <a:latin typeface="Times New Roman" panose="02020603050405020304" pitchFamily="18" charset="0"/>
                <a:ea typeface="Times New Roman" panose="02020603050405020304" pitchFamily="18" charset="0"/>
              </a:rPr>
              <a:t>,PUNE-411048</a:t>
            </a:r>
            <a:endParaRPr lang="en-IN" sz="1400" dirty="0">
              <a:solidFill>
                <a:srgbClr val="00000A"/>
              </a:solidFill>
              <a:effectLst/>
              <a:latin typeface="Times New Roman" panose="02020603050405020304" pitchFamily="18" charset="0"/>
              <a:ea typeface="Times New Roman" panose="02020603050405020304" pitchFamily="18" charset="0"/>
            </a:endParaRPr>
          </a:p>
          <a:p>
            <a:pPr algn="ctr">
              <a:lnSpc>
                <a:spcPct val="150000"/>
              </a:lnSpc>
            </a:pPr>
            <a:r>
              <a:rPr lang="en-US" sz="1400" b="1" dirty="0">
                <a:solidFill>
                  <a:srgbClr val="FF0000"/>
                </a:solidFill>
                <a:effectLst/>
                <a:latin typeface="Times New Roman" panose="02020603050405020304" pitchFamily="18" charset="0"/>
                <a:ea typeface="Times New Roman" panose="02020603050405020304" pitchFamily="18" charset="0"/>
              </a:rPr>
              <a:t>2023-2024</a:t>
            </a:r>
            <a:endParaRPr lang="en-IN" sz="1400" dirty="0">
              <a:solidFill>
                <a:srgbClr val="00000A"/>
              </a:solidFill>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6810500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6253282-9309-C431-7D57-AB3FF10EDD03}"/>
              </a:ext>
            </a:extLst>
          </p:cNvPr>
          <p:cNvSpPr>
            <a:spLocks noGrp="1"/>
          </p:cNvSpPr>
          <p:nvPr>
            <p:ph type="title"/>
          </p:nvPr>
        </p:nvSpPr>
        <p:spPr>
          <a:xfrm>
            <a:off x="0" y="128821"/>
            <a:ext cx="12192000" cy="878048"/>
          </a:xfrm>
        </p:spPr>
        <p:txBody>
          <a:bodyPr>
            <a:noAutofit/>
          </a:bodyPr>
          <a:lstStyle/>
          <a:p>
            <a:pPr algn="ctr"/>
            <a:r>
              <a:rPr lang="en-IN" sz="4000" b="1" dirty="0" smtClean="0">
                <a:latin typeface="Times New Roman" panose="02020603050405020304" pitchFamily="18" charset="0"/>
                <a:cs typeface="Times New Roman" panose="02020603050405020304" pitchFamily="18" charset="0"/>
              </a:rPr>
              <a:t>CONTENTS</a:t>
            </a:r>
            <a:endParaRPr lang="en-IN" sz="4000" b="1" dirty="0">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xmlns="" id="{6942E265-66D8-42BF-C754-84F07482E4FB}"/>
              </a:ext>
            </a:extLst>
          </p:cNvPr>
          <p:cNvSpPr>
            <a:spLocks noGrp="1"/>
          </p:cNvSpPr>
          <p:nvPr>
            <p:ph sz="half" idx="1"/>
          </p:nvPr>
        </p:nvSpPr>
        <p:spPr>
          <a:xfrm>
            <a:off x="642134" y="1407559"/>
            <a:ext cx="5103688" cy="5198723"/>
          </a:xfrm>
        </p:spPr>
        <p:txBody>
          <a:bodyPr>
            <a:normAutofit/>
          </a:bodyPr>
          <a:lstStyle/>
          <a:p>
            <a:pPr marL="342900" indent="-342900" algn="l">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Motivation</a:t>
            </a:r>
          </a:p>
          <a:p>
            <a:pPr marL="342900" indent="-342900" algn="l">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Introduction</a:t>
            </a:r>
          </a:p>
          <a:p>
            <a:pPr marL="342900" indent="-342900" algn="l">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Problem statement</a:t>
            </a:r>
          </a:p>
          <a:p>
            <a:pPr marL="342900" indent="-342900" algn="l">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Literature survey</a:t>
            </a:r>
          </a:p>
          <a:p>
            <a:pPr marL="342900" indent="-342900" algn="l">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Gap Analysis </a:t>
            </a:r>
          </a:p>
          <a:p>
            <a:pPr marL="342900" indent="-342900" algn="l">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System Architecture</a:t>
            </a:r>
          </a:p>
          <a:p>
            <a:pPr marL="342900" indent="-342900" algn="l">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Proposed algorithm</a:t>
            </a:r>
          </a:p>
          <a:p>
            <a:pPr marL="342900" indent="-342900" algn="l">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Mathematical model. </a:t>
            </a:r>
          </a:p>
          <a:p>
            <a:pPr marL="342900" indent="-342900" algn="l">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SDLC Model</a:t>
            </a:r>
          </a:p>
          <a:p>
            <a:endParaRPr lang="en-IN" dirty="0">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xmlns="" id="{F9A451E7-7CBB-D138-E79C-8AA043B70E99}"/>
              </a:ext>
            </a:extLst>
          </p:cNvPr>
          <p:cNvSpPr>
            <a:spLocks noGrp="1"/>
          </p:cNvSpPr>
          <p:nvPr>
            <p:ph sz="half" idx="2"/>
          </p:nvPr>
        </p:nvSpPr>
        <p:spPr>
          <a:xfrm>
            <a:off x="6351998" y="1407559"/>
            <a:ext cx="6336586" cy="5198723"/>
          </a:xfrm>
        </p:spPr>
        <p:txBody>
          <a:bodyPr>
            <a:normAutofit/>
          </a:bodyPr>
          <a:lstStyle/>
          <a:p>
            <a:pPr marL="342900" indent="-342900"/>
            <a:r>
              <a:rPr lang="en-IN" dirty="0">
                <a:latin typeface="Times New Roman" panose="02020603050405020304" pitchFamily="18" charset="0"/>
                <a:cs typeface="Times New Roman" panose="02020603050405020304" pitchFamily="18" charset="0"/>
              </a:rPr>
              <a:t>Component diagram </a:t>
            </a:r>
          </a:p>
          <a:p>
            <a:pPr marL="342900" indent="-342900" algn="l">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Deployment diagram</a:t>
            </a:r>
          </a:p>
          <a:p>
            <a:pPr marL="342900" indent="-342900" algn="l">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System requirement </a:t>
            </a:r>
          </a:p>
          <a:p>
            <a:pPr marL="342900" indent="-342900" algn="l">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Screenshots of implemented modules</a:t>
            </a:r>
          </a:p>
          <a:p>
            <a:pPr marL="342900" indent="-342900" algn="l">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Screenshots of project output.</a:t>
            </a:r>
          </a:p>
          <a:p>
            <a:pPr marL="342900" indent="-342900" algn="l">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Advantages and Limitations </a:t>
            </a:r>
          </a:p>
          <a:p>
            <a:pPr marL="342900" indent="-342900" algn="l">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Conclusions</a:t>
            </a:r>
          </a:p>
          <a:p>
            <a:pPr marL="342900" indent="-342900" algn="l">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Future work.</a:t>
            </a:r>
          </a:p>
          <a:p>
            <a:pPr marL="342900" indent="-342900" algn="l">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References</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761534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xmlns="" id="{FC80584A-C79B-363B-9215-9BCE9B522982}"/>
              </a:ext>
            </a:extLst>
          </p:cNvPr>
          <p:cNvSpPr>
            <a:spLocks noGrp="1"/>
          </p:cNvSpPr>
          <p:nvPr>
            <p:ph type="ctrTitle"/>
          </p:nvPr>
        </p:nvSpPr>
        <p:spPr>
          <a:xfrm>
            <a:off x="570215" y="436049"/>
            <a:ext cx="11024171" cy="675615"/>
          </a:xfrm>
        </p:spPr>
        <p:txBody>
          <a:bodyPr>
            <a:normAutofit/>
          </a:bodyPr>
          <a:lstStyle/>
          <a:p>
            <a:r>
              <a:rPr lang="en-IN" sz="4000" b="1" dirty="0">
                <a:latin typeface="Times New Roman" panose="02020603050405020304" pitchFamily="18" charset="0"/>
                <a:cs typeface="Times New Roman" panose="02020603050405020304" pitchFamily="18" charset="0"/>
              </a:rPr>
              <a:t>MOTIVATION</a:t>
            </a:r>
          </a:p>
        </p:txBody>
      </p:sp>
      <p:sp>
        <p:nvSpPr>
          <p:cNvPr id="6" name="Subtitle 5">
            <a:extLst>
              <a:ext uri="{FF2B5EF4-FFF2-40B4-BE49-F238E27FC236}">
                <a16:creationId xmlns:a16="http://schemas.microsoft.com/office/drawing/2014/main" xmlns="" id="{CBCC93BB-17FE-8C17-E465-48A8F54ECA17}"/>
              </a:ext>
            </a:extLst>
          </p:cNvPr>
          <p:cNvSpPr>
            <a:spLocks noGrp="1"/>
          </p:cNvSpPr>
          <p:nvPr>
            <p:ph type="subTitle" idx="1"/>
          </p:nvPr>
        </p:nvSpPr>
        <p:spPr>
          <a:xfrm>
            <a:off x="811658" y="1873499"/>
            <a:ext cx="10541286" cy="4550449"/>
          </a:xfrm>
        </p:spPr>
        <p:txBody>
          <a:bodyPr>
            <a:noAutofit/>
          </a:bodyPr>
          <a:lstStyle/>
          <a:p>
            <a:pPr marL="342900" indent="-342900" algn="just">
              <a:lnSpc>
                <a:spcPct val="100000"/>
              </a:lnSpc>
              <a:buFont typeface="Wingdings" panose="05000000000000000000" pitchFamily="2" charset="2"/>
              <a:buChar char="Ø"/>
            </a:pPr>
            <a:r>
              <a:rPr lang="en-US" sz="2200" dirty="0" smtClean="0">
                <a:latin typeface="Times New Roman" panose="02020603050405020304" pitchFamily="18" charset="0"/>
                <a:cs typeface="Times New Roman" panose="02020603050405020304" pitchFamily="18" charset="0"/>
              </a:rPr>
              <a:t> The </a:t>
            </a:r>
            <a:r>
              <a:rPr lang="en-AU" sz="2200" dirty="0">
                <a:latin typeface="Times New Roman" panose="02020603050405020304" pitchFamily="18" charset="0"/>
                <a:cs typeface="Times New Roman" panose="02020603050405020304" pitchFamily="18" charset="0"/>
              </a:rPr>
              <a:t>Mental sickness </a:t>
            </a:r>
            <a:r>
              <a:rPr lang="en-US" sz="2200" dirty="0">
                <a:latin typeface="Times New Roman" panose="02020603050405020304" pitchFamily="18" charset="0"/>
                <a:cs typeface="Times New Roman" panose="02020603050405020304" pitchFamily="18" charset="0"/>
              </a:rPr>
              <a:t>is considered to be a major factor of change mood of a user and </a:t>
            </a:r>
            <a:r>
              <a:rPr lang="en-US" sz="2200" dirty="0" smtClean="0">
                <a:latin typeface="Times New Roman" panose="02020603050405020304" pitchFamily="18" charset="0"/>
                <a:cs typeface="Times New Roman" panose="02020603050405020304" pitchFamily="18" charset="0"/>
              </a:rPr>
              <a:t>user goes </a:t>
            </a:r>
            <a:r>
              <a:rPr lang="en-US" sz="2200" dirty="0">
                <a:latin typeface="Times New Roman" panose="02020603050405020304" pitchFamily="18" charset="0"/>
                <a:cs typeface="Times New Roman" panose="02020603050405020304" pitchFamily="18" charset="0"/>
              </a:rPr>
              <a:t>into a depression or stress. </a:t>
            </a:r>
          </a:p>
          <a:p>
            <a:pPr marL="342900" indent="-342900" algn="just">
              <a:lnSpc>
                <a:spcPct val="100000"/>
              </a:lnSpc>
              <a:buFont typeface="Wingdings" panose="05000000000000000000" pitchFamily="2" charset="2"/>
              <a:buChar char="Ø"/>
            </a:pPr>
            <a:r>
              <a:rPr lang="en-US" sz="2200" dirty="0" smtClean="0">
                <a:latin typeface="Times New Roman" panose="02020603050405020304" pitchFamily="18" charset="0"/>
                <a:cs typeface="Times New Roman" panose="02020603050405020304" pitchFamily="18" charset="0"/>
              </a:rPr>
              <a:t> Now </a:t>
            </a:r>
            <a:r>
              <a:rPr lang="en-US" sz="2200" dirty="0">
                <a:latin typeface="Times New Roman" panose="02020603050405020304" pitchFamily="18" charset="0"/>
                <a:cs typeface="Times New Roman" panose="02020603050405020304" pitchFamily="18" charset="0"/>
              </a:rPr>
              <a:t>a days user can be mentally disturb due to social interactions of social networks. </a:t>
            </a:r>
          </a:p>
          <a:p>
            <a:pPr marL="342900" indent="-342900" algn="just">
              <a:lnSpc>
                <a:spcPct val="100000"/>
              </a:lnSpc>
              <a:buFont typeface="Wingdings" panose="05000000000000000000" pitchFamily="2" charset="2"/>
              <a:buChar char="Ø"/>
            </a:pPr>
            <a:r>
              <a:rPr lang="en-US" sz="2200" dirty="0" smtClean="0">
                <a:latin typeface="Times New Roman" panose="02020603050405020304" pitchFamily="18" charset="0"/>
                <a:cs typeface="Times New Roman" panose="02020603050405020304" pitchFamily="18" charset="0"/>
              </a:rPr>
              <a:t> The </a:t>
            </a:r>
            <a:r>
              <a:rPr lang="en-US" sz="2200" dirty="0">
                <a:latin typeface="Times New Roman" panose="02020603050405020304" pitchFamily="18" charset="0"/>
                <a:cs typeface="Times New Roman" panose="02020603050405020304" pitchFamily="18" charset="0"/>
              </a:rPr>
              <a:t>rapid increase of </a:t>
            </a:r>
            <a:r>
              <a:rPr lang="en-AU" sz="2200" dirty="0">
                <a:latin typeface="Times New Roman" panose="02020603050405020304" pitchFamily="18" charset="0"/>
                <a:cs typeface="Times New Roman" panose="02020603050405020304" pitchFamily="18" charset="0"/>
              </a:rPr>
              <a:t>mental sickness </a:t>
            </a:r>
            <a:r>
              <a:rPr lang="en-US" sz="2200" dirty="0">
                <a:latin typeface="Times New Roman" panose="02020603050405020304" pitchFamily="18" charset="0"/>
                <a:cs typeface="Times New Roman" panose="02020603050405020304" pitchFamily="18" charset="0"/>
              </a:rPr>
              <a:t>has become a great challenge to human health and life quality. </a:t>
            </a:r>
          </a:p>
          <a:p>
            <a:pPr marL="342900" indent="-342900" algn="just">
              <a:lnSpc>
                <a:spcPct val="100000"/>
              </a:lnSpc>
              <a:buFont typeface="Wingdings" panose="05000000000000000000" pitchFamily="2" charset="2"/>
              <a:buChar char="Ø"/>
            </a:pPr>
            <a:r>
              <a:rPr lang="en-US" sz="2200" dirty="0" smtClean="0">
                <a:latin typeface="Times New Roman" panose="02020603050405020304" pitchFamily="18" charset="0"/>
                <a:cs typeface="Times New Roman" panose="02020603050405020304" pitchFamily="18" charset="0"/>
              </a:rPr>
              <a:t> Thus</a:t>
            </a:r>
            <a:r>
              <a:rPr lang="en-US" sz="2200" dirty="0">
                <a:latin typeface="Times New Roman" panose="02020603050405020304" pitchFamily="18" charset="0"/>
                <a:cs typeface="Times New Roman" panose="02020603050405020304" pitchFamily="18" charset="0"/>
              </a:rPr>
              <a:t>, there is significant importance to detect </a:t>
            </a:r>
            <a:r>
              <a:rPr lang="en-AU" sz="2200" dirty="0">
                <a:latin typeface="Times New Roman" panose="02020603050405020304" pitchFamily="18" charset="0"/>
                <a:cs typeface="Times New Roman" panose="02020603050405020304" pitchFamily="18" charset="0"/>
              </a:rPr>
              <a:t>mental sickness </a:t>
            </a:r>
            <a:r>
              <a:rPr lang="en-US" sz="2200" dirty="0">
                <a:latin typeface="Times New Roman" panose="02020603050405020304" pitchFamily="18" charset="0"/>
                <a:cs typeface="Times New Roman" panose="02020603050405020304" pitchFamily="18" charset="0"/>
              </a:rPr>
              <a:t>before it turns into severe problems.</a:t>
            </a:r>
          </a:p>
          <a:p>
            <a:pPr marL="342900" indent="-342900" algn="l">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823188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CA98235-B9FC-F613-FD21-1A8EDA3D6778}"/>
              </a:ext>
            </a:extLst>
          </p:cNvPr>
          <p:cNvSpPr>
            <a:spLocks noGrp="1"/>
          </p:cNvSpPr>
          <p:nvPr>
            <p:ph type="title"/>
          </p:nvPr>
        </p:nvSpPr>
        <p:spPr>
          <a:xfrm>
            <a:off x="838200" y="478142"/>
            <a:ext cx="10515600" cy="723936"/>
          </a:xfrm>
        </p:spPr>
        <p:txBody>
          <a:bodyPr>
            <a:normAutofit/>
          </a:bodyPr>
          <a:lstStyle/>
          <a:p>
            <a:pPr algn="ctr"/>
            <a:r>
              <a:rPr lang="en-IN" sz="4000" b="1" dirty="0">
                <a:latin typeface="Times New Roman" panose="02020603050405020304" pitchFamily="18" charset="0"/>
                <a:cs typeface="Times New Roman" panose="02020603050405020304" pitchFamily="18" charset="0"/>
              </a:rPr>
              <a:t>INTRODUCTION</a:t>
            </a:r>
          </a:p>
        </p:txBody>
      </p:sp>
      <p:sp>
        <p:nvSpPr>
          <p:cNvPr id="3" name="Content Placeholder 2">
            <a:extLst>
              <a:ext uri="{FF2B5EF4-FFF2-40B4-BE49-F238E27FC236}">
                <a16:creationId xmlns:a16="http://schemas.microsoft.com/office/drawing/2014/main" xmlns="" id="{2BF333D1-25BD-C58B-DC52-E8A8C0A40727}"/>
              </a:ext>
            </a:extLst>
          </p:cNvPr>
          <p:cNvSpPr>
            <a:spLocks noGrp="1"/>
          </p:cNvSpPr>
          <p:nvPr>
            <p:ph idx="1"/>
          </p:nvPr>
        </p:nvSpPr>
        <p:spPr>
          <a:xfrm>
            <a:off x="520129" y="1628453"/>
            <a:ext cx="11151742" cy="5229547"/>
          </a:xfrm>
        </p:spPr>
        <p:txBody>
          <a:bodyPr>
            <a:normAutofit fontScale="92500"/>
          </a:bodyPr>
          <a:lstStyle/>
          <a:p>
            <a:pPr algn="just">
              <a:lnSpc>
                <a:spcPct val="100000"/>
              </a:lnSpc>
              <a:buFont typeface="Wingdings" panose="05000000000000000000" pitchFamily="2" charset="2"/>
              <a:buChar char="Ø"/>
            </a:pPr>
            <a:r>
              <a:rPr lang="en-AU" sz="2600" dirty="0">
                <a:latin typeface="Times New Roman" panose="02020603050405020304" pitchFamily="18" charset="0"/>
                <a:cs typeface="Times New Roman" panose="02020603050405020304" pitchFamily="18" charset="0"/>
              </a:rPr>
              <a:t>The number of active users of online social networks (OSN) it has grown considerably. </a:t>
            </a:r>
          </a:p>
          <a:p>
            <a:pPr algn="just">
              <a:lnSpc>
                <a:spcPct val="100000"/>
              </a:lnSpc>
              <a:buFont typeface="Wingdings" panose="05000000000000000000" pitchFamily="2" charset="2"/>
              <a:buChar char="Ø"/>
            </a:pPr>
            <a:r>
              <a:rPr lang="en-AU" sz="2600" dirty="0">
                <a:latin typeface="Times New Roman" panose="02020603050405020304" pitchFamily="18" charset="0"/>
                <a:cs typeface="Times New Roman" panose="02020603050405020304" pitchFamily="18" charset="0"/>
              </a:rPr>
              <a:t>This maximum the number of users, in OSN, is mainly due to the increase of number of mobile devices, such as smartphones and tablets, connected to the Internet.</a:t>
            </a:r>
          </a:p>
          <a:p>
            <a:pPr algn="just">
              <a:lnSpc>
                <a:spcPct val="100000"/>
              </a:lnSpc>
              <a:buFont typeface="Wingdings" panose="05000000000000000000" pitchFamily="2" charset="2"/>
              <a:buChar char="Ø"/>
            </a:pPr>
            <a:r>
              <a:rPr lang="en-AU" sz="2600" dirty="0">
                <a:latin typeface="Times New Roman" panose="02020603050405020304" pitchFamily="18" charset="0"/>
                <a:cs typeface="Times New Roman" panose="02020603050405020304" pitchFamily="18" charset="0"/>
              </a:rPr>
              <a:t> Currently, the OSN has become a rich man and universal means to express opinions, feelings and reflect each user's bad habits or wellness practices.</a:t>
            </a:r>
          </a:p>
          <a:p>
            <a:pPr algn="just">
              <a:lnSpc>
                <a:spcPct val="100000"/>
              </a:lnSpc>
              <a:buFont typeface="Wingdings" panose="05000000000000000000" pitchFamily="2" charset="2"/>
              <a:buChar char="Ø"/>
            </a:pPr>
            <a:r>
              <a:rPr lang="en-AU" sz="2600" dirty="0">
                <a:latin typeface="Times New Roman" panose="02020603050405020304" pitchFamily="18" charset="0"/>
                <a:cs typeface="Times New Roman" panose="02020603050405020304" pitchFamily="18" charset="0"/>
              </a:rPr>
              <a:t>In recent years, the analysis of messages published in OSN has been used by many applications in the field of health informatics. </a:t>
            </a:r>
          </a:p>
          <a:p>
            <a:pPr algn="just">
              <a:lnSpc>
                <a:spcPct val="100000"/>
              </a:lnSpc>
              <a:buFont typeface="Wingdings" panose="05000000000000000000" pitchFamily="2" charset="2"/>
              <a:buChar char="Ø"/>
            </a:pPr>
            <a:r>
              <a:rPr lang="en-AU" sz="2600" dirty="0">
                <a:latin typeface="Times New Roman" panose="02020603050405020304" pitchFamily="18" charset="0"/>
                <a:cs typeface="Times New Roman" panose="02020603050405020304" pitchFamily="18" charset="0"/>
              </a:rPr>
              <a:t>The feelings and emotions expressed in the messages published in OSN, provides clues on various aspects of user behaviour for example, sentences containing words  with negative meaning it can indicate sadness, stress or dissatisfaction.</a:t>
            </a:r>
            <a:endParaRPr lang="en-US" sz="2600"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33485277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856527" y="509286"/>
            <a:ext cx="9780607" cy="5170646"/>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Ø"/>
            </a:pPr>
            <a:r>
              <a:rPr lang="en-AU" sz="2200" dirty="0" smtClean="0">
                <a:latin typeface="Times New Roman" panose="02020603050405020304" pitchFamily="18" charset="0"/>
                <a:cs typeface="Times New Roman" panose="02020603050405020304" pitchFamily="18" charset="0"/>
              </a:rPr>
              <a:t>Our system, find user’s depression, stress and positive and negative comments. </a:t>
            </a:r>
          </a:p>
          <a:p>
            <a:pPr marL="342900" indent="-342900" algn="just">
              <a:lnSpc>
                <a:spcPct val="150000"/>
              </a:lnSpc>
              <a:buFont typeface="Wingdings" panose="05000000000000000000" pitchFamily="2" charset="2"/>
              <a:buChar char="Ø"/>
            </a:pPr>
            <a:r>
              <a:rPr lang="en-AU" sz="2200" dirty="0" smtClean="0">
                <a:latin typeface="Times New Roman" panose="02020603050405020304" pitchFamily="18" charset="0"/>
                <a:cs typeface="Times New Roman" panose="02020603050405020304" pitchFamily="18" charset="0"/>
              </a:rPr>
              <a:t>we </a:t>
            </a:r>
            <a:r>
              <a:rPr lang="en-AU" sz="2200" dirty="0">
                <a:latin typeface="Times New Roman" panose="02020603050405020304" pitchFamily="18" charset="0"/>
                <a:cs typeface="Times New Roman" panose="02020603050405020304" pitchFamily="18" charset="0"/>
              </a:rPr>
              <a:t>employ a large-scale dataset from real-world social platforms to systematically study the correlation of user’s psychological disorder states and social interactions.</a:t>
            </a:r>
          </a:p>
          <a:p>
            <a:pPr marL="342900" indent="-342900">
              <a:lnSpc>
                <a:spcPct val="150000"/>
              </a:lnSpc>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Extended use of social networks like Twitter, Facebook  lets people share their every day moods on it.</a:t>
            </a:r>
          </a:p>
          <a:p>
            <a:pPr marL="342900" indent="-342900">
              <a:lnSpc>
                <a:spcPct val="150000"/>
              </a:lnSpc>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We may recognize words from social media data -</a:t>
            </a:r>
          </a:p>
          <a:p>
            <a:pPr marL="82296">
              <a:lnSpc>
                <a:spcPct val="150000"/>
              </a:lnSpc>
            </a:pPr>
            <a:r>
              <a:rPr lang="en-US" sz="2200" dirty="0">
                <a:latin typeface="Times New Roman" panose="02020603050405020304" pitchFamily="18" charset="0"/>
                <a:cs typeface="Times New Roman" panose="02020603050405020304" pitchFamily="18" charset="0"/>
              </a:rPr>
              <a:t>              </a:t>
            </a:r>
            <a:r>
              <a:rPr lang="en-US" sz="2200" dirty="0" smtClean="0">
                <a:latin typeface="Times New Roman" panose="02020603050405020304" pitchFamily="18" charset="0"/>
                <a:cs typeface="Times New Roman" panose="02020603050405020304" pitchFamily="18" charset="0"/>
              </a:rPr>
              <a:t>Pronouns </a:t>
            </a:r>
            <a:r>
              <a:rPr lang="en-US" sz="2200" dirty="0">
                <a:latin typeface="Times New Roman" panose="02020603050405020304" pitchFamily="18" charset="0"/>
                <a:cs typeface="Times New Roman" panose="02020603050405020304" pitchFamily="18" charset="0"/>
              </a:rPr>
              <a:t>such as: “I</a:t>
            </a:r>
            <a:r>
              <a:rPr lang="en-US" sz="2200" dirty="0" smtClean="0">
                <a:latin typeface="Times New Roman" panose="02020603050405020304" pitchFamily="18" charset="0"/>
                <a:cs typeface="Times New Roman" panose="02020603050405020304" pitchFamily="18" charset="0"/>
              </a:rPr>
              <a:t>”</a:t>
            </a:r>
          </a:p>
          <a:p>
            <a:pPr marL="82296">
              <a:lnSpc>
                <a:spcPct val="150000"/>
              </a:lnSpc>
            </a:pPr>
            <a:r>
              <a:rPr lang="en-US" sz="2200" dirty="0" smtClean="0">
                <a:latin typeface="Times New Roman" panose="02020603050405020304" pitchFamily="18" charset="0"/>
                <a:cs typeface="Times New Roman" panose="02020603050405020304" pitchFamily="18" charset="0"/>
              </a:rPr>
              <a:t>	 Verbs such as: “am” “feel”</a:t>
            </a:r>
          </a:p>
          <a:p>
            <a:pPr marL="82296">
              <a:lnSpc>
                <a:spcPct val="150000"/>
              </a:lnSpc>
            </a:pPr>
            <a:r>
              <a:rPr lang="en-US" sz="2200" dirty="0">
                <a:latin typeface="Times New Roman" panose="02020603050405020304" pitchFamily="18" charset="0"/>
                <a:cs typeface="Times New Roman" panose="02020603050405020304" pitchFamily="18" charset="0"/>
              </a:rPr>
              <a:t>	 Adjectives such as: “ugly” “sad”</a:t>
            </a:r>
          </a:p>
        </p:txBody>
      </p:sp>
    </p:spTree>
    <p:extLst>
      <p:ext uri="{BB962C8B-B14F-4D97-AF65-F5344CB8AC3E}">
        <p14:creationId xmlns:p14="http://schemas.microsoft.com/office/powerpoint/2010/main" val="6446962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23BBD58-73AA-4DDD-F280-E6D2EBCF382E}"/>
              </a:ext>
            </a:extLst>
          </p:cNvPr>
          <p:cNvSpPr>
            <a:spLocks noGrp="1"/>
          </p:cNvSpPr>
          <p:nvPr>
            <p:ph type="title"/>
          </p:nvPr>
        </p:nvSpPr>
        <p:spPr>
          <a:xfrm>
            <a:off x="838200" y="365125"/>
            <a:ext cx="10515600" cy="703387"/>
          </a:xfrm>
        </p:spPr>
        <p:txBody>
          <a:bodyPr>
            <a:normAutofit/>
          </a:bodyPr>
          <a:lstStyle/>
          <a:p>
            <a:pPr algn="ctr"/>
            <a:r>
              <a:rPr lang="en-IN" sz="4000" b="1" dirty="0">
                <a:latin typeface="Times New Roman" panose="02020603050405020304" pitchFamily="18" charset="0"/>
                <a:cs typeface="Times New Roman" panose="02020603050405020304" pitchFamily="18" charset="0"/>
              </a:rPr>
              <a:t>PROBLEM STATEMENT</a:t>
            </a:r>
          </a:p>
        </p:txBody>
      </p:sp>
      <p:sp>
        <p:nvSpPr>
          <p:cNvPr id="3" name="Content Placeholder 2">
            <a:extLst>
              <a:ext uri="{FF2B5EF4-FFF2-40B4-BE49-F238E27FC236}">
                <a16:creationId xmlns:a16="http://schemas.microsoft.com/office/drawing/2014/main" xmlns="" id="{87EF1315-8F5B-248B-30E5-F3C30A027B09}"/>
              </a:ext>
            </a:extLst>
          </p:cNvPr>
          <p:cNvSpPr>
            <a:spLocks noGrp="1"/>
          </p:cNvSpPr>
          <p:nvPr>
            <p:ph idx="1"/>
          </p:nvPr>
        </p:nvSpPr>
        <p:spPr>
          <a:xfrm>
            <a:off x="838200" y="1469205"/>
            <a:ext cx="10515600" cy="5023670"/>
          </a:xfrm>
        </p:spPr>
        <p:txBody>
          <a:bodyPr>
            <a:normAutofit/>
          </a:bodyPr>
          <a:lstStyle/>
          <a:p>
            <a:pPr lvl="0" algn="just">
              <a:lnSpc>
                <a:spcPct val="150000"/>
              </a:lnSpc>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To design a system to find depressed users via social media network and to find positive and negative comments using sentiment analysis.</a:t>
            </a:r>
            <a:endParaRPr lang="en-IN" sz="2200" dirty="0">
              <a:latin typeface="Times New Roman" panose="02020603050405020304" pitchFamily="18" charset="0"/>
              <a:cs typeface="Times New Roman" panose="02020603050405020304" pitchFamily="18" charset="0"/>
            </a:endParaRPr>
          </a:p>
          <a:p>
            <a:pPr>
              <a:lnSpc>
                <a:spcPct val="150000"/>
              </a:lnSpc>
            </a:pP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017693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A6C9834-F01A-4C11-18A8-D312C11BF052}"/>
              </a:ext>
            </a:extLst>
          </p:cNvPr>
          <p:cNvSpPr>
            <a:spLocks noGrp="1"/>
          </p:cNvSpPr>
          <p:nvPr>
            <p:ph type="title"/>
          </p:nvPr>
        </p:nvSpPr>
        <p:spPr>
          <a:xfrm>
            <a:off x="741680" y="121285"/>
            <a:ext cx="10515600" cy="1169035"/>
          </a:xfrm>
        </p:spPr>
        <p:txBody>
          <a:bodyPr>
            <a:normAutofit/>
          </a:bodyPr>
          <a:lstStyle/>
          <a:p>
            <a:pPr algn="ctr"/>
            <a:r>
              <a:rPr lang="en-IN" sz="4000" b="1" dirty="0">
                <a:latin typeface="Times New Roman" panose="02020603050405020304" pitchFamily="18" charset="0"/>
                <a:cs typeface="Times New Roman" panose="02020603050405020304" pitchFamily="18" charset="0"/>
              </a:rPr>
              <a:t>LITERATURE SURVEY</a:t>
            </a:r>
          </a:p>
        </p:txBody>
      </p:sp>
      <p:graphicFrame>
        <p:nvGraphicFramePr>
          <p:cNvPr id="3" name="Table 2"/>
          <p:cNvGraphicFramePr>
            <a:graphicFrameLocks noGrp="1"/>
          </p:cNvGraphicFramePr>
          <p:nvPr>
            <p:extLst>
              <p:ext uri="{D42A27DB-BD31-4B8C-83A1-F6EECF244321}">
                <p14:modId xmlns:p14="http://schemas.microsoft.com/office/powerpoint/2010/main" val="775742601"/>
              </p:ext>
            </p:extLst>
          </p:nvPr>
        </p:nvGraphicFramePr>
        <p:xfrm>
          <a:off x="289560" y="1700848"/>
          <a:ext cx="11225249" cy="4560833"/>
        </p:xfrm>
        <a:graphic>
          <a:graphicData uri="http://schemas.openxmlformats.org/drawingml/2006/table">
            <a:tbl>
              <a:tblPr firstRow="1" firstCol="1" bandRow="1">
                <a:tableStyleId>{5940675A-B579-460E-94D1-54222C63F5DA}</a:tableStyleId>
              </a:tblPr>
              <a:tblGrid>
                <a:gridCol w="645160"/>
                <a:gridCol w="2291016"/>
                <a:gridCol w="2279941"/>
                <a:gridCol w="1159283"/>
                <a:gridCol w="4849849"/>
              </a:tblGrid>
              <a:tr h="258626">
                <a:tc>
                  <a:txBody>
                    <a:bodyPr/>
                    <a:lstStyle/>
                    <a:p>
                      <a:pPr marL="0" marR="0" algn="just">
                        <a:lnSpc>
                          <a:spcPct val="107000"/>
                        </a:lnSpc>
                        <a:spcBef>
                          <a:spcPts val="0"/>
                        </a:spcBef>
                        <a:spcAft>
                          <a:spcPts val="0"/>
                        </a:spcAft>
                      </a:pPr>
                      <a:r>
                        <a:rPr lang="en-US" sz="1800" dirty="0" err="1">
                          <a:effectLst/>
                          <a:latin typeface="Times New Roman" panose="02020603050405020304" pitchFamily="18" charset="0"/>
                          <a:cs typeface="Times New Roman" panose="02020603050405020304" pitchFamily="18" charset="0"/>
                        </a:rPr>
                        <a:t>Sr</a:t>
                      </a:r>
                      <a:r>
                        <a:rPr lang="en-US" sz="1800" dirty="0">
                          <a:effectLst/>
                          <a:latin typeface="Times New Roman" panose="02020603050405020304" pitchFamily="18" charset="0"/>
                          <a:cs typeface="Times New Roman" panose="02020603050405020304" pitchFamily="18" charset="0"/>
                        </a:rPr>
                        <a:t> No</a:t>
                      </a:r>
                      <a:endParaRPr lang="en-US"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5314" marR="45314" marT="0" marB="0"/>
                </a:tc>
                <a:tc>
                  <a:txBody>
                    <a:bodyPr/>
                    <a:lstStyle/>
                    <a:p>
                      <a:pPr marL="0" marR="0" algn="just">
                        <a:lnSpc>
                          <a:spcPct val="107000"/>
                        </a:lnSpc>
                        <a:spcBef>
                          <a:spcPts val="0"/>
                        </a:spcBef>
                        <a:spcAft>
                          <a:spcPts val="0"/>
                        </a:spcAft>
                      </a:pPr>
                      <a:r>
                        <a:rPr lang="en-US" sz="1800" dirty="0">
                          <a:effectLst/>
                          <a:latin typeface="Times New Roman" panose="02020603050405020304" pitchFamily="18" charset="0"/>
                          <a:cs typeface="Times New Roman" panose="02020603050405020304" pitchFamily="18" charset="0"/>
                        </a:rPr>
                        <a:t>Title</a:t>
                      </a:r>
                      <a:endParaRPr lang="en-US"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5314" marR="45314" marT="0" marB="0"/>
                </a:tc>
                <a:tc>
                  <a:txBody>
                    <a:bodyPr/>
                    <a:lstStyle/>
                    <a:p>
                      <a:pPr marL="0" marR="0" algn="just">
                        <a:lnSpc>
                          <a:spcPct val="107000"/>
                        </a:lnSpc>
                        <a:spcBef>
                          <a:spcPts val="0"/>
                        </a:spcBef>
                        <a:spcAft>
                          <a:spcPts val="0"/>
                        </a:spcAft>
                      </a:pPr>
                      <a:r>
                        <a:rPr lang="en-US" sz="1800">
                          <a:effectLst/>
                          <a:latin typeface="Times New Roman" panose="02020603050405020304" pitchFamily="18" charset="0"/>
                          <a:cs typeface="Times New Roman" panose="02020603050405020304" pitchFamily="18" charset="0"/>
                        </a:rPr>
                        <a:t>Author</a:t>
                      </a:r>
                      <a:endParaRPr lang="en-US"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45314" marR="45314" marT="0" marB="0"/>
                </a:tc>
                <a:tc>
                  <a:txBody>
                    <a:bodyPr/>
                    <a:lstStyle/>
                    <a:p>
                      <a:pPr marL="0" marR="0" algn="just">
                        <a:lnSpc>
                          <a:spcPct val="107000"/>
                        </a:lnSpc>
                        <a:spcBef>
                          <a:spcPts val="0"/>
                        </a:spcBef>
                        <a:spcAft>
                          <a:spcPts val="0"/>
                        </a:spcAft>
                      </a:pPr>
                      <a:r>
                        <a:rPr lang="en-US" sz="1800">
                          <a:effectLst/>
                          <a:latin typeface="Times New Roman" panose="02020603050405020304" pitchFamily="18" charset="0"/>
                          <a:cs typeface="Times New Roman" panose="02020603050405020304" pitchFamily="18" charset="0"/>
                        </a:rPr>
                        <a:t>Journal</a:t>
                      </a:r>
                      <a:endParaRPr lang="en-US"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45314" marR="45314" marT="0" marB="0"/>
                </a:tc>
                <a:tc>
                  <a:txBody>
                    <a:bodyPr/>
                    <a:lstStyle/>
                    <a:p>
                      <a:pPr marL="0" marR="0" algn="just">
                        <a:lnSpc>
                          <a:spcPct val="107000"/>
                        </a:lnSpc>
                        <a:spcBef>
                          <a:spcPts val="0"/>
                        </a:spcBef>
                        <a:spcAft>
                          <a:spcPts val="0"/>
                        </a:spcAft>
                      </a:pPr>
                      <a:r>
                        <a:rPr lang="en-US" sz="1800" dirty="0">
                          <a:effectLst/>
                          <a:latin typeface="Times New Roman" panose="02020603050405020304" pitchFamily="18" charset="0"/>
                          <a:cs typeface="Times New Roman" panose="02020603050405020304" pitchFamily="18" charset="0"/>
                        </a:rPr>
                        <a:t>Description</a:t>
                      </a:r>
                      <a:endParaRPr lang="en-US"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5314" marR="45314" marT="0" marB="0"/>
                </a:tc>
              </a:tr>
              <a:tr h="1939698">
                <a:tc>
                  <a:txBody>
                    <a:bodyPr/>
                    <a:lstStyle/>
                    <a:p>
                      <a:pPr marL="0" marR="0" algn="just">
                        <a:lnSpc>
                          <a:spcPct val="107000"/>
                        </a:lnSpc>
                        <a:spcBef>
                          <a:spcPts val="0"/>
                        </a:spcBef>
                        <a:spcAft>
                          <a:spcPts val="0"/>
                        </a:spcAft>
                      </a:pPr>
                      <a:r>
                        <a:rPr lang="en-US" sz="1600" dirty="0">
                          <a:effectLst/>
                          <a:latin typeface="Times New Roman" panose="02020603050405020304" pitchFamily="18" charset="0"/>
                          <a:cs typeface="Times New Roman" panose="02020603050405020304" pitchFamily="18" charset="0"/>
                        </a:rPr>
                        <a:t>1</a:t>
                      </a:r>
                      <a:endParaRPr lang="en-US" sz="16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5314" marR="45314" marT="0" marB="0"/>
                </a:tc>
                <a:tc>
                  <a:txBody>
                    <a:bodyPr/>
                    <a:lstStyle/>
                    <a:p>
                      <a:pPr marL="0" marR="0" lvl="0" indent="0" algn="just" defTabSz="914400" rtl="0" eaLnBrk="1" fontAlgn="auto" latinLnBrk="0" hangingPunct="1">
                        <a:lnSpc>
                          <a:spcPct val="107000"/>
                        </a:lnSpc>
                        <a:spcBef>
                          <a:spcPts val="0"/>
                        </a:spcBef>
                        <a:spcAft>
                          <a:spcPts val="0"/>
                        </a:spcAft>
                        <a:buClrTx/>
                        <a:buSzTx/>
                        <a:buFontTx/>
                        <a:buNone/>
                        <a:defRPr/>
                      </a:pPr>
                      <a:r>
                        <a:rPr lang="en-US" sz="1600" dirty="0" smtClean="0">
                          <a:latin typeface="Times New Roman" panose="02020603050405020304" pitchFamily="18" charset="0"/>
                          <a:cs typeface="Times New Roman" panose="02020603050405020304" pitchFamily="18" charset="0"/>
                        </a:rPr>
                        <a:t>Multimodal Hierarchical CNN Feature Fusion for Stress Detection</a:t>
                      </a:r>
                      <a:endParaRPr lang="en-US" sz="1600" b="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5314" marR="45314" marT="0" marB="0"/>
                </a:tc>
                <a:tc>
                  <a:txBody>
                    <a:bodyPr/>
                    <a:lstStyle/>
                    <a:p>
                      <a:pPr marL="0" marR="0" lvl="0" indent="0" algn="just" defTabSz="914400" rtl="0" eaLnBrk="1" fontAlgn="auto" latinLnBrk="0" hangingPunct="1">
                        <a:lnSpc>
                          <a:spcPct val="107000"/>
                        </a:lnSpc>
                        <a:spcBef>
                          <a:spcPts val="0"/>
                        </a:spcBef>
                        <a:spcAft>
                          <a:spcPts val="0"/>
                        </a:spcAft>
                        <a:buClrTx/>
                        <a:buSzTx/>
                        <a:buFontTx/>
                        <a:buNone/>
                        <a:defRPr/>
                      </a:pPr>
                      <a:r>
                        <a:rPr lang="en-US" sz="1600" dirty="0" smtClean="0">
                          <a:latin typeface="Times New Roman" panose="02020603050405020304" pitchFamily="18" charset="0"/>
                          <a:cs typeface="Times New Roman" panose="02020603050405020304" pitchFamily="18" charset="0"/>
                        </a:rPr>
                        <a:t>Radhika </a:t>
                      </a:r>
                      <a:r>
                        <a:rPr lang="en-US" sz="1600" dirty="0" err="1" smtClean="0">
                          <a:latin typeface="Times New Roman" panose="02020603050405020304" pitchFamily="18" charset="0"/>
                          <a:cs typeface="Times New Roman" panose="02020603050405020304" pitchFamily="18" charset="0"/>
                        </a:rPr>
                        <a:t>Kuttala</a:t>
                      </a:r>
                      <a:r>
                        <a:rPr lang="en-US" sz="1600" dirty="0" smtClean="0">
                          <a:latin typeface="Times New Roman" panose="02020603050405020304" pitchFamily="18" charset="0"/>
                          <a:cs typeface="Times New Roman" panose="02020603050405020304" pitchFamily="18" charset="0"/>
                        </a:rPr>
                        <a:t>, </a:t>
                      </a:r>
                      <a:r>
                        <a:rPr lang="en-US" sz="1600" dirty="0" err="1" smtClean="0">
                          <a:latin typeface="Times New Roman" panose="02020603050405020304" pitchFamily="18" charset="0"/>
                          <a:cs typeface="Times New Roman" panose="02020603050405020304" pitchFamily="18" charset="0"/>
                        </a:rPr>
                        <a:t>Ramanathan</a:t>
                      </a:r>
                      <a:r>
                        <a:rPr lang="en-US" sz="1600" dirty="0" smtClean="0">
                          <a:latin typeface="Times New Roman" panose="02020603050405020304" pitchFamily="18" charset="0"/>
                          <a:cs typeface="Times New Roman" panose="02020603050405020304" pitchFamily="18" charset="0"/>
                        </a:rPr>
                        <a:t> Subramanian, </a:t>
                      </a:r>
                      <a:r>
                        <a:rPr lang="en-US" sz="1600" dirty="0" err="1" smtClean="0">
                          <a:latin typeface="Times New Roman" panose="02020603050405020304" pitchFamily="18" charset="0"/>
                          <a:cs typeface="Times New Roman" panose="02020603050405020304" pitchFamily="18" charset="0"/>
                        </a:rPr>
                        <a:t>Venkata</a:t>
                      </a:r>
                      <a:r>
                        <a:rPr lang="en-US" sz="1600" dirty="0" smtClean="0">
                          <a:latin typeface="Times New Roman" panose="02020603050405020304" pitchFamily="18" charset="0"/>
                          <a:cs typeface="Times New Roman" panose="02020603050405020304" pitchFamily="18" charset="0"/>
                        </a:rPr>
                        <a:t> </a:t>
                      </a:r>
                      <a:r>
                        <a:rPr lang="en-US" sz="1600" dirty="0" err="1" smtClean="0">
                          <a:latin typeface="Times New Roman" panose="02020603050405020304" pitchFamily="18" charset="0"/>
                          <a:cs typeface="Times New Roman" panose="02020603050405020304" pitchFamily="18" charset="0"/>
                        </a:rPr>
                        <a:t>Ramana</a:t>
                      </a:r>
                      <a:r>
                        <a:rPr lang="en-US" sz="1600" dirty="0" smtClean="0">
                          <a:latin typeface="Times New Roman" panose="02020603050405020304" pitchFamily="18" charset="0"/>
                          <a:cs typeface="Times New Roman" panose="02020603050405020304" pitchFamily="18" charset="0"/>
                        </a:rPr>
                        <a:t> Murthy</a:t>
                      </a:r>
                      <a:endParaRPr lang="en-US" sz="16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5314" marR="45314" marT="0" marB="0"/>
                </a:tc>
                <a:tc>
                  <a:txBody>
                    <a:bodyPr/>
                    <a:lstStyle/>
                    <a:p>
                      <a:pPr marL="0" marR="0" algn="just">
                        <a:lnSpc>
                          <a:spcPct val="107000"/>
                        </a:lnSpc>
                        <a:spcBef>
                          <a:spcPts val="0"/>
                        </a:spcBef>
                        <a:spcAft>
                          <a:spcPts val="0"/>
                        </a:spcAft>
                      </a:pPr>
                      <a:r>
                        <a:rPr lang="en-US" sz="1600" dirty="0">
                          <a:effectLst/>
                          <a:latin typeface="Times New Roman" panose="02020603050405020304" pitchFamily="18" charset="0"/>
                          <a:cs typeface="Times New Roman" panose="02020603050405020304" pitchFamily="18" charset="0"/>
                        </a:rPr>
                        <a:t>IEEE </a:t>
                      </a:r>
                      <a:r>
                        <a:rPr lang="en-US" sz="1600" dirty="0" smtClean="0">
                          <a:effectLst/>
                          <a:latin typeface="Times New Roman" panose="02020603050405020304" pitchFamily="18" charset="0"/>
                          <a:cs typeface="Times New Roman" panose="02020603050405020304" pitchFamily="18" charset="0"/>
                        </a:rPr>
                        <a:t>2023</a:t>
                      </a:r>
                      <a:endParaRPr lang="en-US" sz="16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5314" marR="45314" marT="0" marB="0"/>
                </a:tc>
                <a:tc>
                  <a:txBody>
                    <a:bodyPr/>
                    <a:lstStyle/>
                    <a:p>
                      <a:pPr marL="0" marR="0" algn="just" defTabSz="914400" rtl="0" eaLnBrk="1" latinLnBrk="0" hangingPunct="1">
                        <a:lnSpc>
                          <a:spcPct val="107000"/>
                        </a:lnSpc>
                        <a:spcBef>
                          <a:spcPts val="0"/>
                        </a:spcBef>
                        <a:spcAft>
                          <a:spcPts val="0"/>
                        </a:spcAft>
                        <a:buNone/>
                      </a:pPr>
                      <a:r>
                        <a:rPr lang="en-US" sz="1600" dirty="0" smtClean="0">
                          <a:effectLst/>
                          <a:latin typeface="Times New Roman" panose="02020603050405020304" pitchFamily="18" charset="0"/>
                          <a:cs typeface="Times New Roman" panose="02020603050405020304" pitchFamily="18" charset="0"/>
                        </a:rPr>
                        <a:t>The recent coronavirus disease (COVID-19) has become a pandemic and has affected the entire globe. During the pandemic</a:t>
                      </a:r>
                      <a:r>
                        <a:rPr lang="en-US" sz="1600" dirty="0" smtClean="0">
                          <a:effectLst/>
                          <a:latin typeface="Times New Roman" panose="02020603050405020304" pitchFamily="18" charset="0"/>
                          <a:cs typeface="Times New Roman" panose="02020603050405020304" pitchFamily="18" charset="0"/>
                        </a:rPr>
                        <a:t>, they </a:t>
                      </a:r>
                      <a:r>
                        <a:rPr lang="en-US" sz="1600" dirty="0" smtClean="0">
                          <a:effectLst/>
                          <a:latin typeface="Times New Roman" panose="02020603050405020304" pitchFamily="18" charset="0"/>
                          <a:cs typeface="Times New Roman" panose="02020603050405020304" pitchFamily="18" charset="0"/>
                        </a:rPr>
                        <a:t>observed a spike in cases related to mental health, such as anxiety, stress, and depression</a:t>
                      </a:r>
                      <a:r>
                        <a:rPr lang="en-US" sz="1600" dirty="0" smtClean="0">
                          <a:effectLst/>
                          <a:latin typeface="Times New Roman" panose="02020603050405020304" pitchFamily="18" charset="0"/>
                          <a:cs typeface="Times New Roman" panose="02020603050405020304" pitchFamily="18" charset="0"/>
                        </a:rPr>
                        <a:t>. They </a:t>
                      </a:r>
                      <a:r>
                        <a:rPr lang="en-US" sz="1600" dirty="0" smtClean="0">
                          <a:effectLst/>
                          <a:latin typeface="Times New Roman" panose="02020603050405020304" pitchFamily="18" charset="0"/>
                          <a:cs typeface="Times New Roman" panose="02020603050405020304" pitchFamily="18" charset="0"/>
                        </a:rPr>
                        <a:t>propose the following: 1) an extrinsic feature by harnessing the URLs present in tweets and 2) extracting textual content present in images posted in tweets.</a:t>
                      </a:r>
                      <a:endParaRPr lang="en-US" sz="16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5314" marR="45314" marT="0" marB="0"/>
                </a:tc>
              </a:tr>
              <a:tr h="2327638">
                <a:tc>
                  <a:txBody>
                    <a:bodyPr/>
                    <a:lstStyle/>
                    <a:p>
                      <a:pPr marL="0" marR="0" algn="just">
                        <a:lnSpc>
                          <a:spcPct val="107000"/>
                        </a:lnSpc>
                        <a:spcBef>
                          <a:spcPts val="0"/>
                        </a:spcBef>
                        <a:spcAft>
                          <a:spcPts val="0"/>
                        </a:spcAft>
                      </a:pPr>
                      <a:r>
                        <a:rPr lang="en-US" sz="1600">
                          <a:effectLst/>
                          <a:latin typeface="Times New Roman" panose="02020603050405020304" pitchFamily="18" charset="0"/>
                          <a:cs typeface="Times New Roman" panose="02020603050405020304" pitchFamily="18" charset="0"/>
                        </a:rPr>
                        <a:t>2</a:t>
                      </a:r>
                      <a:endParaRPr lang="en-US" sz="1600">
                        <a:effectLst/>
                        <a:latin typeface="Times New Roman" panose="02020603050405020304" pitchFamily="18" charset="0"/>
                        <a:ea typeface="Calibri" panose="020F0502020204030204" pitchFamily="34" charset="0"/>
                        <a:cs typeface="Times New Roman" panose="02020603050405020304" pitchFamily="18" charset="0"/>
                      </a:endParaRPr>
                    </a:p>
                  </a:txBody>
                  <a:tcPr marL="45314" marR="45314" marT="0" marB="0"/>
                </a:tc>
                <a:tc>
                  <a:txBody>
                    <a:bodyPr/>
                    <a:lstStyle/>
                    <a:p>
                      <a:pPr marL="0" marR="0" algn="just">
                        <a:lnSpc>
                          <a:spcPct val="107000"/>
                        </a:lnSpc>
                        <a:spcBef>
                          <a:spcPts val="0"/>
                        </a:spcBef>
                        <a:spcAft>
                          <a:spcPts val="0"/>
                        </a:spcAft>
                        <a:buNone/>
                      </a:pPr>
                      <a:r>
                        <a:rPr lang="en-US" sz="1600" dirty="0" smtClean="0">
                          <a:effectLst/>
                          <a:latin typeface="Times New Roman" panose="02020603050405020304" pitchFamily="18" charset="0"/>
                          <a:cs typeface="Times New Roman" panose="02020603050405020304" pitchFamily="18" charset="0"/>
                        </a:rPr>
                        <a:t>A </a:t>
                      </a:r>
                      <a:r>
                        <a:rPr lang="en-US" sz="1600" dirty="0" err="1" smtClean="0">
                          <a:effectLst/>
                          <a:latin typeface="Times New Roman" panose="02020603050405020304" pitchFamily="18" charset="0"/>
                          <a:cs typeface="Times New Roman" panose="02020603050405020304" pitchFamily="18" charset="0"/>
                        </a:rPr>
                        <a:t>Multimodel</a:t>
                      </a:r>
                      <a:r>
                        <a:rPr lang="en-US" sz="1600" dirty="0" smtClean="0">
                          <a:effectLst/>
                          <a:latin typeface="Times New Roman" panose="02020603050405020304" pitchFamily="18" charset="0"/>
                          <a:cs typeface="Times New Roman" panose="02020603050405020304" pitchFamily="18" charset="0"/>
                        </a:rPr>
                        <a:t> framework for depression detection during </a:t>
                      </a:r>
                      <a:r>
                        <a:rPr lang="en-US" sz="1600" dirty="0" err="1" smtClean="0">
                          <a:effectLst/>
                          <a:latin typeface="Times New Roman" panose="02020603050405020304" pitchFamily="18" charset="0"/>
                          <a:cs typeface="Times New Roman" panose="02020603050405020304" pitchFamily="18" charset="0"/>
                        </a:rPr>
                        <a:t>covid</a:t>
                      </a:r>
                      <a:r>
                        <a:rPr lang="en-US" sz="1600" dirty="0" smtClean="0">
                          <a:effectLst/>
                          <a:latin typeface="Times New Roman" panose="02020603050405020304" pitchFamily="18" charset="0"/>
                          <a:cs typeface="Times New Roman" panose="02020603050405020304" pitchFamily="18" charset="0"/>
                        </a:rPr>
                        <a:t> 19 via harvesting social media</a:t>
                      </a:r>
                      <a:endParaRPr lang="en-US" sz="16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5314" marR="45314" marT="0" marB="0"/>
                </a:tc>
                <a:tc>
                  <a:txBody>
                    <a:bodyPr/>
                    <a:lstStyle/>
                    <a:p>
                      <a:pPr marL="0" marR="0" algn="just">
                        <a:lnSpc>
                          <a:spcPct val="107000"/>
                        </a:lnSpc>
                        <a:spcBef>
                          <a:spcPts val="0"/>
                        </a:spcBef>
                        <a:spcAft>
                          <a:spcPts val="0"/>
                        </a:spcAft>
                        <a:buNone/>
                      </a:pPr>
                      <a:r>
                        <a:rPr lang="en-US" sz="1600" dirty="0" err="1" smtClean="0">
                          <a:effectLst/>
                          <a:latin typeface="Times New Roman" panose="02020603050405020304" pitchFamily="18" charset="0"/>
                          <a:cs typeface="Times New Roman" panose="02020603050405020304" pitchFamily="18" charset="0"/>
                        </a:rPr>
                        <a:t>Ashutosh</a:t>
                      </a:r>
                      <a:r>
                        <a:rPr lang="en-US" sz="1600" dirty="0" smtClean="0">
                          <a:effectLst/>
                          <a:latin typeface="Times New Roman" panose="02020603050405020304" pitchFamily="18" charset="0"/>
                          <a:cs typeface="Times New Roman" panose="02020603050405020304" pitchFamily="18" charset="0"/>
                        </a:rPr>
                        <a:t> </a:t>
                      </a:r>
                      <a:r>
                        <a:rPr lang="en-US" sz="1600" dirty="0" err="1" smtClean="0">
                          <a:effectLst/>
                          <a:latin typeface="Times New Roman" panose="02020603050405020304" pitchFamily="18" charset="0"/>
                          <a:cs typeface="Times New Roman" panose="02020603050405020304" pitchFamily="18" charset="0"/>
                        </a:rPr>
                        <a:t>Anshul</a:t>
                      </a:r>
                      <a:r>
                        <a:rPr lang="en-US" sz="1600" dirty="0" smtClean="0">
                          <a:effectLst/>
                          <a:latin typeface="Times New Roman" panose="02020603050405020304" pitchFamily="18" charset="0"/>
                          <a:cs typeface="Times New Roman" panose="02020603050405020304" pitchFamily="18" charset="0"/>
                        </a:rPr>
                        <a:t>, </a:t>
                      </a:r>
                      <a:r>
                        <a:rPr lang="en-US" sz="1600" dirty="0" err="1" smtClean="0">
                          <a:effectLst/>
                          <a:latin typeface="Times New Roman" panose="02020603050405020304" pitchFamily="18" charset="0"/>
                          <a:cs typeface="Times New Roman" panose="02020603050405020304" pitchFamily="18" charset="0"/>
                        </a:rPr>
                        <a:t>Gumpili</a:t>
                      </a:r>
                      <a:r>
                        <a:rPr lang="en-US" sz="1600" dirty="0" smtClean="0">
                          <a:effectLst/>
                          <a:latin typeface="Times New Roman" panose="02020603050405020304" pitchFamily="18" charset="0"/>
                          <a:cs typeface="Times New Roman" panose="02020603050405020304" pitchFamily="18" charset="0"/>
                        </a:rPr>
                        <a:t> Sai Pranav, Zia Ur </a:t>
                      </a:r>
                      <a:r>
                        <a:rPr lang="en-US" sz="1600" dirty="0" err="1" smtClean="0">
                          <a:effectLst/>
                          <a:latin typeface="Times New Roman" panose="02020603050405020304" pitchFamily="18" charset="0"/>
                          <a:cs typeface="Times New Roman" panose="02020603050405020304" pitchFamily="18" charset="0"/>
                        </a:rPr>
                        <a:t>Rehman</a:t>
                      </a:r>
                      <a:r>
                        <a:rPr lang="en-US" sz="1600" dirty="0" smtClean="0">
                          <a:effectLst/>
                          <a:latin typeface="Times New Roman" panose="02020603050405020304" pitchFamily="18" charset="0"/>
                          <a:cs typeface="Times New Roman" panose="02020603050405020304" pitchFamily="18" charset="0"/>
                        </a:rPr>
                        <a:t>.</a:t>
                      </a:r>
                      <a:endParaRPr lang="en-US" sz="16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5314" marR="45314" marT="0" marB="0"/>
                </a:tc>
                <a:tc>
                  <a:txBody>
                    <a:bodyPr/>
                    <a:lstStyle/>
                    <a:p>
                      <a:pPr marL="0" marR="0" algn="just">
                        <a:lnSpc>
                          <a:spcPct val="107000"/>
                        </a:lnSpc>
                        <a:spcBef>
                          <a:spcPts val="0"/>
                        </a:spcBef>
                        <a:spcAft>
                          <a:spcPts val="0"/>
                        </a:spcAft>
                      </a:pPr>
                      <a:r>
                        <a:rPr lang="en-US" sz="1600" dirty="0">
                          <a:effectLst/>
                          <a:latin typeface="Times New Roman" panose="02020603050405020304" pitchFamily="18" charset="0"/>
                          <a:cs typeface="Times New Roman" panose="02020603050405020304" pitchFamily="18" charset="0"/>
                        </a:rPr>
                        <a:t>IEEE </a:t>
                      </a:r>
                      <a:r>
                        <a:rPr lang="en-US" sz="1600" dirty="0" smtClean="0">
                          <a:effectLst/>
                          <a:latin typeface="Times New Roman" panose="02020603050405020304" pitchFamily="18" charset="0"/>
                          <a:cs typeface="Times New Roman" panose="02020603050405020304" pitchFamily="18" charset="0"/>
                        </a:rPr>
                        <a:t>2023</a:t>
                      </a:r>
                      <a:endParaRPr lang="en-US" sz="16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5314" marR="45314" marT="0" marB="0"/>
                </a:tc>
                <a:tc>
                  <a:txBody>
                    <a:bodyPr/>
                    <a:lstStyle/>
                    <a:p>
                      <a:pPr marL="0" marR="0" algn="just" defTabSz="914400" rtl="0" eaLnBrk="1" latinLnBrk="0" hangingPunct="1">
                        <a:lnSpc>
                          <a:spcPct val="107000"/>
                        </a:lnSpc>
                        <a:spcBef>
                          <a:spcPts val="0"/>
                        </a:spcBef>
                        <a:spcAft>
                          <a:spcPts val="0"/>
                        </a:spcAft>
                        <a:buNone/>
                      </a:pPr>
                      <a:r>
                        <a:rPr lang="en-US" sz="1600" dirty="0" smtClean="0">
                          <a:effectLst/>
                          <a:latin typeface="Times New Roman" panose="02020603050405020304" pitchFamily="18" charset="0"/>
                          <a:cs typeface="Times New Roman" panose="02020603050405020304" pitchFamily="18" charset="0"/>
                        </a:rPr>
                        <a:t>This paper presents a multimodal framework for detecting depression during the COVID-19 pandemic by leveraging social media data. It integrates various data sources and employs advanced analytics to identify depressive symptoms, offering insights for mental health monitoring and support strategies.</a:t>
                      </a:r>
                      <a:endParaRPr lang="en-US" sz="16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5314" marR="45314" marT="0" marB="0"/>
                </a:tc>
              </a:tr>
            </a:tbl>
          </a:graphicData>
        </a:graphic>
      </p:graphicFrame>
    </p:spTree>
    <p:extLst>
      <p:ext uri="{BB962C8B-B14F-4D97-AF65-F5344CB8AC3E}">
        <p14:creationId xmlns:p14="http://schemas.microsoft.com/office/powerpoint/2010/main" val="34707234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E5DABCB-F1E6-DB08-E7D3-327CF1CC5AAD}"/>
              </a:ext>
            </a:extLst>
          </p:cNvPr>
          <p:cNvSpPr>
            <a:spLocks noGrp="1"/>
          </p:cNvSpPr>
          <p:nvPr>
            <p:ph type="title"/>
          </p:nvPr>
        </p:nvSpPr>
        <p:spPr>
          <a:xfrm>
            <a:off x="777240" y="0"/>
            <a:ext cx="10515600" cy="1325563"/>
          </a:xfrm>
        </p:spPr>
        <p:txBody>
          <a:bodyPr>
            <a:normAutofit/>
          </a:bodyPr>
          <a:lstStyle/>
          <a:p>
            <a:pPr algn="ctr"/>
            <a:r>
              <a:rPr lang="en-IN" sz="4000" b="1" dirty="0">
                <a:latin typeface="Times New Roman" panose="02020603050405020304" pitchFamily="18" charset="0"/>
                <a:cs typeface="Times New Roman" panose="02020603050405020304" pitchFamily="18" charset="0"/>
              </a:rPr>
              <a:t>LITERATURE SURVEY</a:t>
            </a:r>
          </a:p>
        </p:txBody>
      </p:sp>
      <p:graphicFrame>
        <p:nvGraphicFramePr>
          <p:cNvPr id="5" name="Table 4"/>
          <p:cNvGraphicFramePr>
            <a:graphicFrameLocks noGrp="1"/>
          </p:cNvGraphicFramePr>
          <p:nvPr>
            <p:extLst>
              <p:ext uri="{D42A27DB-BD31-4B8C-83A1-F6EECF244321}">
                <p14:modId xmlns:p14="http://schemas.microsoft.com/office/powerpoint/2010/main" val="2183977749"/>
              </p:ext>
            </p:extLst>
          </p:nvPr>
        </p:nvGraphicFramePr>
        <p:xfrm>
          <a:off x="316192" y="1690688"/>
          <a:ext cx="11068088" cy="4886888"/>
        </p:xfrm>
        <a:graphic>
          <a:graphicData uri="http://schemas.openxmlformats.org/drawingml/2006/table">
            <a:tbl>
              <a:tblPr firstRow="1" firstCol="1" bandRow="1">
                <a:tableStyleId>{5940675A-B579-460E-94D1-54222C63F5DA}</a:tableStyleId>
              </a:tblPr>
              <a:tblGrid>
                <a:gridCol w="672394"/>
                <a:gridCol w="1729013"/>
                <a:gridCol w="1804188"/>
                <a:gridCol w="1202792"/>
                <a:gridCol w="5659701"/>
              </a:tblGrid>
              <a:tr h="2490790">
                <a:tc>
                  <a:txBody>
                    <a:bodyPr/>
                    <a:lstStyle/>
                    <a:p>
                      <a:pPr marL="0" marR="0" algn="just" defTabSz="914400" rtl="0" eaLnBrk="1" latinLnBrk="0" hangingPunct="1">
                        <a:lnSpc>
                          <a:spcPct val="107000"/>
                        </a:lnSpc>
                        <a:spcBef>
                          <a:spcPts val="0"/>
                        </a:spcBef>
                        <a:spcAft>
                          <a:spcPts val="0"/>
                        </a:spcAft>
                      </a:pPr>
                      <a:r>
                        <a:rPr lang="en-US" sz="1600" kern="1200" dirty="0">
                          <a:effectLst/>
                          <a:latin typeface="Times New Roman" panose="02020603050405020304" pitchFamily="18" charset="0"/>
                          <a:cs typeface="Times New Roman" panose="02020603050405020304" pitchFamily="18" charset="0"/>
                        </a:rPr>
                        <a:t>3</a:t>
                      </a:r>
                      <a:endParaRPr lang="en-US" sz="1600" kern="1200" dirty="0">
                        <a:solidFill>
                          <a:schemeClr val="dk1"/>
                        </a:solidFill>
                        <a:effectLst/>
                        <a:latin typeface="Times New Roman" panose="02020603050405020304" pitchFamily="18" charset="0"/>
                        <a:ea typeface="+mn-ea"/>
                        <a:cs typeface="Times New Roman" panose="02020603050405020304" pitchFamily="18" charset="0"/>
                      </a:endParaRPr>
                    </a:p>
                  </a:txBody>
                  <a:tcPr marL="46647" marR="46647" marT="0" marB="0"/>
                </a:tc>
                <a:tc>
                  <a:txBody>
                    <a:bodyPr/>
                    <a:lstStyle/>
                    <a:p>
                      <a:pPr marL="0" marR="0" algn="just">
                        <a:lnSpc>
                          <a:spcPct val="107000"/>
                        </a:lnSpc>
                        <a:spcBef>
                          <a:spcPts val="0"/>
                        </a:spcBef>
                        <a:spcAft>
                          <a:spcPts val="0"/>
                        </a:spcAft>
                      </a:pPr>
                      <a:r>
                        <a:rPr lang="en-US" sz="1600" dirty="0" smtClean="0">
                          <a:effectLst/>
                          <a:latin typeface="Times New Roman" panose="02020603050405020304" pitchFamily="18" charset="0"/>
                          <a:cs typeface="Times New Roman" panose="02020603050405020304" pitchFamily="18" charset="0"/>
                        </a:rPr>
                        <a:t>A Knowledge-Based Recommendation System that</a:t>
                      </a:r>
                    </a:p>
                    <a:p>
                      <a:pPr marL="0" marR="0" algn="just">
                        <a:lnSpc>
                          <a:spcPct val="107000"/>
                        </a:lnSpc>
                        <a:spcBef>
                          <a:spcPts val="0"/>
                        </a:spcBef>
                        <a:spcAft>
                          <a:spcPts val="0"/>
                        </a:spcAft>
                      </a:pPr>
                      <a:r>
                        <a:rPr lang="en-US" sz="1600" dirty="0" smtClean="0">
                          <a:effectLst/>
                          <a:latin typeface="Times New Roman" panose="02020603050405020304" pitchFamily="18" charset="0"/>
                          <a:cs typeface="Times New Roman" panose="02020603050405020304" pitchFamily="18" charset="0"/>
                        </a:rPr>
                        <a:t>includes Sentiment Analysis and Deep Learning</a:t>
                      </a:r>
                      <a:endParaRPr lang="en-US" sz="1600" b="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6647" marR="46647" marT="0" marB="0"/>
                </a:tc>
                <a:tc>
                  <a:txBody>
                    <a:bodyPr/>
                    <a:lstStyle/>
                    <a:p>
                      <a:pPr marL="0" marR="0" lvl="0" indent="0" algn="just" defTabSz="914400" rtl="0" eaLnBrk="1" fontAlgn="auto" latinLnBrk="0" hangingPunct="1">
                        <a:lnSpc>
                          <a:spcPct val="107000"/>
                        </a:lnSpc>
                        <a:spcBef>
                          <a:spcPts val="0"/>
                        </a:spcBef>
                        <a:spcAft>
                          <a:spcPts val="0"/>
                        </a:spcAft>
                        <a:buClrTx/>
                        <a:buSzTx/>
                        <a:buFontTx/>
                        <a:buNone/>
                        <a:tabLst/>
                        <a:defRPr/>
                      </a:pPr>
                      <a:r>
                        <a:rPr lang="en-US" sz="1600" dirty="0" smtClean="0">
                          <a:effectLst/>
                          <a:latin typeface="Times New Roman" panose="02020603050405020304" pitchFamily="18" charset="0"/>
                          <a:cs typeface="Times New Roman" panose="02020603050405020304" pitchFamily="18" charset="0"/>
                        </a:rPr>
                        <a:t>Renata L. Rosa, Gisele M. Schwartz, </a:t>
                      </a:r>
                    </a:p>
                    <a:p>
                      <a:pPr marL="0" marR="0" lvl="0" indent="0" algn="just" defTabSz="914400" rtl="0" eaLnBrk="1" fontAlgn="auto" latinLnBrk="0" hangingPunct="1">
                        <a:lnSpc>
                          <a:spcPct val="107000"/>
                        </a:lnSpc>
                        <a:spcBef>
                          <a:spcPts val="0"/>
                        </a:spcBef>
                        <a:spcAft>
                          <a:spcPts val="0"/>
                        </a:spcAft>
                        <a:buClrTx/>
                        <a:buSzTx/>
                        <a:buFontTx/>
                        <a:buNone/>
                        <a:tabLst/>
                        <a:defRPr/>
                      </a:pPr>
                      <a:r>
                        <a:rPr lang="en-US" sz="1600" dirty="0" smtClean="0">
                          <a:effectLst/>
                          <a:latin typeface="Times New Roman" panose="02020603050405020304" pitchFamily="18" charset="0"/>
                          <a:cs typeface="Times New Roman" panose="02020603050405020304" pitchFamily="18" charset="0"/>
                        </a:rPr>
                        <a:t>Wilson V. Ruggiero, and </a:t>
                      </a:r>
                      <a:r>
                        <a:rPr lang="en-US" sz="1600" dirty="0" err="1" smtClean="0">
                          <a:effectLst/>
                          <a:latin typeface="Times New Roman" panose="02020603050405020304" pitchFamily="18" charset="0"/>
                          <a:cs typeface="Times New Roman" panose="02020603050405020304" pitchFamily="18" charset="0"/>
                        </a:rPr>
                        <a:t>Dem´ostenes</a:t>
                      </a:r>
                      <a:r>
                        <a:rPr lang="en-US" sz="1600" dirty="0" smtClean="0">
                          <a:effectLst/>
                          <a:latin typeface="Times New Roman" panose="02020603050405020304" pitchFamily="18" charset="0"/>
                          <a:cs typeface="Times New Roman" panose="02020603050405020304" pitchFamily="18" charset="0"/>
                        </a:rPr>
                        <a:t>,</a:t>
                      </a:r>
                    </a:p>
                    <a:p>
                      <a:pPr marL="0" marR="0" lvl="0" indent="0" algn="just" defTabSz="914400" rtl="0" eaLnBrk="1" fontAlgn="auto" latinLnBrk="0" hangingPunct="1">
                        <a:lnSpc>
                          <a:spcPct val="107000"/>
                        </a:lnSpc>
                        <a:spcBef>
                          <a:spcPts val="0"/>
                        </a:spcBef>
                        <a:spcAft>
                          <a:spcPts val="0"/>
                        </a:spcAft>
                        <a:buClrTx/>
                        <a:buSzTx/>
                        <a:buFontTx/>
                        <a:buNone/>
                        <a:tabLst/>
                        <a:defRPr/>
                      </a:pPr>
                      <a:r>
                        <a:rPr lang="en-US" sz="1600" dirty="0" smtClean="0">
                          <a:effectLst/>
                          <a:latin typeface="Times New Roman" panose="02020603050405020304" pitchFamily="18" charset="0"/>
                          <a:cs typeface="Times New Roman" panose="02020603050405020304" pitchFamily="18" charset="0"/>
                        </a:rPr>
                        <a:t>Z. </a:t>
                      </a:r>
                      <a:r>
                        <a:rPr lang="en-US" sz="1600" dirty="0" err="1" smtClean="0">
                          <a:effectLst/>
                          <a:latin typeface="Times New Roman" panose="02020603050405020304" pitchFamily="18" charset="0"/>
                          <a:cs typeface="Times New Roman" panose="02020603050405020304" pitchFamily="18" charset="0"/>
                        </a:rPr>
                        <a:t>Rodr´ıguez</a:t>
                      </a:r>
                      <a:r>
                        <a:rPr lang="en-US" sz="1600" dirty="0" smtClean="0">
                          <a:effectLst/>
                          <a:latin typeface="Times New Roman" panose="02020603050405020304" pitchFamily="18" charset="0"/>
                          <a:cs typeface="Times New Roman" panose="02020603050405020304" pitchFamily="18" charset="0"/>
                        </a:rPr>
                        <a:t>,</a:t>
                      </a:r>
                    </a:p>
                    <a:p>
                      <a:pPr marL="0" marR="0" lvl="0" indent="0" algn="just" defTabSz="914400" rtl="0" eaLnBrk="1" fontAlgn="auto" latinLnBrk="0" hangingPunct="1">
                        <a:lnSpc>
                          <a:spcPct val="107000"/>
                        </a:lnSpc>
                        <a:spcBef>
                          <a:spcPts val="0"/>
                        </a:spcBef>
                        <a:spcAft>
                          <a:spcPts val="0"/>
                        </a:spcAft>
                        <a:buClrTx/>
                        <a:buSzTx/>
                        <a:buFontTx/>
                        <a:buNone/>
                        <a:tabLst/>
                        <a:defRPr/>
                      </a:pPr>
                      <a:r>
                        <a:rPr lang="en-US" sz="1600" dirty="0" smtClean="0">
                          <a:effectLst/>
                          <a:latin typeface="Times New Roman" panose="02020603050405020304" pitchFamily="18" charset="0"/>
                          <a:cs typeface="Times New Roman" panose="02020603050405020304" pitchFamily="18" charset="0"/>
                        </a:rPr>
                        <a:t> Senior Member, IEEE</a:t>
                      </a:r>
                      <a:endParaRPr lang="en-US" sz="1600" b="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6647" marR="46647" marT="0" marB="0"/>
                </a:tc>
                <a:tc>
                  <a:txBody>
                    <a:bodyPr/>
                    <a:lstStyle/>
                    <a:p>
                      <a:pPr marL="0" marR="0" algn="just" defTabSz="914400" rtl="0" eaLnBrk="1" latinLnBrk="0" hangingPunct="1">
                        <a:lnSpc>
                          <a:spcPct val="107000"/>
                        </a:lnSpc>
                        <a:spcBef>
                          <a:spcPts val="0"/>
                        </a:spcBef>
                        <a:spcAft>
                          <a:spcPts val="0"/>
                        </a:spcAft>
                      </a:pPr>
                      <a:r>
                        <a:rPr lang="en-US" sz="1600" kern="1200" dirty="0">
                          <a:effectLst/>
                          <a:latin typeface="Times New Roman" panose="02020603050405020304" pitchFamily="18" charset="0"/>
                          <a:cs typeface="Times New Roman" panose="02020603050405020304" pitchFamily="18" charset="0"/>
                        </a:rPr>
                        <a:t>IEEE </a:t>
                      </a:r>
                      <a:r>
                        <a:rPr lang="en-US" sz="1600" kern="1200" dirty="0" smtClean="0">
                          <a:effectLst/>
                          <a:latin typeface="Times New Roman" panose="02020603050405020304" pitchFamily="18" charset="0"/>
                          <a:cs typeface="Times New Roman" panose="02020603050405020304" pitchFamily="18" charset="0"/>
                        </a:rPr>
                        <a:t>2019</a:t>
                      </a:r>
                      <a:endParaRPr lang="en-US" sz="1600" kern="1200" dirty="0">
                        <a:solidFill>
                          <a:schemeClr val="dk1"/>
                        </a:solidFill>
                        <a:effectLst/>
                        <a:latin typeface="Times New Roman" panose="02020603050405020304" pitchFamily="18" charset="0"/>
                        <a:ea typeface="+mn-ea"/>
                        <a:cs typeface="Times New Roman" panose="02020603050405020304" pitchFamily="18" charset="0"/>
                      </a:endParaRPr>
                    </a:p>
                  </a:txBody>
                  <a:tcPr marL="46647" marR="46647" marT="0" marB="0"/>
                </a:tc>
                <a:tc>
                  <a:txBody>
                    <a:bodyPr/>
                    <a:lstStyle/>
                    <a:p>
                      <a:pPr marL="0" marR="0" lvl="0" indent="0" algn="just" defTabSz="914400" rtl="0" eaLnBrk="1" fontAlgn="auto" latinLnBrk="0" hangingPunct="1">
                        <a:lnSpc>
                          <a:spcPct val="107000"/>
                        </a:lnSpc>
                        <a:spcBef>
                          <a:spcPts val="0"/>
                        </a:spcBef>
                        <a:spcAft>
                          <a:spcPts val="0"/>
                        </a:spcAft>
                        <a:buClrTx/>
                        <a:buSzTx/>
                        <a:buFontTx/>
                        <a:buNone/>
                        <a:tabLst/>
                        <a:defRPr/>
                      </a:pPr>
                      <a:r>
                        <a:rPr lang="en-US" sz="1600" dirty="0" smtClean="0">
                          <a:effectLst/>
                          <a:latin typeface="Times New Roman" panose="02020603050405020304" pitchFamily="18" charset="0"/>
                          <a:cs typeface="Times New Roman" panose="02020603050405020304" pitchFamily="18" charset="0"/>
                        </a:rPr>
                        <a:t>Online social networks (OSN) provide relevant information on users’ opinion about different themes. Thus, applications, such as monitoring and recommendation systems</a:t>
                      </a:r>
                      <a:r>
                        <a:rPr lang="en-US" sz="1600" baseline="0" dirty="0" smtClean="0">
                          <a:effectLst/>
                          <a:latin typeface="Times New Roman" panose="02020603050405020304" pitchFamily="18" charset="0"/>
                          <a:cs typeface="Times New Roman" panose="02020603050405020304" pitchFamily="18" charset="0"/>
                        </a:rPr>
                        <a:t> </a:t>
                      </a:r>
                      <a:r>
                        <a:rPr lang="en-US" sz="1600" dirty="0" smtClean="0">
                          <a:effectLst/>
                          <a:latin typeface="Times New Roman" panose="02020603050405020304" pitchFamily="18" charset="0"/>
                          <a:cs typeface="Times New Roman" panose="02020603050405020304" pitchFamily="18" charset="0"/>
                        </a:rPr>
                        <a:t>(RS) can collect and analyze this data. This paper presents</a:t>
                      </a:r>
                      <a:r>
                        <a:rPr lang="en-US" sz="1600" baseline="0" dirty="0" smtClean="0">
                          <a:effectLst/>
                          <a:latin typeface="Times New Roman" panose="02020603050405020304" pitchFamily="18" charset="0"/>
                          <a:cs typeface="Times New Roman" panose="02020603050405020304" pitchFamily="18" charset="0"/>
                        </a:rPr>
                        <a:t> </a:t>
                      </a:r>
                      <a:r>
                        <a:rPr lang="en-US" sz="1600" dirty="0" smtClean="0">
                          <a:effectLst/>
                          <a:latin typeface="Times New Roman" panose="02020603050405020304" pitchFamily="18" charset="0"/>
                          <a:cs typeface="Times New Roman" panose="02020603050405020304" pitchFamily="18" charset="0"/>
                        </a:rPr>
                        <a:t>a Knowledge-Based Recommendation System (KBRS), which includes an emotional health monitoring system to detect users with potential psychological disturbances, specifically, depression and stress.</a:t>
                      </a:r>
                      <a:endParaRPr lang="en-US" sz="1600" b="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46647" marR="46647" marT="0" marB="0"/>
                </a:tc>
              </a:tr>
              <a:tr h="2396098">
                <a:tc>
                  <a:txBody>
                    <a:bodyPr/>
                    <a:lstStyle/>
                    <a:p>
                      <a:pPr marL="0" marR="0" algn="just" defTabSz="914400" rtl="0" eaLnBrk="1" latinLnBrk="0" hangingPunct="1">
                        <a:lnSpc>
                          <a:spcPct val="107000"/>
                        </a:lnSpc>
                        <a:spcBef>
                          <a:spcPts val="0"/>
                        </a:spcBef>
                        <a:spcAft>
                          <a:spcPts val="0"/>
                        </a:spcAft>
                      </a:pPr>
                      <a:r>
                        <a:rPr lang="en-US" sz="1600" kern="1200">
                          <a:effectLst/>
                          <a:latin typeface="Times New Roman" panose="02020603050405020304" pitchFamily="18" charset="0"/>
                          <a:cs typeface="Times New Roman" panose="02020603050405020304" pitchFamily="18" charset="0"/>
                        </a:rPr>
                        <a:t>4</a:t>
                      </a:r>
                      <a:endParaRPr lang="en-US" sz="1600" kern="1200">
                        <a:solidFill>
                          <a:schemeClr val="dk1"/>
                        </a:solidFill>
                        <a:effectLst/>
                        <a:latin typeface="Times New Roman" panose="02020603050405020304" pitchFamily="18" charset="0"/>
                        <a:ea typeface="+mn-ea"/>
                        <a:cs typeface="Times New Roman" panose="02020603050405020304" pitchFamily="18" charset="0"/>
                      </a:endParaRPr>
                    </a:p>
                  </a:txBody>
                  <a:tcPr marL="46647" marR="46647" marT="0" marB="0"/>
                </a:tc>
                <a:tc>
                  <a:txBody>
                    <a:bodyPr/>
                    <a:lstStyle/>
                    <a:p>
                      <a:pPr marL="0" marR="0" lvl="0" indent="0" algn="just" defTabSz="914400" rtl="0" eaLnBrk="1" fontAlgn="auto" latinLnBrk="0" hangingPunct="1">
                        <a:lnSpc>
                          <a:spcPct val="107000"/>
                        </a:lnSpc>
                        <a:spcBef>
                          <a:spcPts val="0"/>
                        </a:spcBef>
                        <a:spcAft>
                          <a:spcPts val="0"/>
                        </a:spcAft>
                        <a:buClrTx/>
                        <a:buSzTx/>
                        <a:buFontTx/>
                        <a:buNone/>
                        <a:tabLst/>
                        <a:defRPr/>
                      </a:pPr>
                      <a:r>
                        <a:rPr lang="en-US" sz="1600" dirty="0" smtClean="0">
                          <a:effectLst/>
                          <a:latin typeface="Times New Roman" panose="02020603050405020304" pitchFamily="18" charset="0"/>
                          <a:cs typeface="Times New Roman" panose="02020603050405020304" pitchFamily="18" charset="0"/>
                        </a:rPr>
                        <a:t>Emotion-Semantic Enhanced Neural Network</a:t>
                      </a:r>
                    </a:p>
                    <a:p>
                      <a:pPr marL="0" marR="0" algn="just" defTabSz="914400" rtl="0" eaLnBrk="1" latinLnBrk="0" hangingPunct="1">
                        <a:lnSpc>
                          <a:spcPct val="107000"/>
                        </a:lnSpc>
                        <a:spcBef>
                          <a:spcPts val="0"/>
                        </a:spcBef>
                        <a:spcAft>
                          <a:spcPts val="0"/>
                        </a:spcAft>
                      </a:pPr>
                      <a:endParaRPr lang="en-US" sz="1600" kern="1200" dirty="0">
                        <a:solidFill>
                          <a:schemeClr val="dk1"/>
                        </a:solidFill>
                        <a:effectLst/>
                        <a:latin typeface="Times New Roman" panose="02020603050405020304" pitchFamily="18" charset="0"/>
                        <a:ea typeface="+mn-ea"/>
                        <a:cs typeface="Times New Roman" panose="02020603050405020304" pitchFamily="18" charset="0"/>
                      </a:endParaRPr>
                    </a:p>
                  </a:txBody>
                  <a:tcPr marL="46647" marR="46647" marT="0" marB="0"/>
                </a:tc>
                <a:tc>
                  <a:txBody>
                    <a:bodyPr/>
                    <a:lstStyle/>
                    <a:p>
                      <a:pPr marL="0" marR="0" algn="just">
                        <a:lnSpc>
                          <a:spcPct val="107000"/>
                        </a:lnSpc>
                        <a:spcBef>
                          <a:spcPts val="0"/>
                        </a:spcBef>
                        <a:spcAft>
                          <a:spcPts val="0"/>
                        </a:spcAft>
                      </a:pPr>
                      <a:r>
                        <a:rPr lang="en-US" sz="1600" dirty="0" err="1" smtClean="0">
                          <a:effectLst/>
                          <a:latin typeface="Times New Roman" panose="02020603050405020304" pitchFamily="18" charset="0"/>
                          <a:cs typeface="Times New Roman" panose="02020603050405020304" pitchFamily="18" charset="0"/>
                        </a:rPr>
                        <a:t>Guang</a:t>
                      </a:r>
                      <a:r>
                        <a:rPr lang="en-US" sz="1600" dirty="0" smtClean="0">
                          <a:effectLst/>
                          <a:latin typeface="Times New Roman" panose="02020603050405020304" pitchFamily="18" charset="0"/>
                          <a:cs typeface="Times New Roman" panose="02020603050405020304" pitchFamily="18" charset="0"/>
                        </a:rPr>
                        <a:t> Yang, </a:t>
                      </a:r>
                      <a:r>
                        <a:rPr lang="en-US" sz="1600" dirty="0" err="1" smtClean="0">
                          <a:effectLst/>
                          <a:latin typeface="Times New Roman" panose="02020603050405020304" pitchFamily="18" charset="0"/>
                          <a:cs typeface="Times New Roman" panose="02020603050405020304" pitchFamily="18" charset="0"/>
                        </a:rPr>
                        <a:t>Haibo</a:t>
                      </a:r>
                      <a:r>
                        <a:rPr lang="en-US" sz="1600" dirty="0" smtClean="0">
                          <a:effectLst/>
                          <a:latin typeface="Times New Roman" panose="02020603050405020304" pitchFamily="18" charset="0"/>
                          <a:cs typeface="Times New Roman" panose="02020603050405020304" pitchFamily="18" charset="0"/>
                        </a:rPr>
                        <a:t> He, Fellow, IEEE, and Qian Chen</a:t>
                      </a:r>
                      <a:endParaRPr lang="en-US" sz="16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6647" marR="46647" marT="0" marB="0"/>
                </a:tc>
                <a:tc>
                  <a:txBody>
                    <a:bodyPr/>
                    <a:lstStyle/>
                    <a:p>
                      <a:pPr marL="0" marR="0" algn="just" defTabSz="914400" rtl="0" eaLnBrk="1" latinLnBrk="0" hangingPunct="1">
                        <a:lnSpc>
                          <a:spcPct val="107000"/>
                        </a:lnSpc>
                        <a:spcBef>
                          <a:spcPts val="0"/>
                        </a:spcBef>
                        <a:spcAft>
                          <a:spcPts val="0"/>
                        </a:spcAft>
                      </a:pPr>
                      <a:r>
                        <a:rPr lang="en-US" sz="1600" kern="1200" dirty="0">
                          <a:effectLst/>
                          <a:latin typeface="Times New Roman" panose="02020603050405020304" pitchFamily="18" charset="0"/>
                          <a:cs typeface="Times New Roman" panose="02020603050405020304" pitchFamily="18" charset="0"/>
                        </a:rPr>
                        <a:t>IEEE </a:t>
                      </a:r>
                      <a:r>
                        <a:rPr lang="en-US" sz="1600" kern="1200" dirty="0" smtClean="0">
                          <a:effectLst/>
                          <a:latin typeface="Times New Roman" panose="02020603050405020304" pitchFamily="18" charset="0"/>
                          <a:cs typeface="Times New Roman" panose="02020603050405020304" pitchFamily="18" charset="0"/>
                        </a:rPr>
                        <a:t>2019</a:t>
                      </a:r>
                      <a:endParaRPr lang="en-US" sz="1600" kern="1200" dirty="0">
                        <a:solidFill>
                          <a:schemeClr val="dk1"/>
                        </a:solidFill>
                        <a:effectLst/>
                        <a:latin typeface="Times New Roman" panose="02020603050405020304" pitchFamily="18" charset="0"/>
                        <a:ea typeface="+mn-ea"/>
                        <a:cs typeface="Times New Roman" panose="02020603050405020304" pitchFamily="18" charset="0"/>
                      </a:endParaRPr>
                    </a:p>
                  </a:txBody>
                  <a:tcPr marL="46647" marR="46647" marT="0" marB="0"/>
                </a:tc>
                <a:tc>
                  <a:txBody>
                    <a:bodyPr/>
                    <a:lstStyle/>
                    <a:p>
                      <a:pPr marL="0" marR="0" algn="just">
                        <a:lnSpc>
                          <a:spcPct val="107000"/>
                        </a:lnSpc>
                        <a:spcBef>
                          <a:spcPts val="0"/>
                        </a:spcBef>
                        <a:spcAft>
                          <a:spcPts val="0"/>
                        </a:spcAft>
                      </a:pPr>
                      <a:r>
                        <a:rPr lang="en-US" sz="1600" dirty="0" smtClean="0">
                          <a:effectLst/>
                          <a:latin typeface="Times New Roman" panose="02020603050405020304" pitchFamily="18" charset="0"/>
                          <a:cs typeface="Times New Roman" panose="02020603050405020304" pitchFamily="18" charset="0"/>
                        </a:rPr>
                        <a:t>Sentiment analysis on microblog posts has been studied in depth, sentiment analysis of posts is still challenging because of the limited contextual information that they normally contain. In microblog environments, emoticons are frequently used and they have clear emotional meanings. They are important emotional signals for microblog sentimental analysis. They address this issue by constructing an emotional space as a feature representation matrix and projecting emoticons and words into the emotional space based on the semantic composition.</a:t>
                      </a:r>
                      <a:endParaRPr lang="en-US" sz="16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6647" marR="46647" marT="0" marB="0"/>
                </a:tc>
              </a:tr>
            </a:tbl>
          </a:graphicData>
        </a:graphic>
      </p:graphicFrame>
    </p:spTree>
    <p:extLst>
      <p:ext uri="{BB962C8B-B14F-4D97-AF65-F5344CB8AC3E}">
        <p14:creationId xmlns:p14="http://schemas.microsoft.com/office/powerpoint/2010/main" val="36363450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E5DABCB-F1E6-DB08-E7D3-327CF1CC5AAD}"/>
              </a:ext>
            </a:extLst>
          </p:cNvPr>
          <p:cNvSpPr>
            <a:spLocks noGrp="1"/>
          </p:cNvSpPr>
          <p:nvPr>
            <p:ph type="title"/>
          </p:nvPr>
        </p:nvSpPr>
        <p:spPr>
          <a:xfrm>
            <a:off x="848360" y="0"/>
            <a:ext cx="10515600" cy="1325563"/>
          </a:xfrm>
        </p:spPr>
        <p:txBody>
          <a:bodyPr>
            <a:normAutofit/>
          </a:bodyPr>
          <a:lstStyle/>
          <a:p>
            <a:pPr algn="ctr"/>
            <a:r>
              <a:rPr lang="en-IN" sz="4000" b="1" dirty="0">
                <a:latin typeface="Times New Roman" panose="02020603050405020304" pitchFamily="18" charset="0"/>
                <a:cs typeface="Times New Roman" panose="02020603050405020304" pitchFamily="18" charset="0"/>
              </a:rPr>
              <a:t>LITERATURE SURVEY</a:t>
            </a:r>
          </a:p>
        </p:txBody>
      </p:sp>
      <p:graphicFrame>
        <p:nvGraphicFramePr>
          <p:cNvPr id="5" name="Table 4"/>
          <p:cNvGraphicFramePr>
            <a:graphicFrameLocks noGrp="1"/>
          </p:cNvGraphicFramePr>
          <p:nvPr>
            <p:extLst>
              <p:ext uri="{D42A27DB-BD31-4B8C-83A1-F6EECF244321}">
                <p14:modId xmlns:p14="http://schemas.microsoft.com/office/powerpoint/2010/main" val="2679483271"/>
              </p:ext>
            </p:extLst>
          </p:nvPr>
        </p:nvGraphicFramePr>
        <p:xfrm>
          <a:off x="304800" y="1835785"/>
          <a:ext cx="11084560" cy="2736215"/>
        </p:xfrm>
        <a:graphic>
          <a:graphicData uri="http://schemas.openxmlformats.org/drawingml/2006/table">
            <a:tbl>
              <a:tblPr firstRow="1" firstCol="1" bandRow="1">
                <a:tableStyleId>{5940675A-B579-460E-94D1-54222C63F5DA}</a:tableStyleId>
              </a:tblPr>
              <a:tblGrid>
                <a:gridCol w="291005"/>
                <a:gridCol w="1882102"/>
                <a:gridCol w="2388969"/>
                <a:gridCol w="1310560"/>
                <a:gridCol w="5211924"/>
              </a:tblGrid>
              <a:tr h="2736215">
                <a:tc>
                  <a:txBody>
                    <a:bodyPr/>
                    <a:lstStyle/>
                    <a:p>
                      <a:pPr marL="0" marR="0" algn="just">
                        <a:lnSpc>
                          <a:spcPct val="107000"/>
                        </a:lnSpc>
                        <a:spcBef>
                          <a:spcPts val="0"/>
                        </a:spcBef>
                        <a:spcAft>
                          <a:spcPts val="0"/>
                        </a:spcAft>
                      </a:pPr>
                      <a:r>
                        <a:rPr lang="en-US" sz="1600" dirty="0">
                          <a:effectLst/>
                          <a:latin typeface="Times New Roman" panose="02020603050405020304" pitchFamily="18" charset="0"/>
                          <a:cs typeface="Times New Roman" panose="02020603050405020304" pitchFamily="18" charset="0"/>
                        </a:rPr>
                        <a:t>5</a:t>
                      </a:r>
                      <a:endParaRPr lang="en-US" sz="16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defTabSz="914400" rtl="0" eaLnBrk="1" latinLnBrk="0" hangingPunct="1">
                        <a:lnSpc>
                          <a:spcPct val="107000"/>
                        </a:lnSpc>
                        <a:spcBef>
                          <a:spcPts val="0"/>
                        </a:spcBef>
                        <a:spcAft>
                          <a:spcPts val="0"/>
                        </a:spcAft>
                      </a:pPr>
                      <a:r>
                        <a:rPr lang="en-US" sz="1600" kern="1200" dirty="0" smtClean="0">
                          <a:effectLst/>
                          <a:latin typeface="Times New Roman" panose="02020603050405020304" pitchFamily="18" charset="0"/>
                          <a:cs typeface="Times New Roman" panose="02020603050405020304" pitchFamily="18" charset="0"/>
                        </a:rPr>
                        <a:t>Detecting Stress Based on Social Interactions in</a:t>
                      </a:r>
                    </a:p>
                    <a:p>
                      <a:pPr marL="0" marR="0" algn="just" defTabSz="914400" rtl="0" eaLnBrk="1" latinLnBrk="0" hangingPunct="1">
                        <a:lnSpc>
                          <a:spcPct val="107000"/>
                        </a:lnSpc>
                        <a:spcBef>
                          <a:spcPts val="0"/>
                        </a:spcBef>
                        <a:spcAft>
                          <a:spcPts val="0"/>
                        </a:spcAft>
                      </a:pPr>
                      <a:r>
                        <a:rPr lang="en-US" sz="1600" kern="1200" dirty="0" smtClean="0">
                          <a:effectLst/>
                          <a:latin typeface="Times New Roman" panose="02020603050405020304" pitchFamily="18" charset="0"/>
                          <a:cs typeface="Times New Roman" panose="02020603050405020304" pitchFamily="18" charset="0"/>
                        </a:rPr>
                        <a:t>Social Networks</a:t>
                      </a:r>
                      <a:endParaRPr lang="en-US" sz="1600" b="0" kern="1200" dirty="0">
                        <a:solidFill>
                          <a:schemeClr val="dk1"/>
                        </a:solidFill>
                        <a:effectLst/>
                        <a:latin typeface="Times New Roman" panose="02020603050405020304" pitchFamily="18" charset="0"/>
                        <a:ea typeface="+mn-ea"/>
                        <a:cs typeface="Times New Roman" panose="02020603050405020304" pitchFamily="18" charset="0"/>
                      </a:endParaRPr>
                    </a:p>
                  </a:txBody>
                  <a:tcPr marL="68580" marR="68580" marT="0" marB="0"/>
                </a:tc>
                <a:tc>
                  <a:txBody>
                    <a:bodyPr/>
                    <a:lstStyle/>
                    <a:p>
                      <a:pPr marL="0" marR="0" algn="just" defTabSz="914400" rtl="0" eaLnBrk="1" latinLnBrk="0" hangingPunct="1">
                        <a:lnSpc>
                          <a:spcPct val="107000"/>
                        </a:lnSpc>
                        <a:spcBef>
                          <a:spcPts val="0"/>
                        </a:spcBef>
                        <a:spcAft>
                          <a:spcPts val="0"/>
                        </a:spcAft>
                      </a:pPr>
                      <a:r>
                        <a:rPr lang="en-US" sz="1600" kern="1200" dirty="0" err="1" smtClean="0">
                          <a:effectLst/>
                          <a:latin typeface="Times New Roman" panose="02020603050405020304" pitchFamily="18" charset="0"/>
                          <a:cs typeface="Times New Roman" panose="02020603050405020304" pitchFamily="18" charset="0"/>
                        </a:rPr>
                        <a:t>Huijie</a:t>
                      </a:r>
                      <a:r>
                        <a:rPr lang="en-US" sz="1600" kern="1200" dirty="0" smtClean="0">
                          <a:effectLst/>
                          <a:latin typeface="Times New Roman" panose="02020603050405020304" pitchFamily="18" charset="0"/>
                          <a:cs typeface="Times New Roman" panose="02020603050405020304" pitchFamily="18" charset="0"/>
                        </a:rPr>
                        <a:t> Lin, </a:t>
                      </a:r>
                      <a:r>
                        <a:rPr lang="en-US" sz="1600" kern="1200" dirty="0" err="1" smtClean="0">
                          <a:effectLst/>
                          <a:latin typeface="Times New Roman" panose="02020603050405020304" pitchFamily="18" charset="0"/>
                          <a:cs typeface="Times New Roman" panose="02020603050405020304" pitchFamily="18" charset="0"/>
                        </a:rPr>
                        <a:t>Jia</a:t>
                      </a:r>
                      <a:r>
                        <a:rPr lang="en-US" sz="1600" kern="1200" dirty="0" smtClean="0">
                          <a:effectLst/>
                          <a:latin typeface="Times New Roman" panose="02020603050405020304" pitchFamily="18" charset="0"/>
                          <a:cs typeface="Times New Roman" panose="02020603050405020304" pitchFamily="18" charset="0"/>
                        </a:rPr>
                        <a:t> </a:t>
                      </a:r>
                      <a:r>
                        <a:rPr lang="en-US" sz="1600" kern="1200" dirty="0" err="1" smtClean="0">
                          <a:effectLst/>
                          <a:latin typeface="Times New Roman" panose="02020603050405020304" pitchFamily="18" charset="0"/>
                          <a:cs typeface="Times New Roman" panose="02020603050405020304" pitchFamily="18" charset="0"/>
                        </a:rPr>
                        <a:t>Jia</a:t>
                      </a:r>
                      <a:r>
                        <a:rPr lang="en-US" sz="1600" kern="1200" dirty="0" smtClean="0">
                          <a:effectLst/>
                          <a:latin typeface="Times New Roman" panose="02020603050405020304" pitchFamily="18" charset="0"/>
                          <a:cs typeface="Times New Roman" panose="02020603050405020304" pitchFamily="18" charset="0"/>
                        </a:rPr>
                        <a:t>, </a:t>
                      </a:r>
                      <a:r>
                        <a:rPr lang="en-US" sz="1600" kern="1200" dirty="0" err="1" smtClean="0">
                          <a:effectLst/>
                          <a:latin typeface="Times New Roman" panose="02020603050405020304" pitchFamily="18" charset="0"/>
                          <a:cs typeface="Times New Roman" panose="02020603050405020304" pitchFamily="18" charset="0"/>
                        </a:rPr>
                        <a:t>Jiezhon</a:t>
                      </a:r>
                      <a:r>
                        <a:rPr lang="en-US" sz="1600" kern="1200" dirty="0" smtClean="0">
                          <a:effectLst/>
                          <a:latin typeface="Times New Roman" panose="02020603050405020304" pitchFamily="18" charset="0"/>
                          <a:cs typeface="Times New Roman" panose="02020603050405020304" pitchFamily="18" charset="0"/>
                        </a:rPr>
                        <a:t> </a:t>
                      </a:r>
                      <a:r>
                        <a:rPr lang="en-US" sz="1600" kern="1200" dirty="0" err="1" smtClean="0">
                          <a:effectLst/>
                          <a:latin typeface="Times New Roman" panose="02020603050405020304" pitchFamily="18" charset="0"/>
                          <a:cs typeface="Times New Roman" panose="02020603050405020304" pitchFamily="18" charset="0"/>
                        </a:rPr>
                        <a:t>Qiu</a:t>
                      </a:r>
                      <a:r>
                        <a:rPr lang="en-US" sz="1600" kern="1200" dirty="0" smtClean="0">
                          <a:effectLst/>
                          <a:latin typeface="Times New Roman" panose="02020603050405020304" pitchFamily="18" charset="0"/>
                          <a:cs typeface="Times New Roman" panose="02020603050405020304" pitchFamily="18" charset="0"/>
                        </a:rPr>
                        <a:t>, </a:t>
                      </a:r>
                      <a:r>
                        <a:rPr lang="en-US" sz="1600" kern="1200" dirty="0" err="1" smtClean="0">
                          <a:effectLst/>
                          <a:latin typeface="Times New Roman" panose="02020603050405020304" pitchFamily="18" charset="0"/>
                          <a:cs typeface="Times New Roman" panose="02020603050405020304" pitchFamily="18" charset="0"/>
                        </a:rPr>
                        <a:t>Yongfeng</a:t>
                      </a:r>
                      <a:r>
                        <a:rPr lang="en-US" sz="1600" kern="1200" dirty="0" smtClean="0">
                          <a:effectLst/>
                          <a:latin typeface="Times New Roman" panose="02020603050405020304" pitchFamily="18" charset="0"/>
                          <a:cs typeface="Times New Roman" panose="02020603050405020304" pitchFamily="18" charset="0"/>
                        </a:rPr>
                        <a:t> Zhang, </a:t>
                      </a:r>
                      <a:r>
                        <a:rPr lang="en-US" sz="1600" kern="1200" dirty="0" err="1" smtClean="0">
                          <a:effectLst/>
                          <a:latin typeface="Times New Roman" panose="02020603050405020304" pitchFamily="18" charset="0"/>
                          <a:cs typeface="Times New Roman" panose="02020603050405020304" pitchFamily="18" charset="0"/>
                        </a:rPr>
                        <a:t>Lexing</a:t>
                      </a:r>
                      <a:r>
                        <a:rPr lang="en-US" sz="1600" kern="1200" dirty="0" smtClean="0">
                          <a:effectLst/>
                          <a:latin typeface="Times New Roman" panose="02020603050405020304" pitchFamily="18" charset="0"/>
                          <a:cs typeface="Times New Roman" panose="02020603050405020304" pitchFamily="18" charset="0"/>
                        </a:rPr>
                        <a:t> </a:t>
                      </a:r>
                      <a:r>
                        <a:rPr lang="en-US" sz="1600" kern="1200" dirty="0" err="1" smtClean="0">
                          <a:effectLst/>
                          <a:latin typeface="Times New Roman" panose="02020603050405020304" pitchFamily="18" charset="0"/>
                          <a:cs typeface="Times New Roman" panose="02020603050405020304" pitchFamily="18" charset="0"/>
                        </a:rPr>
                        <a:t>Xie</a:t>
                      </a:r>
                      <a:r>
                        <a:rPr lang="en-US" sz="1600" kern="1200" dirty="0" smtClean="0">
                          <a:effectLst/>
                          <a:latin typeface="Times New Roman" panose="02020603050405020304" pitchFamily="18" charset="0"/>
                          <a:cs typeface="Times New Roman" panose="02020603050405020304" pitchFamily="18" charset="0"/>
                        </a:rPr>
                        <a:t>, </a:t>
                      </a:r>
                      <a:r>
                        <a:rPr lang="en-US" sz="1600" kern="1200" dirty="0" err="1" smtClean="0">
                          <a:effectLst/>
                          <a:latin typeface="Times New Roman" panose="02020603050405020304" pitchFamily="18" charset="0"/>
                          <a:cs typeface="Times New Roman" panose="02020603050405020304" pitchFamily="18" charset="0"/>
                        </a:rPr>
                        <a:t>Jie</a:t>
                      </a:r>
                      <a:r>
                        <a:rPr lang="en-US" sz="1600" kern="1200" dirty="0" smtClean="0">
                          <a:effectLst/>
                          <a:latin typeface="Times New Roman" panose="02020603050405020304" pitchFamily="18" charset="0"/>
                          <a:cs typeface="Times New Roman" panose="02020603050405020304" pitchFamily="18" charset="0"/>
                        </a:rPr>
                        <a:t> Tang, Ling Feng, and Tat-Seng Chua</a:t>
                      </a:r>
                      <a:endParaRPr lang="en-US" sz="1600" b="0" kern="1200" dirty="0">
                        <a:solidFill>
                          <a:schemeClr val="dk1"/>
                        </a:solidFill>
                        <a:effectLst/>
                        <a:latin typeface="Times New Roman" panose="02020603050405020304" pitchFamily="18" charset="0"/>
                        <a:ea typeface="+mn-ea"/>
                        <a:cs typeface="Times New Roman" panose="02020603050405020304" pitchFamily="18" charset="0"/>
                      </a:endParaRPr>
                    </a:p>
                  </a:txBody>
                  <a:tcPr marL="68580" marR="68580" marT="0" marB="0"/>
                </a:tc>
                <a:tc>
                  <a:txBody>
                    <a:bodyPr/>
                    <a:lstStyle/>
                    <a:p>
                      <a:pPr marL="0" marR="0" algn="just">
                        <a:lnSpc>
                          <a:spcPct val="107000"/>
                        </a:lnSpc>
                        <a:spcBef>
                          <a:spcPts val="0"/>
                        </a:spcBef>
                        <a:spcAft>
                          <a:spcPts val="0"/>
                        </a:spcAft>
                      </a:pPr>
                      <a:r>
                        <a:rPr lang="en-US" sz="1600" dirty="0">
                          <a:effectLst/>
                          <a:latin typeface="Times New Roman" panose="02020603050405020304" pitchFamily="18" charset="0"/>
                          <a:cs typeface="Times New Roman" panose="02020603050405020304" pitchFamily="18" charset="0"/>
                        </a:rPr>
                        <a:t>IEEE </a:t>
                      </a:r>
                      <a:r>
                        <a:rPr lang="en-US" sz="1600" dirty="0" smtClean="0">
                          <a:effectLst/>
                          <a:latin typeface="Times New Roman" panose="02020603050405020304" pitchFamily="18" charset="0"/>
                          <a:cs typeface="Times New Roman" panose="02020603050405020304" pitchFamily="18" charset="0"/>
                        </a:rPr>
                        <a:t>2017</a:t>
                      </a:r>
                      <a:endParaRPr lang="en-US" sz="16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defTabSz="914400" rtl="0" eaLnBrk="1" latinLnBrk="0" hangingPunct="1">
                        <a:lnSpc>
                          <a:spcPct val="107000"/>
                        </a:lnSpc>
                        <a:spcBef>
                          <a:spcPts val="0"/>
                        </a:spcBef>
                        <a:spcAft>
                          <a:spcPts val="0"/>
                        </a:spcAft>
                      </a:pPr>
                      <a:r>
                        <a:rPr lang="en-US" sz="1600" kern="1200" dirty="0" smtClean="0">
                          <a:effectLst/>
                          <a:latin typeface="Times New Roman" panose="02020603050405020304" pitchFamily="18" charset="0"/>
                          <a:cs typeface="Times New Roman" panose="02020603050405020304" pitchFamily="18" charset="0"/>
                        </a:rPr>
                        <a:t>In this paper, we find that users stress state is closely related to that of his/her friends in social media, and we employ a large-scale dataset from real-world social platforms to systematically study the correlation of users’ stress states and social interactions. We first define a set of stress-related textual, visual, and social attributes from various aspects, and then propose a novel hybrid model - a factor graph model combined with Convolutional Neural Network to leverage tweet content and social interaction information for stress detection</a:t>
                      </a:r>
                      <a:endParaRPr lang="en-US" sz="1600" b="0" kern="1200" dirty="0">
                        <a:solidFill>
                          <a:schemeClr val="dk1"/>
                        </a:solidFill>
                        <a:effectLst/>
                        <a:latin typeface="Times New Roman" panose="02020603050405020304" pitchFamily="18" charset="0"/>
                        <a:ea typeface="+mn-ea"/>
                        <a:cs typeface="Times New Roman" panose="02020603050405020304" pitchFamily="18" charset="0"/>
                      </a:endParaRPr>
                    </a:p>
                  </a:txBody>
                  <a:tcPr marL="68580" marR="68580" marT="0" marB="0"/>
                </a:tc>
              </a:tr>
            </a:tbl>
          </a:graphicData>
        </a:graphic>
      </p:graphicFrame>
    </p:spTree>
    <p:extLst>
      <p:ext uri="{BB962C8B-B14F-4D97-AF65-F5344CB8AC3E}">
        <p14:creationId xmlns:p14="http://schemas.microsoft.com/office/powerpoint/2010/main" val="1005568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509C9E6-2556-4DBC-EC22-A4F40D5F2C7B}"/>
              </a:ext>
            </a:extLst>
          </p:cNvPr>
          <p:cNvSpPr>
            <a:spLocks noGrp="1"/>
          </p:cNvSpPr>
          <p:nvPr>
            <p:ph type="title"/>
          </p:nvPr>
        </p:nvSpPr>
        <p:spPr>
          <a:xfrm>
            <a:off x="838200" y="101600"/>
            <a:ext cx="10515600" cy="1008010"/>
          </a:xfrm>
        </p:spPr>
        <p:txBody>
          <a:bodyPr>
            <a:normAutofit/>
          </a:bodyPr>
          <a:lstStyle/>
          <a:p>
            <a:pPr algn="ctr"/>
            <a:r>
              <a:rPr lang="en-IN" sz="4000" b="1" dirty="0">
                <a:latin typeface="Times New Roman" panose="02020603050405020304" pitchFamily="18" charset="0"/>
                <a:cs typeface="Times New Roman" panose="02020603050405020304" pitchFamily="18" charset="0"/>
              </a:rPr>
              <a:t>GAP  ANALYSIS</a:t>
            </a:r>
          </a:p>
        </p:txBody>
      </p:sp>
      <p:sp>
        <p:nvSpPr>
          <p:cNvPr id="3" name="Content Placeholder 2">
            <a:extLst>
              <a:ext uri="{FF2B5EF4-FFF2-40B4-BE49-F238E27FC236}">
                <a16:creationId xmlns:a16="http://schemas.microsoft.com/office/drawing/2014/main" xmlns="" id="{3BDE653A-A53B-F34B-9E29-E7866621479D}"/>
              </a:ext>
            </a:extLst>
          </p:cNvPr>
          <p:cNvSpPr>
            <a:spLocks noGrp="1"/>
          </p:cNvSpPr>
          <p:nvPr>
            <p:ph idx="1"/>
          </p:nvPr>
        </p:nvSpPr>
        <p:spPr>
          <a:xfrm>
            <a:off x="838200" y="1387011"/>
            <a:ext cx="10515600" cy="5352836"/>
          </a:xfrm>
        </p:spPr>
        <p:txBody>
          <a:bodyPr>
            <a:normAutofit fontScale="70000" lnSpcReduction="20000"/>
          </a:bodyPr>
          <a:lstStyle/>
          <a:p>
            <a:pPr marL="0" indent="0">
              <a:buNone/>
            </a:pPr>
            <a:endParaRPr lang="en-IN" dirty="0"/>
          </a:p>
          <a:p>
            <a:pPr>
              <a:buFont typeface="Wingdings" panose="05000000000000000000" pitchFamily="2" charset="2"/>
              <a:buChar char="v"/>
            </a:pPr>
            <a:r>
              <a:rPr lang="en-IN" sz="3100" b="1" dirty="0"/>
              <a:t> </a:t>
            </a:r>
            <a:r>
              <a:rPr lang="en-IN" sz="3100" b="1" dirty="0">
                <a:latin typeface="Times New Roman" panose="02020603050405020304" pitchFamily="18" charset="0"/>
                <a:cs typeface="Times New Roman" panose="02020603050405020304" pitchFamily="18" charset="0"/>
              </a:rPr>
              <a:t>Current State:</a:t>
            </a:r>
          </a:p>
          <a:p>
            <a:pPr algn="just"/>
            <a:r>
              <a:rPr lang="en-IN" dirty="0" smtClean="0">
                <a:latin typeface="Times New Roman" panose="02020603050405020304" pitchFamily="18" charset="0"/>
                <a:cs typeface="Times New Roman" panose="02020603050405020304" pitchFamily="18" charset="0"/>
              </a:rPr>
              <a:t>Facebook text data </a:t>
            </a:r>
            <a:r>
              <a:rPr lang="en-IN" dirty="0">
                <a:latin typeface="Times New Roman" panose="02020603050405020304" pitchFamily="18" charset="0"/>
                <a:cs typeface="Times New Roman" panose="02020603050405020304" pitchFamily="18" charset="0"/>
              </a:rPr>
              <a:t>detection.</a:t>
            </a:r>
          </a:p>
          <a:p>
            <a:pPr algn="just"/>
            <a:r>
              <a:rPr lang="en-IN" dirty="0" smtClean="0">
                <a:latin typeface="Times New Roman" panose="02020603050405020304" pitchFamily="18" charset="0"/>
                <a:cs typeface="Times New Roman" panose="02020603050405020304" pitchFamily="18" charset="0"/>
              </a:rPr>
              <a:t>Use of separate </a:t>
            </a:r>
            <a:r>
              <a:rPr lang="en-IN" dirty="0" smtClean="0">
                <a:latin typeface="Times New Roman" panose="02020603050405020304" pitchFamily="18" charset="0"/>
                <a:cs typeface="Times New Roman" panose="02020603050405020304" pitchFamily="18" charset="0"/>
              </a:rPr>
              <a:t>application</a:t>
            </a:r>
            <a:r>
              <a:rPr lang="en-IN" dirty="0" smtClean="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a:p>
            <a:pPr algn="just"/>
            <a:r>
              <a:rPr lang="en-IN" dirty="0" smtClean="0">
                <a:latin typeface="Times New Roman" panose="02020603050405020304" pitchFamily="18" charset="0"/>
                <a:cs typeface="Times New Roman" panose="02020603050405020304" pitchFamily="18" charset="0"/>
              </a:rPr>
              <a:t>Sentiment analysis used for text.</a:t>
            </a:r>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IN" dirty="0">
                <a:latin typeface="Times New Roman" panose="02020603050405020304" pitchFamily="18" charset="0"/>
                <a:cs typeface="Times New Roman" panose="02020603050405020304" pitchFamily="18" charset="0"/>
              </a:rPr>
              <a:t> </a:t>
            </a:r>
            <a:r>
              <a:rPr lang="en-IN" sz="3100" b="1" dirty="0">
                <a:latin typeface="Times New Roman" panose="02020603050405020304" pitchFamily="18" charset="0"/>
                <a:cs typeface="Times New Roman" panose="02020603050405020304" pitchFamily="18" charset="0"/>
              </a:rPr>
              <a:t>Desired Future State:</a:t>
            </a:r>
          </a:p>
          <a:p>
            <a:pPr algn="just"/>
            <a:r>
              <a:rPr lang="en-IN" dirty="0" smtClean="0">
                <a:latin typeface="Times New Roman" panose="02020603050405020304" pitchFamily="18" charset="0"/>
                <a:cs typeface="Times New Roman" panose="02020603050405020304" pitchFamily="18" charset="0"/>
              </a:rPr>
              <a:t>Data from multiple social sites.</a:t>
            </a:r>
            <a:endParaRPr lang="en-IN" dirty="0">
              <a:latin typeface="Times New Roman" panose="02020603050405020304" pitchFamily="18" charset="0"/>
              <a:cs typeface="Times New Roman" panose="02020603050405020304" pitchFamily="18" charset="0"/>
            </a:endParaRPr>
          </a:p>
          <a:p>
            <a:pPr algn="just"/>
            <a:r>
              <a:rPr lang="en-IN" dirty="0" smtClean="0">
                <a:latin typeface="Times New Roman" panose="02020603050405020304" pitchFamily="18" charset="0"/>
                <a:cs typeface="Times New Roman" panose="02020603050405020304" pitchFamily="18" charset="0"/>
              </a:rPr>
              <a:t>Integration of app in </a:t>
            </a:r>
            <a:r>
              <a:rPr lang="en-IN" dirty="0">
                <a:latin typeface="Times New Roman" panose="02020603050405020304" pitchFamily="18" charset="0"/>
                <a:cs typeface="Times New Roman" panose="02020603050405020304" pitchFamily="18" charset="0"/>
              </a:rPr>
              <a:t>F</a:t>
            </a:r>
            <a:r>
              <a:rPr lang="en-IN" dirty="0" smtClean="0">
                <a:latin typeface="Times New Roman" panose="02020603050405020304" pitchFamily="18" charset="0"/>
                <a:cs typeface="Times New Roman" panose="02020603050405020304" pitchFamily="18" charset="0"/>
              </a:rPr>
              <a:t>acebook</a:t>
            </a:r>
            <a:r>
              <a:rPr lang="en-IN" dirty="0" smtClean="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Integration of sentiment analysis </a:t>
            </a:r>
            <a:r>
              <a:rPr lang="en-IN" dirty="0" smtClean="0">
                <a:latin typeface="Times New Roman" panose="02020603050405020304" pitchFamily="18" charset="0"/>
                <a:cs typeface="Times New Roman" panose="02020603050405020304" pitchFamily="18" charset="0"/>
              </a:rPr>
              <a:t>for images and audio.</a:t>
            </a:r>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IN" dirty="0">
                <a:latin typeface="Times New Roman" panose="02020603050405020304" pitchFamily="18" charset="0"/>
                <a:cs typeface="Times New Roman" panose="02020603050405020304" pitchFamily="18" charset="0"/>
              </a:rPr>
              <a:t> </a:t>
            </a:r>
            <a:r>
              <a:rPr lang="en-IN" sz="3100" b="1" dirty="0">
                <a:latin typeface="Times New Roman" panose="02020603050405020304" pitchFamily="18" charset="0"/>
                <a:cs typeface="Times New Roman" panose="02020603050405020304" pitchFamily="18" charset="0"/>
              </a:rPr>
              <a:t>Identified Gaps:</a:t>
            </a:r>
          </a:p>
          <a:p>
            <a:pPr algn="just"/>
            <a:r>
              <a:rPr lang="en-IN" dirty="0">
                <a:latin typeface="Times New Roman" panose="02020603050405020304" pitchFamily="18" charset="0"/>
                <a:cs typeface="Times New Roman" panose="02020603050405020304" pitchFamily="18" charset="0"/>
              </a:rPr>
              <a:t>Limited F</a:t>
            </a:r>
            <a:r>
              <a:rPr lang="en-IN" dirty="0" smtClean="0">
                <a:latin typeface="Times New Roman" panose="02020603050405020304" pitchFamily="18" charset="0"/>
                <a:cs typeface="Times New Roman" panose="02020603050405020304" pitchFamily="18" charset="0"/>
              </a:rPr>
              <a:t>acebook </a:t>
            </a:r>
            <a:r>
              <a:rPr lang="en-IN" dirty="0">
                <a:latin typeface="Times New Roman" panose="02020603050405020304" pitchFamily="18" charset="0"/>
                <a:cs typeface="Times New Roman" panose="02020603050405020304" pitchFamily="18" charset="0"/>
              </a:rPr>
              <a:t>dataset.</a:t>
            </a:r>
          </a:p>
          <a:p>
            <a:pPr algn="just"/>
            <a:r>
              <a:rPr lang="en-IN" dirty="0" err="1" smtClean="0">
                <a:latin typeface="Times New Roman" panose="02020603050405020304" pitchFamily="18" charset="0"/>
                <a:cs typeface="Times New Roman" panose="02020603050405020304" pitchFamily="18" charset="0"/>
              </a:rPr>
              <a:t>Seperate</a:t>
            </a:r>
            <a:r>
              <a:rPr lang="en-IN" dirty="0" smtClean="0">
                <a:latin typeface="Times New Roman" panose="02020603050405020304" pitchFamily="18" charset="0"/>
                <a:cs typeface="Times New Roman" panose="02020603050405020304" pitchFamily="18" charset="0"/>
              </a:rPr>
              <a:t> </a:t>
            </a:r>
            <a:r>
              <a:rPr lang="en-IN" dirty="0" smtClean="0">
                <a:latin typeface="Times New Roman" panose="02020603050405020304" pitchFamily="18" charset="0"/>
                <a:cs typeface="Times New Roman" panose="02020603050405020304" pitchFamily="18" charset="0"/>
              </a:rPr>
              <a:t>application required.</a:t>
            </a:r>
            <a:endParaRPr lang="en-IN"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No sentiment analysis </a:t>
            </a:r>
            <a:r>
              <a:rPr lang="en-IN" dirty="0" smtClean="0">
                <a:latin typeface="Times New Roman" panose="02020603050405020304" pitchFamily="18" charset="0"/>
                <a:cs typeface="Times New Roman" panose="02020603050405020304" pitchFamily="18" charset="0"/>
              </a:rPr>
              <a:t>for image or audio.</a:t>
            </a:r>
            <a:endParaRPr lang="en-IN" dirty="0">
              <a:latin typeface="Times New Roman" panose="02020603050405020304" pitchFamily="18" charset="0"/>
              <a:cs typeface="Times New Roman" panose="02020603050405020304" pitchFamily="18" charset="0"/>
            </a:endParaRPr>
          </a:p>
          <a:p>
            <a:endParaRPr lang="en-IN" dirty="0"/>
          </a:p>
          <a:p>
            <a:pPr marL="0" indent="0">
              <a:buNone/>
            </a:pPr>
            <a:endParaRPr lang="en-IN" dirty="0"/>
          </a:p>
        </p:txBody>
      </p:sp>
    </p:spTree>
    <p:extLst>
      <p:ext uri="{BB962C8B-B14F-4D97-AF65-F5344CB8AC3E}">
        <p14:creationId xmlns:p14="http://schemas.microsoft.com/office/powerpoint/2010/main" val="16884248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E8A65BB-DA7B-813F-EB51-79CEC51A0D7D}"/>
              </a:ext>
            </a:extLst>
          </p:cNvPr>
          <p:cNvSpPr>
            <a:spLocks noGrp="1"/>
          </p:cNvSpPr>
          <p:nvPr>
            <p:ph type="title"/>
          </p:nvPr>
        </p:nvSpPr>
        <p:spPr>
          <a:xfrm>
            <a:off x="736600" y="1"/>
            <a:ext cx="10515600" cy="1097280"/>
          </a:xfrm>
        </p:spPr>
        <p:txBody>
          <a:bodyPr>
            <a:normAutofit/>
          </a:bodyPr>
          <a:lstStyle/>
          <a:p>
            <a:pPr algn="ctr"/>
            <a:r>
              <a:rPr lang="en-IN" sz="4000" b="1" dirty="0">
                <a:latin typeface="Times New Roman" panose="02020603050405020304" pitchFamily="18" charset="0"/>
                <a:cs typeface="Times New Roman" panose="02020603050405020304" pitchFamily="18" charset="0"/>
              </a:rPr>
              <a:t>SYSTEM ARCHITECTURE</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31504" y="1772816"/>
            <a:ext cx="8280920" cy="4636317"/>
          </a:xfrm>
          <a:prstGeom prst="rect">
            <a:avLst/>
          </a:prstGeom>
        </p:spPr>
      </p:pic>
    </p:spTree>
    <p:extLst>
      <p:ext uri="{BB962C8B-B14F-4D97-AF65-F5344CB8AC3E}">
        <p14:creationId xmlns:p14="http://schemas.microsoft.com/office/powerpoint/2010/main" val="3759461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870507F-9DA1-131F-E6B1-D4220C95CC4E}"/>
              </a:ext>
            </a:extLst>
          </p:cNvPr>
          <p:cNvSpPr>
            <a:spLocks noGrp="1"/>
          </p:cNvSpPr>
          <p:nvPr>
            <p:ph type="title"/>
          </p:nvPr>
        </p:nvSpPr>
        <p:spPr>
          <a:xfrm>
            <a:off x="838200" y="200740"/>
            <a:ext cx="10515600" cy="723936"/>
          </a:xfrm>
        </p:spPr>
        <p:txBody>
          <a:bodyPr>
            <a:normAutofit/>
          </a:bodyPr>
          <a:lstStyle/>
          <a:p>
            <a:pPr algn="ctr"/>
            <a:r>
              <a:rPr lang="en-IN" sz="4000" b="1" dirty="0">
                <a:latin typeface="Times New Roman" panose="02020603050405020304" pitchFamily="18" charset="0"/>
                <a:cs typeface="Times New Roman" panose="02020603050405020304" pitchFamily="18" charset="0"/>
              </a:rPr>
              <a:t>PROPOSED ALGORITHM</a:t>
            </a:r>
          </a:p>
        </p:txBody>
      </p:sp>
      <p:sp>
        <p:nvSpPr>
          <p:cNvPr id="3" name="Content Placeholder 2">
            <a:extLst>
              <a:ext uri="{FF2B5EF4-FFF2-40B4-BE49-F238E27FC236}">
                <a16:creationId xmlns:a16="http://schemas.microsoft.com/office/drawing/2014/main" xmlns="" id="{6A168FB4-CA9E-CD32-0015-7D19F47EF295}"/>
              </a:ext>
            </a:extLst>
          </p:cNvPr>
          <p:cNvSpPr>
            <a:spLocks noGrp="1"/>
          </p:cNvSpPr>
          <p:nvPr>
            <p:ph idx="1"/>
          </p:nvPr>
        </p:nvSpPr>
        <p:spPr>
          <a:xfrm>
            <a:off x="482885" y="1099335"/>
            <a:ext cx="11178284" cy="5393932"/>
          </a:xfrm>
        </p:spPr>
        <p:txBody>
          <a:bodyPr>
            <a:normAutofit/>
          </a:bodyPr>
          <a:lstStyle/>
          <a:p>
            <a:pPr algn="just">
              <a:buFont typeface="Wingdings" panose="05000000000000000000" pitchFamily="2" charset="2"/>
              <a:buChar char="v"/>
            </a:pPr>
            <a:r>
              <a:rPr lang="en-US" sz="2400" b="1" dirty="0">
                <a:latin typeface="Times New Roman" panose="02020603050405020304" pitchFamily="18" charset="0"/>
                <a:cs typeface="Times New Roman" panose="02020603050405020304" pitchFamily="18" charset="0"/>
              </a:rPr>
              <a:t>Naive </a:t>
            </a:r>
            <a:r>
              <a:rPr lang="en-US" sz="2400" b="1" dirty="0" smtClean="0">
                <a:latin typeface="Times New Roman" panose="02020603050405020304" pitchFamily="18" charset="0"/>
                <a:cs typeface="Times New Roman" panose="02020603050405020304" pitchFamily="18" charset="0"/>
              </a:rPr>
              <a:t>Bayes</a:t>
            </a:r>
          </a:p>
          <a:p>
            <a:pPr marL="0" indent="0" algn="just">
              <a:buNone/>
            </a:pPr>
            <a:endParaRPr lang="en-US" sz="2400" dirty="0">
              <a:latin typeface="Times New Roman" panose="02020603050405020304" pitchFamily="18" charset="0"/>
              <a:cs typeface="Times New Roman" panose="02020603050405020304" pitchFamily="18" charset="0"/>
            </a:endParaRPr>
          </a:p>
          <a:p>
            <a:pPr lvl="0" algn="just">
              <a:lnSpc>
                <a:spcPct val="100000"/>
              </a:lnSpc>
            </a:pPr>
            <a:r>
              <a:rPr lang="en-US" sz="2200" dirty="0">
                <a:latin typeface="Times New Roman" panose="02020603050405020304" pitchFamily="18" charset="0"/>
                <a:cs typeface="Times New Roman" panose="02020603050405020304" pitchFamily="18" charset="0"/>
              </a:rPr>
              <a:t>Given training dataset D which consists of documents belonging to different class say Class A and Class B</a:t>
            </a:r>
          </a:p>
          <a:p>
            <a:pPr lvl="0" algn="just">
              <a:lnSpc>
                <a:spcPct val="100000"/>
              </a:lnSpc>
            </a:pPr>
            <a:r>
              <a:rPr lang="en-US" sz="2200" dirty="0">
                <a:latin typeface="Times New Roman" panose="02020603050405020304" pitchFamily="18" charset="0"/>
                <a:cs typeface="Times New Roman" panose="02020603050405020304" pitchFamily="18" charset="0"/>
              </a:rPr>
              <a:t>Calculate the prior probability of class A=number of objects of class A/total number of objects</a:t>
            </a:r>
          </a:p>
          <a:p>
            <a:pPr algn="just">
              <a:lnSpc>
                <a:spcPct val="100000"/>
              </a:lnSpc>
            </a:pPr>
            <a:r>
              <a:rPr lang="en-US" sz="2200" dirty="0">
                <a:latin typeface="Times New Roman" panose="02020603050405020304" pitchFamily="18" charset="0"/>
                <a:cs typeface="Times New Roman" panose="02020603050405020304" pitchFamily="18" charset="0"/>
              </a:rPr>
              <a:t>Calculate the prior probability of class B=number of objects of class B/total number of objects</a:t>
            </a:r>
          </a:p>
          <a:p>
            <a:pPr lvl="0" algn="just">
              <a:lnSpc>
                <a:spcPct val="100000"/>
              </a:lnSpc>
            </a:pPr>
            <a:r>
              <a:rPr lang="en-US" sz="2200" dirty="0">
                <a:latin typeface="Times New Roman" panose="02020603050405020304" pitchFamily="18" charset="0"/>
                <a:cs typeface="Times New Roman" panose="02020603050405020304" pitchFamily="18" charset="0"/>
              </a:rPr>
              <a:t>Find NI, the total no of frequency of each class</a:t>
            </a:r>
          </a:p>
          <a:p>
            <a:pPr algn="just">
              <a:lnSpc>
                <a:spcPct val="100000"/>
              </a:lnSpc>
            </a:pPr>
            <a:r>
              <a:rPr lang="en-US" sz="2200" dirty="0">
                <a:latin typeface="Times New Roman" panose="02020603050405020304" pitchFamily="18" charset="0"/>
                <a:cs typeface="Times New Roman" panose="02020603050405020304" pitchFamily="18" charset="0"/>
              </a:rPr>
              <a:t>Na=the total no of frequency of class A</a:t>
            </a:r>
          </a:p>
          <a:p>
            <a:pPr algn="just">
              <a:lnSpc>
                <a:spcPct val="100000"/>
              </a:lnSpc>
            </a:pPr>
            <a:r>
              <a:rPr lang="en-US" sz="2200" dirty="0" err="1">
                <a:latin typeface="Times New Roman" panose="02020603050405020304" pitchFamily="18" charset="0"/>
                <a:cs typeface="Times New Roman" panose="02020603050405020304" pitchFamily="18" charset="0"/>
              </a:rPr>
              <a:t>Nb</a:t>
            </a:r>
            <a:r>
              <a:rPr lang="en-US" sz="2200" dirty="0">
                <a:latin typeface="Times New Roman" panose="02020603050405020304" pitchFamily="18" charset="0"/>
                <a:cs typeface="Times New Roman" panose="02020603050405020304" pitchFamily="18" charset="0"/>
              </a:rPr>
              <a:t>=the total no of frequency of class B</a:t>
            </a:r>
          </a:p>
          <a:p>
            <a:pPr lvl="0" algn="just">
              <a:lnSpc>
                <a:spcPct val="100000"/>
              </a:lnSpc>
            </a:pPr>
            <a:r>
              <a:rPr lang="en-US" sz="2200" dirty="0">
                <a:latin typeface="Times New Roman" panose="02020603050405020304" pitchFamily="18" charset="0"/>
                <a:cs typeface="Times New Roman" panose="02020603050405020304" pitchFamily="18" charset="0"/>
              </a:rPr>
              <a:t>Find conditional probability of keyword occurrence given a class</a:t>
            </a:r>
            <a:r>
              <a:rPr lang="en-US" sz="2200" dirty="0" smtClean="0">
                <a:latin typeface="Times New Roman" panose="02020603050405020304" pitchFamily="18" charset="0"/>
                <a:cs typeface="Times New Roman" panose="02020603050405020304" pitchFamily="18" charset="0"/>
              </a:rPr>
              <a:t>:</a:t>
            </a:r>
            <a:endParaRPr lang="en-US"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93115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870507F-9DA1-131F-E6B1-D4220C95CC4E}"/>
              </a:ext>
            </a:extLst>
          </p:cNvPr>
          <p:cNvSpPr>
            <a:spLocks noGrp="1"/>
          </p:cNvSpPr>
          <p:nvPr>
            <p:ph type="title"/>
          </p:nvPr>
        </p:nvSpPr>
        <p:spPr>
          <a:xfrm>
            <a:off x="838200" y="200740"/>
            <a:ext cx="10515600" cy="723936"/>
          </a:xfrm>
        </p:spPr>
        <p:txBody>
          <a:bodyPr>
            <a:normAutofit/>
          </a:bodyPr>
          <a:lstStyle/>
          <a:p>
            <a:pPr algn="ctr"/>
            <a:r>
              <a:rPr lang="en-IN" sz="4000" b="1" dirty="0">
                <a:latin typeface="Times New Roman" panose="02020603050405020304" pitchFamily="18" charset="0"/>
                <a:cs typeface="Times New Roman" panose="02020603050405020304" pitchFamily="18" charset="0"/>
              </a:rPr>
              <a:t>PROPOSED ALGORITHM</a:t>
            </a:r>
          </a:p>
        </p:txBody>
      </p:sp>
      <p:sp>
        <p:nvSpPr>
          <p:cNvPr id="3" name="Content Placeholder 2">
            <a:extLst>
              <a:ext uri="{FF2B5EF4-FFF2-40B4-BE49-F238E27FC236}">
                <a16:creationId xmlns:a16="http://schemas.microsoft.com/office/drawing/2014/main" xmlns="" id="{6A168FB4-CA9E-CD32-0015-7D19F47EF295}"/>
              </a:ext>
            </a:extLst>
          </p:cNvPr>
          <p:cNvSpPr>
            <a:spLocks noGrp="1"/>
          </p:cNvSpPr>
          <p:nvPr>
            <p:ph idx="1"/>
          </p:nvPr>
        </p:nvSpPr>
        <p:spPr>
          <a:xfrm>
            <a:off x="482885" y="1099335"/>
            <a:ext cx="11178284" cy="5393932"/>
          </a:xfrm>
        </p:spPr>
        <p:txBody>
          <a:bodyPr>
            <a:normAutofit/>
          </a:bodyPr>
          <a:lstStyle/>
          <a:p>
            <a:pPr algn="just">
              <a:lnSpc>
                <a:spcPct val="100000"/>
              </a:lnSpc>
            </a:pPr>
            <a:r>
              <a:rPr lang="en-US" sz="2200" dirty="0">
                <a:latin typeface="Times New Roman" panose="02020603050405020304" pitchFamily="18" charset="0"/>
                <a:cs typeface="Times New Roman" panose="02020603050405020304" pitchFamily="18" charset="0"/>
              </a:rPr>
              <a:t>P (value 1/Class A) =count/</a:t>
            </a:r>
            <a:r>
              <a:rPr lang="en-US" sz="2200" dirty="0" err="1">
                <a:latin typeface="Times New Roman" panose="02020603050405020304" pitchFamily="18" charset="0"/>
                <a:cs typeface="Times New Roman" panose="02020603050405020304" pitchFamily="18" charset="0"/>
              </a:rPr>
              <a:t>ni</a:t>
            </a:r>
            <a:r>
              <a:rPr lang="en-US" sz="2200" dirty="0">
                <a:latin typeface="Times New Roman" panose="02020603050405020304" pitchFamily="18" charset="0"/>
                <a:cs typeface="Times New Roman" panose="02020603050405020304" pitchFamily="18" charset="0"/>
              </a:rPr>
              <a:t> (A)</a:t>
            </a:r>
          </a:p>
          <a:p>
            <a:pPr algn="just">
              <a:lnSpc>
                <a:spcPct val="100000"/>
              </a:lnSpc>
            </a:pPr>
            <a:r>
              <a:rPr lang="en-US" sz="2200" dirty="0">
                <a:latin typeface="Times New Roman" panose="02020603050405020304" pitchFamily="18" charset="0"/>
                <a:cs typeface="Times New Roman" panose="02020603050405020304" pitchFamily="18" charset="0"/>
              </a:rPr>
              <a:t>P (value 1/Class B) =count/</a:t>
            </a:r>
            <a:r>
              <a:rPr lang="en-US" sz="2200" dirty="0" err="1">
                <a:latin typeface="Times New Roman" panose="02020603050405020304" pitchFamily="18" charset="0"/>
                <a:cs typeface="Times New Roman" panose="02020603050405020304" pitchFamily="18" charset="0"/>
              </a:rPr>
              <a:t>ni</a:t>
            </a:r>
            <a:r>
              <a:rPr lang="en-US" sz="2200" dirty="0">
                <a:latin typeface="Times New Roman" panose="02020603050405020304" pitchFamily="18" charset="0"/>
                <a:cs typeface="Times New Roman" panose="02020603050405020304" pitchFamily="18" charset="0"/>
              </a:rPr>
              <a:t> (B)</a:t>
            </a:r>
          </a:p>
          <a:p>
            <a:pPr algn="just">
              <a:lnSpc>
                <a:spcPct val="100000"/>
              </a:lnSpc>
            </a:pPr>
            <a:r>
              <a:rPr lang="en-US" sz="2200" dirty="0">
                <a:latin typeface="Times New Roman" panose="02020603050405020304" pitchFamily="18" charset="0"/>
                <a:cs typeface="Times New Roman" panose="02020603050405020304" pitchFamily="18" charset="0"/>
              </a:rPr>
              <a:t>P (value 2/Class A) =count/</a:t>
            </a:r>
            <a:r>
              <a:rPr lang="en-US" sz="2200" dirty="0" err="1">
                <a:latin typeface="Times New Roman" panose="02020603050405020304" pitchFamily="18" charset="0"/>
                <a:cs typeface="Times New Roman" panose="02020603050405020304" pitchFamily="18" charset="0"/>
              </a:rPr>
              <a:t>ni</a:t>
            </a:r>
            <a:r>
              <a:rPr lang="en-US" sz="2200" dirty="0">
                <a:latin typeface="Times New Roman" panose="02020603050405020304" pitchFamily="18" charset="0"/>
                <a:cs typeface="Times New Roman" panose="02020603050405020304" pitchFamily="18" charset="0"/>
              </a:rPr>
              <a:t> (A)</a:t>
            </a:r>
          </a:p>
          <a:p>
            <a:pPr algn="just">
              <a:lnSpc>
                <a:spcPct val="100000"/>
              </a:lnSpc>
            </a:pPr>
            <a:r>
              <a:rPr lang="en-US" sz="2200" dirty="0">
                <a:latin typeface="Times New Roman" panose="02020603050405020304" pitchFamily="18" charset="0"/>
                <a:cs typeface="Times New Roman" panose="02020603050405020304" pitchFamily="18" charset="0"/>
              </a:rPr>
              <a:t>P (value 2/Class B) =count/</a:t>
            </a:r>
            <a:r>
              <a:rPr lang="en-US" sz="2200" dirty="0" err="1">
                <a:latin typeface="Times New Roman" panose="02020603050405020304" pitchFamily="18" charset="0"/>
                <a:cs typeface="Times New Roman" panose="02020603050405020304" pitchFamily="18" charset="0"/>
              </a:rPr>
              <a:t>ni</a:t>
            </a:r>
            <a:r>
              <a:rPr lang="en-US" sz="2200" dirty="0">
                <a:latin typeface="Times New Roman" panose="02020603050405020304" pitchFamily="18" charset="0"/>
                <a:cs typeface="Times New Roman" panose="02020603050405020304" pitchFamily="18" charset="0"/>
              </a:rPr>
              <a:t> (B)</a:t>
            </a:r>
          </a:p>
          <a:p>
            <a:pPr marL="0" indent="0" algn="just">
              <a:lnSpc>
                <a:spcPct val="100000"/>
              </a:lnSpc>
              <a:buNone/>
            </a:pPr>
            <a:endParaRPr lang="en-US" sz="2200" dirty="0">
              <a:latin typeface="Times New Roman" panose="02020603050405020304" pitchFamily="18" charset="0"/>
              <a:cs typeface="Times New Roman" panose="02020603050405020304" pitchFamily="18" charset="0"/>
            </a:endParaRPr>
          </a:p>
          <a:p>
            <a:pPr algn="just">
              <a:lnSpc>
                <a:spcPct val="100000"/>
              </a:lnSpc>
            </a:pPr>
            <a:r>
              <a:rPr lang="en-US" sz="2200" dirty="0">
                <a:latin typeface="Times New Roman" panose="02020603050405020304" pitchFamily="18" charset="0"/>
                <a:cs typeface="Times New Roman" panose="02020603050405020304" pitchFamily="18" charset="0"/>
              </a:rPr>
              <a:t>P (value n/Class B) =count/</a:t>
            </a:r>
            <a:r>
              <a:rPr lang="en-US" sz="2200" dirty="0" err="1">
                <a:latin typeface="Times New Roman" panose="02020603050405020304" pitchFamily="18" charset="0"/>
                <a:cs typeface="Times New Roman" panose="02020603050405020304" pitchFamily="18" charset="0"/>
              </a:rPr>
              <a:t>ni</a:t>
            </a:r>
            <a:r>
              <a:rPr lang="en-US" sz="2200" dirty="0">
                <a:latin typeface="Times New Roman" panose="02020603050405020304" pitchFamily="18" charset="0"/>
                <a:cs typeface="Times New Roman" panose="02020603050405020304" pitchFamily="18" charset="0"/>
              </a:rPr>
              <a:t> (B)</a:t>
            </a:r>
          </a:p>
          <a:p>
            <a:pPr lvl="0" algn="just">
              <a:lnSpc>
                <a:spcPct val="100000"/>
              </a:lnSpc>
            </a:pPr>
            <a:r>
              <a:rPr lang="en-US" sz="2200" dirty="0">
                <a:latin typeface="Times New Roman" panose="02020603050405020304" pitchFamily="18" charset="0"/>
                <a:cs typeface="Times New Roman" panose="02020603050405020304" pitchFamily="18" charset="0"/>
              </a:rPr>
              <a:t>Avoid zero frequency problems by applying uniform distribution</a:t>
            </a:r>
          </a:p>
          <a:p>
            <a:pPr lvl="0" algn="just">
              <a:lnSpc>
                <a:spcPct val="100000"/>
              </a:lnSpc>
            </a:pPr>
            <a:r>
              <a:rPr lang="en-US" sz="2200" dirty="0">
                <a:latin typeface="Times New Roman" panose="02020603050405020304" pitchFamily="18" charset="0"/>
                <a:cs typeface="Times New Roman" panose="02020603050405020304" pitchFamily="18" charset="0"/>
              </a:rPr>
              <a:t>Classify Document C based on the probability p(C/W)</a:t>
            </a:r>
          </a:p>
          <a:p>
            <a:pPr lvl="0" algn="just">
              <a:lnSpc>
                <a:spcPct val="100000"/>
              </a:lnSpc>
            </a:pPr>
            <a:r>
              <a:rPr lang="en-US" sz="2200" dirty="0">
                <a:latin typeface="Times New Roman" panose="02020603050405020304" pitchFamily="18" charset="0"/>
                <a:cs typeface="Times New Roman" panose="02020603050405020304" pitchFamily="18" charset="0"/>
              </a:rPr>
              <a:t>Find P (A/W) =P (A)*P (value 1/Class A)* P (value 2/Class A)……. P(value n /Class A)</a:t>
            </a:r>
          </a:p>
          <a:p>
            <a:pPr lvl="0" algn="just">
              <a:lnSpc>
                <a:spcPct val="100000"/>
              </a:lnSpc>
            </a:pPr>
            <a:r>
              <a:rPr lang="en-US" sz="2200" dirty="0">
                <a:latin typeface="Times New Roman" panose="02020603050405020304" pitchFamily="18" charset="0"/>
                <a:cs typeface="Times New Roman" panose="02020603050405020304" pitchFamily="18" charset="0"/>
              </a:rPr>
              <a:t>Find P (B/W) =P (B)*P (value 1/Class B)* P (value 2/Class B)……. P(value n /Class B)</a:t>
            </a:r>
          </a:p>
          <a:p>
            <a:pPr lvl="0" algn="just">
              <a:lnSpc>
                <a:spcPct val="100000"/>
              </a:lnSpc>
            </a:pPr>
            <a:r>
              <a:rPr lang="en-US" sz="2200" dirty="0">
                <a:latin typeface="Times New Roman" panose="02020603050405020304" pitchFamily="18" charset="0"/>
                <a:cs typeface="Times New Roman" panose="02020603050405020304" pitchFamily="18" charset="0"/>
              </a:rPr>
              <a:t>Assign document to class that has higher probability.</a:t>
            </a:r>
          </a:p>
        </p:txBody>
      </p:sp>
    </p:spTree>
    <p:extLst>
      <p:ext uri="{BB962C8B-B14F-4D97-AF65-F5344CB8AC3E}">
        <p14:creationId xmlns:p14="http://schemas.microsoft.com/office/powerpoint/2010/main" val="39304724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68F53DB-4CF6-B3A6-46F4-A4FDD2EE2C3F}"/>
              </a:ext>
            </a:extLst>
          </p:cNvPr>
          <p:cNvSpPr>
            <a:spLocks noGrp="1"/>
          </p:cNvSpPr>
          <p:nvPr>
            <p:ph type="title" idx="4294967295"/>
          </p:nvPr>
        </p:nvSpPr>
        <p:spPr>
          <a:xfrm>
            <a:off x="0" y="98425"/>
            <a:ext cx="10515600" cy="877888"/>
          </a:xfrm>
        </p:spPr>
        <p:txBody>
          <a:bodyPr>
            <a:normAutofit/>
          </a:bodyPr>
          <a:lstStyle/>
          <a:p>
            <a:pPr algn="ctr"/>
            <a:r>
              <a:rPr lang="en-IN" sz="4000" b="1" dirty="0">
                <a:latin typeface="Times New Roman" panose="02020603050405020304" pitchFamily="18" charset="0"/>
                <a:cs typeface="Times New Roman" panose="02020603050405020304" pitchFamily="18" charset="0"/>
              </a:rPr>
              <a:t>MATHEMATICAL MODEL</a:t>
            </a:r>
          </a:p>
        </p:txBody>
      </p:sp>
      <p:sp>
        <p:nvSpPr>
          <p:cNvPr id="3" name="Content Placeholder 2">
            <a:extLst>
              <a:ext uri="{FF2B5EF4-FFF2-40B4-BE49-F238E27FC236}">
                <a16:creationId xmlns:a16="http://schemas.microsoft.com/office/drawing/2014/main" xmlns="" id="{60D1AFCF-B95A-9A0F-D0E5-F7972C78355C}"/>
              </a:ext>
            </a:extLst>
          </p:cNvPr>
          <p:cNvSpPr>
            <a:spLocks noGrp="1"/>
          </p:cNvSpPr>
          <p:nvPr>
            <p:ph idx="4294967295"/>
          </p:nvPr>
        </p:nvSpPr>
        <p:spPr>
          <a:xfrm>
            <a:off x="1311275" y="1133475"/>
            <a:ext cx="10362565" cy="5521325"/>
          </a:xfrm>
        </p:spPr>
        <p:txBody>
          <a:bodyPr>
            <a:noAutofit/>
          </a:bodyPr>
          <a:lstStyle/>
          <a:p>
            <a:pPr algn="just">
              <a:lnSpc>
                <a:spcPct val="100000"/>
              </a:lnSpc>
            </a:pPr>
            <a:r>
              <a:rPr lang="en-US" sz="2200" dirty="0" smtClean="0">
                <a:latin typeface="Times New Roman" panose="02020603050405020304" pitchFamily="18" charset="0"/>
                <a:cs typeface="Times New Roman" panose="02020603050405020304" pitchFamily="18" charset="0"/>
              </a:rPr>
              <a:t>The mathematical model for Stress and Depression Monitoring System is as-</a:t>
            </a:r>
          </a:p>
          <a:p>
            <a:pPr marL="0" indent="0" algn="just">
              <a:lnSpc>
                <a:spcPct val="100000"/>
              </a:lnSpc>
              <a:buNone/>
            </a:pPr>
            <a:r>
              <a:rPr lang="en-US" sz="2200" b="1" dirty="0" smtClean="0">
                <a:latin typeface="Times New Roman" panose="02020603050405020304" pitchFamily="18" charset="0"/>
                <a:cs typeface="Times New Roman" panose="02020603050405020304" pitchFamily="18" charset="0"/>
              </a:rPr>
              <a:t>                                                      </a:t>
            </a:r>
            <a:r>
              <a:rPr lang="en-US" sz="2400" b="1" dirty="0" smtClean="0">
                <a:latin typeface="Times New Roman" panose="02020603050405020304" pitchFamily="18" charset="0"/>
                <a:cs typeface="Times New Roman" panose="02020603050405020304" pitchFamily="18" charset="0"/>
              </a:rPr>
              <a:t>S={I, F, O}</a:t>
            </a:r>
          </a:p>
          <a:p>
            <a:pPr marL="0" indent="0" algn="just">
              <a:lnSpc>
                <a:spcPct val="100000"/>
              </a:lnSpc>
              <a:buNone/>
            </a:pPr>
            <a:r>
              <a:rPr lang="en-US" sz="2200" dirty="0" smtClean="0">
                <a:latin typeface="Times New Roman" panose="02020603050405020304" pitchFamily="18" charset="0"/>
                <a:cs typeface="Times New Roman" panose="02020603050405020304" pitchFamily="18" charset="0"/>
              </a:rPr>
              <a:t>   Where,</a:t>
            </a:r>
          </a:p>
          <a:p>
            <a:pPr algn="just">
              <a:lnSpc>
                <a:spcPct val="100000"/>
              </a:lnSpc>
            </a:pPr>
            <a:r>
              <a:rPr lang="en-US" sz="2200" dirty="0" smtClean="0">
                <a:latin typeface="Times New Roman" panose="02020603050405020304" pitchFamily="18" charset="0"/>
                <a:cs typeface="Times New Roman" panose="02020603050405020304" pitchFamily="18" charset="0"/>
              </a:rPr>
              <a:t>I = Set of inputs</a:t>
            </a:r>
          </a:p>
          <a:p>
            <a:pPr algn="just">
              <a:lnSpc>
                <a:spcPct val="100000"/>
              </a:lnSpc>
            </a:pPr>
            <a:r>
              <a:rPr lang="en-US" sz="2200" dirty="0" smtClean="0">
                <a:latin typeface="Times New Roman" panose="02020603050405020304" pitchFamily="18" charset="0"/>
                <a:cs typeface="Times New Roman" panose="02020603050405020304" pitchFamily="18" charset="0"/>
              </a:rPr>
              <a:t>The input consists of set of Words/Emoticon/Microblog. It uses Twitter and Facebook dataset. </a:t>
            </a:r>
          </a:p>
          <a:p>
            <a:pPr algn="just">
              <a:lnSpc>
                <a:spcPct val="100000"/>
              </a:lnSpc>
            </a:pPr>
            <a:r>
              <a:rPr lang="en-US" sz="2200" dirty="0" smtClean="0">
                <a:latin typeface="Times New Roman" panose="02020603050405020304" pitchFamily="18" charset="0"/>
                <a:cs typeface="Times New Roman" panose="02020603050405020304" pitchFamily="18" charset="0"/>
              </a:rPr>
              <a:t>F = Set of functions</a:t>
            </a:r>
          </a:p>
          <a:p>
            <a:pPr marL="0" indent="0" algn="just">
              <a:lnSpc>
                <a:spcPct val="100000"/>
              </a:lnSpc>
              <a:buNone/>
            </a:pPr>
            <a:r>
              <a:rPr lang="en-US" sz="2400" b="1" dirty="0" smtClean="0">
                <a:latin typeface="Times New Roman" panose="02020603050405020304" pitchFamily="18" charset="0"/>
                <a:cs typeface="Times New Roman" panose="02020603050405020304" pitchFamily="18" charset="0"/>
              </a:rPr>
              <a:t>                                                    F={F1, F2, F3….FN}</a:t>
            </a:r>
          </a:p>
          <a:p>
            <a:pPr algn="just">
              <a:lnSpc>
                <a:spcPct val="100000"/>
              </a:lnSpc>
              <a:buFont typeface="Wingdings" panose="05000000000000000000" pitchFamily="2" charset="2"/>
              <a:buChar char="Ø"/>
            </a:pPr>
            <a:r>
              <a:rPr lang="en-US" sz="2200" b="1" dirty="0">
                <a:latin typeface="Times New Roman" panose="02020603050405020304" pitchFamily="18" charset="0"/>
                <a:cs typeface="Times New Roman" panose="02020603050405020304" pitchFamily="18" charset="0"/>
              </a:rPr>
              <a:t>F1: Data Collection</a:t>
            </a:r>
            <a:endParaRPr lang="en-US" sz="2200" dirty="0">
              <a:latin typeface="Times New Roman" panose="02020603050405020304" pitchFamily="18" charset="0"/>
              <a:cs typeface="Times New Roman" panose="02020603050405020304" pitchFamily="18" charset="0"/>
            </a:endParaRPr>
          </a:p>
          <a:p>
            <a:pPr marL="0" indent="0" algn="just">
              <a:lnSpc>
                <a:spcPct val="100000"/>
              </a:lnSpc>
              <a:buNone/>
            </a:pPr>
            <a:r>
              <a:rPr lang="en-US" sz="2200" dirty="0" smtClean="0">
                <a:latin typeface="Times New Roman" panose="02020603050405020304" pitchFamily="18" charset="0"/>
                <a:cs typeface="Times New Roman" panose="02020603050405020304" pitchFamily="18" charset="0"/>
              </a:rPr>
              <a:t>   Where</a:t>
            </a:r>
            <a:r>
              <a:rPr lang="en-US" sz="2200" dirty="0">
                <a:latin typeface="Times New Roman" panose="02020603050405020304" pitchFamily="18" charset="0"/>
                <a:cs typeface="Times New Roman" panose="02020603050405020304" pitchFamily="18" charset="0"/>
              </a:rPr>
              <a:t>,</a:t>
            </a:r>
          </a:p>
          <a:p>
            <a:pPr algn="just">
              <a:lnSpc>
                <a:spcPct val="100000"/>
              </a:lnSpc>
            </a:pPr>
            <a:r>
              <a:rPr lang="en-US" sz="2200" dirty="0">
                <a:latin typeface="Times New Roman" panose="02020603050405020304" pitchFamily="18" charset="0"/>
                <a:cs typeface="Times New Roman" panose="02020603050405020304" pitchFamily="18" charset="0"/>
              </a:rPr>
              <a:t>T- Twitter</a:t>
            </a:r>
          </a:p>
          <a:p>
            <a:pPr algn="just">
              <a:lnSpc>
                <a:spcPct val="100000"/>
              </a:lnSpc>
            </a:pPr>
            <a:r>
              <a:rPr lang="en-US" sz="2200" dirty="0">
                <a:latin typeface="Times New Roman" panose="02020603050405020304" pitchFamily="18" charset="0"/>
                <a:cs typeface="Times New Roman" panose="02020603050405020304" pitchFamily="18" charset="0"/>
              </a:rPr>
              <a:t>F-Facebook</a:t>
            </a:r>
          </a:p>
          <a:p>
            <a:pPr algn="just"/>
            <a:endParaRPr lang="en-US" sz="2400"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268879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68F53DB-4CF6-B3A6-46F4-A4FDD2EE2C3F}"/>
              </a:ext>
            </a:extLst>
          </p:cNvPr>
          <p:cNvSpPr>
            <a:spLocks noGrp="1"/>
          </p:cNvSpPr>
          <p:nvPr>
            <p:ph type="title" idx="4294967295"/>
          </p:nvPr>
        </p:nvSpPr>
        <p:spPr>
          <a:xfrm>
            <a:off x="0" y="98425"/>
            <a:ext cx="10515600" cy="877888"/>
          </a:xfrm>
        </p:spPr>
        <p:txBody>
          <a:bodyPr>
            <a:normAutofit/>
          </a:bodyPr>
          <a:lstStyle/>
          <a:p>
            <a:pPr algn="ctr"/>
            <a:r>
              <a:rPr lang="en-IN" sz="4000" b="1" dirty="0">
                <a:latin typeface="Times New Roman" panose="02020603050405020304" pitchFamily="18" charset="0"/>
                <a:cs typeface="Times New Roman" panose="02020603050405020304" pitchFamily="18" charset="0"/>
              </a:rPr>
              <a:t>MATHEMATICAL MODEL</a:t>
            </a:r>
          </a:p>
        </p:txBody>
      </p:sp>
      <p:sp>
        <p:nvSpPr>
          <p:cNvPr id="3" name="Content Placeholder 2">
            <a:extLst>
              <a:ext uri="{FF2B5EF4-FFF2-40B4-BE49-F238E27FC236}">
                <a16:creationId xmlns:a16="http://schemas.microsoft.com/office/drawing/2014/main" xmlns="" id="{60D1AFCF-B95A-9A0F-D0E5-F7972C78355C}"/>
              </a:ext>
            </a:extLst>
          </p:cNvPr>
          <p:cNvSpPr>
            <a:spLocks noGrp="1"/>
          </p:cNvSpPr>
          <p:nvPr>
            <p:ph idx="4294967295"/>
          </p:nvPr>
        </p:nvSpPr>
        <p:spPr>
          <a:xfrm>
            <a:off x="624841" y="792481"/>
            <a:ext cx="11201399" cy="5874537"/>
          </a:xfrm>
        </p:spPr>
        <p:txBody>
          <a:bodyPr>
            <a:noAutofit/>
          </a:bodyPr>
          <a:lstStyle/>
          <a:p>
            <a:pPr algn="just">
              <a:lnSpc>
                <a:spcPct val="100000"/>
              </a:lnSpc>
              <a:buFont typeface="Wingdings" panose="05000000000000000000" pitchFamily="2" charset="2"/>
              <a:buChar char="Ø"/>
            </a:pPr>
            <a:r>
              <a:rPr lang="en-US" sz="2400" b="1" dirty="0" smtClean="0">
                <a:latin typeface="Times New Roman" panose="02020603050405020304" pitchFamily="18" charset="0"/>
                <a:cs typeface="Times New Roman" panose="02020603050405020304" pitchFamily="18" charset="0"/>
              </a:rPr>
              <a:t>F2</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Sentimeter</a:t>
            </a:r>
            <a:endParaRPr lang="en-US" sz="2400" dirty="0">
              <a:latin typeface="Times New Roman" panose="02020603050405020304" pitchFamily="18" charset="0"/>
              <a:cs typeface="Times New Roman" panose="02020603050405020304" pitchFamily="18" charset="0"/>
            </a:endParaRPr>
          </a:p>
          <a:p>
            <a:pPr>
              <a:lnSpc>
                <a:spcPct val="100000"/>
              </a:lnSpc>
            </a:pPr>
            <a:r>
              <a:rPr lang="en-US" sz="2200" dirty="0" err="1">
                <a:latin typeface="Times New Roman" panose="02020603050405020304" pitchFamily="18" charset="0"/>
                <a:cs typeface="Times New Roman" panose="02020603050405020304" pitchFamily="18" charset="0"/>
              </a:rPr>
              <a:t>S</a:t>
            </a:r>
            <a:r>
              <a:rPr lang="en-US" sz="2200" dirty="0" err="1" smtClean="0">
                <a:latin typeface="Times New Roman" panose="02020603050405020304" pitchFamily="18" charset="0"/>
                <a:cs typeface="Times New Roman" panose="02020603050405020304" pitchFamily="18" charset="0"/>
              </a:rPr>
              <a:t>entimeter</a:t>
            </a:r>
            <a:r>
              <a:rPr lang="en-US" sz="2200" dirty="0" smtClean="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detects stress by analyzing sentiment in Facebook posts and interactions using NLP and ML </a:t>
            </a:r>
            <a:r>
              <a:rPr lang="en-US" sz="2200" dirty="0" smtClean="0">
                <a:latin typeface="Times New Roman" panose="02020603050405020304" pitchFamily="18" charset="0"/>
                <a:cs typeface="Times New Roman" panose="02020603050405020304" pitchFamily="18" charset="0"/>
              </a:rPr>
              <a:t>techniques.</a:t>
            </a:r>
            <a:endParaRPr lang="en-US" sz="2200" dirty="0">
              <a:latin typeface="Times New Roman" panose="02020603050405020304" pitchFamily="18" charset="0"/>
              <a:cs typeface="Times New Roman" panose="02020603050405020304" pitchFamily="18" charset="0"/>
            </a:endParaRPr>
          </a:p>
          <a:p>
            <a:pPr>
              <a:lnSpc>
                <a:spcPct val="100000"/>
              </a:lnSpc>
            </a:pPr>
            <a:r>
              <a:rPr lang="en-US" sz="2200" dirty="0" smtClean="0">
                <a:latin typeface="Times New Roman" panose="02020603050405020304" pitchFamily="18" charset="0"/>
                <a:cs typeface="Times New Roman" panose="02020603050405020304" pitchFamily="18" charset="0"/>
              </a:rPr>
              <a:t>Sentiment</a:t>
            </a:r>
            <a:r>
              <a:rPr lang="en-US" sz="2200" dirty="0">
                <a:latin typeface="Times New Roman" panose="02020603050405020304" pitchFamily="18" charset="0"/>
                <a:cs typeface="Times New Roman" panose="02020603050405020304" pitchFamily="18" charset="0"/>
              </a:rPr>
              <a:t> </a:t>
            </a:r>
            <a:r>
              <a:rPr lang="en-US" sz="2200" dirty="0" smtClean="0">
                <a:latin typeface="Times New Roman" panose="02020603050405020304" pitchFamily="18" charset="0"/>
                <a:cs typeface="Times New Roman" panose="02020603050405020304" pitchFamily="18" charset="0"/>
              </a:rPr>
              <a:t>Intensity (</a:t>
            </a:r>
            <a:r>
              <a:rPr lang="en-US" sz="2200" i="1" dirty="0">
                <a:latin typeface="Times New Roman" panose="02020603050405020304" pitchFamily="18" charset="0"/>
                <a:cs typeface="Times New Roman" panose="02020603050405020304" pitchFamily="18" charset="0"/>
              </a:rPr>
              <a:t>S</a:t>
            </a:r>
            <a:r>
              <a:rPr lang="en-US" sz="2200" dirty="0">
                <a:latin typeface="Times New Roman" panose="02020603050405020304" pitchFamily="18" charset="0"/>
                <a:cs typeface="Times New Roman" panose="02020603050405020304" pitchFamily="18" charset="0"/>
              </a:rPr>
              <a:t>)=∑</a:t>
            </a:r>
            <a:r>
              <a:rPr lang="en-US" sz="2200" i="1" dirty="0" err="1">
                <a:latin typeface="Times New Roman" panose="02020603050405020304" pitchFamily="18" charset="0"/>
                <a:cs typeface="Times New Roman" panose="02020603050405020304" pitchFamily="18" charset="0"/>
              </a:rPr>
              <a:t>i</a:t>
            </a:r>
            <a:r>
              <a:rPr lang="en-US" sz="2200" dirty="0">
                <a:latin typeface="Times New Roman" panose="02020603050405020304" pitchFamily="18" charset="0"/>
                <a:cs typeface="Times New Roman" panose="02020603050405020304" pitchFamily="18" charset="0"/>
              </a:rPr>
              <a:t>=1</a:t>
            </a:r>
            <a:r>
              <a:rPr lang="en-US" sz="2200" i="1" dirty="0">
                <a:latin typeface="Times New Roman" panose="02020603050405020304" pitchFamily="18" charset="0"/>
                <a:cs typeface="Times New Roman" panose="02020603050405020304" pitchFamily="18" charset="0"/>
              </a:rPr>
              <a:t>p</a:t>
            </a:r>
            <a:r>
              <a:rPr lang="en-US" sz="2200" dirty="0">
                <a:latin typeface="Times New Roman" panose="02020603050405020304" pitchFamily="18" charset="0"/>
                <a:cs typeface="Times New Roman" panose="02020603050405020304" pitchFamily="18" charset="0"/>
              </a:rPr>
              <a:t>​</a:t>
            </a:r>
            <a:r>
              <a:rPr lang="en-US" sz="2200" i="1" dirty="0" err="1">
                <a:latin typeface="Times New Roman" panose="02020603050405020304" pitchFamily="18" charset="0"/>
                <a:cs typeface="Times New Roman" panose="02020603050405020304" pitchFamily="18" charset="0"/>
              </a:rPr>
              <a:t>SUi</a:t>
            </a:r>
            <a:r>
              <a:rPr lang="en-US" sz="2200" dirty="0">
                <a:latin typeface="Times New Roman" panose="02020603050405020304" pitchFamily="18" charset="0"/>
                <a:cs typeface="Times New Roman" panose="02020603050405020304" pitchFamily="18" charset="0"/>
              </a:rPr>
              <a:t>​+∑</a:t>
            </a:r>
            <a:r>
              <a:rPr lang="en-US" sz="2200" i="1" dirty="0">
                <a:latin typeface="Times New Roman" panose="02020603050405020304" pitchFamily="18" charset="0"/>
                <a:cs typeface="Times New Roman" panose="02020603050405020304" pitchFamily="18" charset="0"/>
              </a:rPr>
              <a:t>j</a:t>
            </a:r>
            <a:r>
              <a:rPr lang="en-US" sz="2200" dirty="0">
                <a:latin typeface="Times New Roman" panose="02020603050405020304" pitchFamily="18" charset="0"/>
                <a:cs typeface="Times New Roman" panose="02020603050405020304" pitchFamily="18" charset="0"/>
              </a:rPr>
              <a:t>=1</a:t>
            </a:r>
            <a:r>
              <a:rPr lang="en-US" sz="2200" i="1" dirty="0">
                <a:latin typeface="Times New Roman" panose="02020603050405020304" pitchFamily="18" charset="0"/>
                <a:cs typeface="Times New Roman" panose="02020603050405020304" pitchFamily="18" charset="0"/>
              </a:rPr>
              <a:t>q</a:t>
            </a:r>
            <a:r>
              <a:rPr lang="en-US" sz="2200" dirty="0">
                <a:latin typeface="Times New Roman" panose="02020603050405020304" pitchFamily="18" charset="0"/>
                <a:cs typeface="Times New Roman" panose="02020603050405020304" pitchFamily="18" charset="0"/>
              </a:rPr>
              <a:t>​</a:t>
            </a:r>
            <a:r>
              <a:rPr lang="en-US" sz="2200" i="1" dirty="0" err="1">
                <a:latin typeface="Times New Roman" panose="02020603050405020304" pitchFamily="18" charset="0"/>
                <a:cs typeface="Times New Roman" panose="02020603050405020304" pitchFamily="18" charset="0"/>
              </a:rPr>
              <a:t>SBj</a:t>
            </a:r>
            <a:r>
              <a:rPr lang="en-US" sz="2200" dirty="0">
                <a:latin typeface="Times New Roman" panose="02020603050405020304" pitchFamily="18" charset="0"/>
                <a:cs typeface="Times New Roman" panose="02020603050405020304" pitchFamily="18" charset="0"/>
              </a:rPr>
              <a:t>​+∑</a:t>
            </a:r>
            <a:r>
              <a:rPr lang="en-US" sz="2200" i="1" dirty="0">
                <a:latin typeface="Times New Roman" panose="02020603050405020304" pitchFamily="18" charset="0"/>
                <a:cs typeface="Times New Roman" panose="02020603050405020304" pitchFamily="18" charset="0"/>
              </a:rPr>
              <a:t>k</a:t>
            </a:r>
            <a:r>
              <a:rPr lang="en-US" sz="2200" dirty="0">
                <a:latin typeface="Times New Roman" panose="02020603050405020304" pitchFamily="18" charset="0"/>
                <a:cs typeface="Times New Roman" panose="02020603050405020304" pitchFamily="18" charset="0"/>
              </a:rPr>
              <a:t>=1</a:t>
            </a:r>
            <a:r>
              <a:rPr lang="en-US" sz="2200" i="1" dirty="0">
                <a:latin typeface="Times New Roman" panose="02020603050405020304" pitchFamily="18" charset="0"/>
                <a:cs typeface="Times New Roman" panose="02020603050405020304" pitchFamily="18" charset="0"/>
              </a:rPr>
              <a:t>r</a:t>
            </a:r>
            <a:r>
              <a:rPr lang="en-US" sz="2200" dirty="0">
                <a:latin typeface="Times New Roman" panose="02020603050405020304" pitchFamily="18" charset="0"/>
                <a:cs typeface="Times New Roman" panose="02020603050405020304" pitchFamily="18" charset="0"/>
              </a:rPr>
              <a:t>​</a:t>
            </a:r>
            <a:r>
              <a:rPr lang="en-US" sz="2200" i="1" dirty="0" err="1" smtClean="0">
                <a:latin typeface="Times New Roman" panose="02020603050405020304" pitchFamily="18" charset="0"/>
                <a:cs typeface="Times New Roman" panose="02020603050405020304" pitchFamily="18" charset="0"/>
              </a:rPr>
              <a:t>STk</a:t>
            </a:r>
            <a:endParaRPr lang="en-US" sz="2200" dirty="0" smtClean="0">
              <a:latin typeface="Times New Roman" panose="02020603050405020304" pitchFamily="18" charset="0"/>
              <a:cs typeface="Times New Roman" panose="02020603050405020304" pitchFamily="18" charset="0"/>
            </a:endParaRPr>
          </a:p>
          <a:p>
            <a:pPr>
              <a:lnSpc>
                <a:spcPct val="100000"/>
              </a:lnSpc>
              <a:buFont typeface="Wingdings" panose="05000000000000000000" pitchFamily="2" charset="2"/>
              <a:buChar char="Ø"/>
            </a:pPr>
            <a:r>
              <a:rPr lang="en-US" sz="2400" b="1" dirty="0" smtClean="0">
                <a:latin typeface="Times New Roman" panose="02020603050405020304" pitchFamily="18" charset="0"/>
                <a:cs typeface="Times New Roman" panose="02020603050405020304" pitchFamily="18" charset="0"/>
              </a:rPr>
              <a:t>F3</a:t>
            </a:r>
            <a:r>
              <a:rPr lang="en-US" sz="2400" b="1" dirty="0">
                <a:latin typeface="Times New Roman" panose="02020603050405020304" pitchFamily="18" charset="0"/>
                <a:cs typeface="Times New Roman" panose="02020603050405020304" pitchFamily="18" charset="0"/>
              </a:rPr>
              <a:t>: Sentiment Analysis</a:t>
            </a:r>
            <a:endParaRPr lang="en-US" sz="2400" dirty="0">
              <a:latin typeface="Times New Roman" panose="02020603050405020304" pitchFamily="18" charset="0"/>
              <a:cs typeface="Times New Roman" panose="02020603050405020304" pitchFamily="18" charset="0"/>
            </a:endParaRPr>
          </a:p>
          <a:p>
            <a:pPr marL="0" indent="0">
              <a:lnSpc>
                <a:spcPct val="100000"/>
              </a:lnSpc>
              <a:buNone/>
            </a:pPr>
            <a:r>
              <a:rPr lang="en-US" sz="2200" dirty="0">
                <a:latin typeface="Times New Roman" panose="02020603050405020304" pitchFamily="18" charset="0"/>
                <a:cs typeface="Times New Roman" panose="02020603050405020304" pitchFamily="18" charset="0"/>
              </a:rPr>
              <a:t> Where,</a:t>
            </a:r>
          </a:p>
          <a:p>
            <a:pPr>
              <a:lnSpc>
                <a:spcPct val="100000"/>
              </a:lnSpc>
            </a:pPr>
            <a:r>
              <a:rPr lang="en-US" sz="2200" dirty="0">
                <a:latin typeface="Times New Roman" panose="02020603050405020304" pitchFamily="18" charset="0"/>
                <a:cs typeface="Times New Roman" panose="02020603050405020304" pitchFamily="18" charset="0"/>
              </a:rPr>
              <a:t>W – Words</a:t>
            </a:r>
          </a:p>
          <a:p>
            <a:pPr>
              <a:lnSpc>
                <a:spcPct val="100000"/>
              </a:lnSpc>
            </a:pPr>
            <a:r>
              <a:rPr lang="en-US" sz="2200" dirty="0">
                <a:latin typeface="Times New Roman" panose="02020603050405020304" pitchFamily="18" charset="0"/>
                <a:cs typeface="Times New Roman" panose="02020603050405020304" pitchFamily="18" charset="0"/>
              </a:rPr>
              <a:t>N – Naïve Bayes</a:t>
            </a:r>
          </a:p>
          <a:p>
            <a:pPr>
              <a:lnSpc>
                <a:spcPct val="100000"/>
              </a:lnSpc>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F4: Classification</a:t>
            </a:r>
            <a:endParaRPr lang="en-US" sz="2400" dirty="0">
              <a:latin typeface="Times New Roman" panose="02020603050405020304" pitchFamily="18" charset="0"/>
              <a:cs typeface="Times New Roman" panose="02020603050405020304" pitchFamily="18" charset="0"/>
            </a:endParaRPr>
          </a:p>
          <a:p>
            <a:pPr marL="0" indent="0">
              <a:lnSpc>
                <a:spcPct val="100000"/>
              </a:lnSpc>
              <a:buNone/>
            </a:pPr>
            <a:r>
              <a:rPr lang="en-US" sz="2200" dirty="0">
                <a:latin typeface="Times New Roman" panose="02020603050405020304" pitchFamily="18" charset="0"/>
                <a:cs typeface="Times New Roman" panose="02020603050405020304" pitchFamily="18" charset="0"/>
              </a:rPr>
              <a:t> Where,</a:t>
            </a:r>
          </a:p>
          <a:p>
            <a:pPr>
              <a:lnSpc>
                <a:spcPct val="100000"/>
              </a:lnSpc>
            </a:pPr>
            <a:r>
              <a:rPr lang="en-US" sz="2200" dirty="0">
                <a:latin typeface="Times New Roman" panose="02020603050405020304" pitchFamily="18" charset="0"/>
                <a:cs typeface="Times New Roman" panose="02020603050405020304" pitchFamily="18" charset="0"/>
              </a:rPr>
              <a:t>W – Words</a:t>
            </a:r>
          </a:p>
          <a:p>
            <a:pPr>
              <a:lnSpc>
                <a:spcPct val="100000"/>
              </a:lnSpc>
            </a:pPr>
            <a:r>
              <a:rPr lang="en-US" sz="2200" dirty="0" smtClean="0">
                <a:latin typeface="Times New Roman" panose="02020603050405020304" pitchFamily="18" charset="0"/>
                <a:cs typeface="Times New Roman" panose="02020603050405020304" pitchFamily="18" charset="0"/>
              </a:rPr>
              <a:t>RNN</a:t>
            </a:r>
            <a:r>
              <a:rPr lang="en-US" sz="2200" dirty="0" smtClean="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 Recurrent Neural </a:t>
            </a:r>
            <a:r>
              <a:rPr lang="en-US" sz="2200" dirty="0" smtClean="0">
                <a:latin typeface="Times New Roman" panose="02020603050405020304" pitchFamily="18" charset="0"/>
                <a:cs typeface="Times New Roman" panose="02020603050405020304" pitchFamily="18" charset="0"/>
              </a:rPr>
              <a:t>Network</a:t>
            </a:r>
            <a:r>
              <a:rPr lang="en-US" sz="2200" dirty="0">
                <a:latin typeface="Times New Roman" panose="02020603050405020304" pitchFamily="18" charset="0"/>
                <a:cs typeface="Times New Roman" panose="02020603050405020304" pitchFamily="18" charset="0"/>
              </a:rPr>
              <a:t> </a:t>
            </a:r>
          </a:p>
          <a:p>
            <a:pPr>
              <a:lnSpc>
                <a:spcPct val="100000"/>
              </a:lnSpc>
            </a:pPr>
            <a:r>
              <a:rPr lang="en-US" sz="2200" dirty="0">
                <a:latin typeface="Times New Roman" panose="02020603050405020304" pitchFamily="18" charset="0"/>
                <a:cs typeface="Times New Roman" panose="02020603050405020304" pitchFamily="18" charset="0"/>
              </a:rPr>
              <a:t>O=Find Disorder (i.e. Positive comments, Negative comments, Stressed user, Depressed user)</a:t>
            </a:r>
          </a:p>
          <a:p>
            <a:pPr algn="just"/>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563736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A84D1EA-F884-389B-F3CB-14B4895424DD}"/>
              </a:ext>
            </a:extLst>
          </p:cNvPr>
          <p:cNvSpPr>
            <a:spLocks noGrp="1"/>
          </p:cNvSpPr>
          <p:nvPr>
            <p:ph type="title"/>
          </p:nvPr>
        </p:nvSpPr>
        <p:spPr>
          <a:xfrm>
            <a:off x="838200" y="107879"/>
            <a:ext cx="10515600" cy="816403"/>
          </a:xfrm>
        </p:spPr>
        <p:txBody>
          <a:bodyPr>
            <a:normAutofit/>
          </a:bodyPr>
          <a:lstStyle/>
          <a:p>
            <a:pPr algn="ctr"/>
            <a:r>
              <a:rPr lang="en-IN" sz="4000" b="1" dirty="0">
                <a:latin typeface="Times New Roman" panose="02020603050405020304" pitchFamily="18" charset="0"/>
                <a:cs typeface="Times New Roman" panose="02020603050405020304" pitchFamily="18" charset="0"/>
              </a:rPr>
              <a:t>SDLC MODEL</a:t>
            </a:r>
          </a:p>
        </p:txBody>
      </p:sp>
      <p:sp>
        <p:nvSpPr>
          <p:cNvPr id="3" name="Content Placeholder 2">
            <a:extLst>
              <a:ext uri="{FF2B5EF4-FFF2-40B4-BE49-F238E27FC236}">
                <a16:creationId xmlns:a16="http://schemas.microsoft.com/office/drawing/2014/main" xmlns="" id="{16543D3F-2738-34ED-1C3F-401EAF1B0D21}"/>
              </a:ext>
            </a:extLst>
          </p:cNvPr>
          <p:cNvSpPr>
            <a:spLocks noGrp="1"/>
          </p:cNvSpPr>
          <p:nvPr>
            <p:ph idx="1"/>
          </p:nvPr>
        </p:nvSpPr>
        <p:spPr>
          <a:xfrm>
            <a:off x="126715" y="1447997"/>
            <a:ext cx="5969284" cy="5195055"/>
          </a:xfrm>
        </p:spPr>
        <p:txBody>
          <a:bodyPr>
            <a:noAutofit/>
          </a:bodyPr>
          <a:lstStyle/>
          <a:p>
            <a:pPr marL="0" indent="0">
              <a:buNone/>
            </a:pPr>
            <a:r>
              <a:rPr lang="en-US" sz="2000" dirty="0">
                <a:latin typeface="Times New Roman" panose="02020603050405020304" pitchFamily="18" charset="0"/>
                <a:cs typeface="Times New Roman" panose="02020603050405020304" pitchFamily="18" charset="0"/>
              </a:rPr>
              <a:t>1. Requirements Analysis</a:t>
            </a:r>
          </a:p>
          <a:p>
            <a:pPr marL="0" indent="0">
              <a:buNone/>
            </a:pPr>
            <a:r>
              <a:rPr lang="en-US" sz="2000" dirty="0">
                <a:latin typeface="Times New Roman" panose="02020603050405020304" pitchFamily="18" charset="0"/>
                <a:cs typeface="Times New Roman" panose="02020603050405020304" pitchFamily="18" charset="0"/>
              </a:rPr>
              <a:t> - Review user feedback and performance metrics</a:t>
            </a:r>
          </a:p>
          <a:p>
            <a:pPr marL="0" indent="0">
              <a:buNone/>
            </a:pPr>
            <a:r>
              <a:rPr lang="en-US" sz="2000" dirty="0">
                <a:latin typeface="Times New Roman" panose="02020603050405020304" pitchFamily="18" charset="0"/>
                <a:cs typeface="Times New Roman" panose="02020603050405020304" pitchFamily="18" charset="0"/>
              </a:rPr>
              <a:t> - Define requirements for potential improvements</a:t>
            </a:r>
          </a:p>
          <a:p>
            <a:pPr marL="0" indent="0">
              <a:buNone/>
            </a:pPr>
            <a:endParaRPr lang="en-US" sz="2000" dirty="0">
              <a:latin typeface="Times New Roman" panose="02020603050405020304" pitchFamily="18" charset="0"/>
              <a:cs typeface="Times New Roman" panose="02020603050405020304" pitchFamily="18" charset="0"/>
            </a:endParaRPr>
          </a:p>
          <a:p>
            <a:pPr marL="0" indent="0">
              <a:buNone/>
            </a:pPr>
            <a:r>
              <a:rPr lang="en-US" sz="2000" dirty="0">
                <a:latin typeface="Times New Roman" panose="02020603050405020304" pitchFamily="18" charset="0"/>
                <a:cs typeface="Times New Roman" panose="02020603050405020304" pitchFamily="18" charset="0"/>
              </a:rPr>
              <a:t>2. System Design</a:t>
            </a:r>
          </a:p>
          <a:p>
            <a:pPr marL="0" indent="0">
              <a:buNone/>
            </a:pPr>
            <a:r>
              <a:rPr lang="en-US" sz="2000" dirty="0">
                <a:latin typeface="Times New Roman" panose="02020603050405020304" pitchFamily="18" charset="0"/>
                <a:cs typeface="Times New Roman" panose="02020603050405020304" pitchFamily="18" charset="0"/>
              </a:rPr>
              <a:t> - Update system architecture for integrating new </a:t>
            </a:r>
            <a:r>
              <a:rPr lang="en-US" sz="2000" dirty="0" smtClean="0">
                <a:latin typeface="Times New Roman" panose="02020603050405020304" pitchFamily="18" charset="0"/>
                <a:cs typeface="Times New Roman" panose="02020603050405020304" pitchFamily="18" charset="0"/>
              </a:rPr>
              <a:t>features</a:t>
            </a:r>
            <a:r>
              <a:rPr lang="en-US" sz="2000" dirty="0">
                <a:latin typeface="Times New Roman" panose="02020603050405020304" pitchFamily="18" charset="0"/>
                <a:cs typeface="Times New Roman" panose="02020603050405020304" pitchFamily="18" charset="0"/>
              </a:rPr>
              <a:t>.</a:t>
            </a:r>
            <a:endParaRPr lang="en-US" sz="2000" dirty="0" smtClean="0">
              <a:latin typeface="Times New Roman" panose="02020603050405020304" pitchFamily="18" charset="0"/>
              <a:cs typeface="Times New Roman" panose="02020603050405020304" pitchFamily="18" charset="0"/>
            </a:endParaRPr>
          </a:p>
          <a:p>
            <a:pPr marL="0" indent="0">
              <a:buNone/>
            </a:pPr>
            <a:r>
              <a:rPr lang="en-US" sz="2000" dirty="0" smtClean="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Plan UI/UX enhancements based on feedback</a:t>
            </a:r>
          </a:p>
          <a:p>
            <a:pPr marL="0" indent="0">
              <a:buNone/>
            </a:pPr>
            <a:endParaRPr lang="en-US" sz="2000" dirty="0">
              <a:latin typeface="Times New Roman" panose="02020603050405020304" pitchFamily="18" charset="0"/>
              <a:cs typeface="Times New Roman" panose="02020603050405020304" pitchFamily="18" charset="0"/>
            </a:endParaRPr>
          </a:p>
          <a:p>
            <a:pPr marL="0" indent="0">
              <a:buNone/>
            </a:pPr>
            <a:r>
              <a:rPr lang="en-US" sz="2000" dirty="0">
                <a:latin typeface="Times New Roman" panose="02020603050405020304" pitchFamily="18" charset="0"/>
                <a:cs typeface="Times New Roman" panose="02020603050405020304" pitchFamily="18" charset="0"/>
              </a:rPr>
              <a:t>3. Implementation</a:t>
            </a:r>
          </a:p>
          <a:p>
            <a:pPr marL="0" indent="0">
              <a:buNone/>
            </a:pPr>
            <a:r>
              <a:rPr lang="en-US" sz="2000" dirty="0">
                <a:latin typeface="Times New Roman" panose="02020603050405020304" pitchFamily="18" charset="0"/>
                <a:cs typeface="Times New Roman" panose="02020603050405020304" pitchFamily="18" charset="0"/>
              </a:rPr>
              <a:t>- Expand the dataset to include more diverse and comprehensive social media data.</a:t>
            </a:r>
          </a:p>
          <a:p>
            <a:pPr marL="0" indent="0">
              <a:buNone/>
            </a:pPr>
            <a:r>
              <a:rPr lang="en-US" sz="2000" dirty="0" smtClean="0">
                <a:latin typeface="Times New Roman" panose="02020603050405020304" pitchFamily="18" charset="0"/>
                <a:cs typeface="Times New Roman" panose="02020603050405020304" pitchFamily="18" charset="0"/>
              </a:rPr>
              <a:t>- Implement </a:t>
            </a:r>
            <a:r>
              <a:rPr lang="en-US" sz="2000" dirty="0">
                <a:latin typeface="Times New Roman" panose="02020603050405020304" pitchFamily="18" charset="0"/>
                <a:cs typeface="Times New Roman" panose="02020603050405020304" pitchFamily="18" charset="0"/>
              </a:rPr>
              <a:t>sentiment </a:t>
            </a:r>
            <a:r>
              <a:rPr lang="en-US" sz="2000" dirty="0" smtClean="0">
                <a:latin typeface="Times New Roman" panose="02020603050405020304" pitchFamily="18" charset="0"/>
                <a:cs typeface="Times New Roman" panose="02020603050405020304" pitchFamily="18" charset="0"/>
              </a:rPr>
              <a:t>analysis techniques </a:t>
            </a:r>
            <a:r>
              <a:rPr lang="en-US" sz="2000" dirty="0">
                <a:latin typeface="Times New Roman" panose="02020603050405020304" pitchFamily="18" charset="0"/>
                <a:cs typeface="Times New Roman" panose="02020603050405020304" pitchFamily="18" charset="0"/>
              </a:rPr>
              <a:t>and keyword search capabilities</a:t>
            </a:r>
          </a:p>
          <a:p>
            <a:pPr marL="0" indent="0">
              <a:buNone/>
            </a:pPr>
            <a:endParaRPr lang="en-US" sz="2400" dirty="0"/>
          </a:p>
        </p:txBody>
      </p:sp>
      <p:sp>
        <p:nvSpPr>
          <p:cNvPr id="4" name="TextBox 3">
            <a:extLst>
              <a:ext uri="{FF2B5EF4-FFF2-40B4-BE49-F238E27FC236}">
                <a16:creationId xmlns:a16="http://schemas.microsoft.com/office/drawing/2014/main" xmlns="" id="{98013D3E-00ED-679E-1117-C075437CD3BE}"/>
              </a:ext>
            </a:extLst>
          </p:cNvPr>
          <p:cNvSpPr txBox="1"/>
          <p:nvPr/>
        </p:nvSpPr>
        <p:spPr>
          <a:xfrm>
            <a:off x="6095999" y="1447997"/>
            <a:ext cx="5873393" cy="5632311"/>
          </a:xfrm>
          <a:prstGeom prst="rect">
            <a:avLst/>
          </a:prstGeom>
          <a:noFill/>
        </p:spPr>
        <p:txBody>
          <a:bodyPr wrap="square" rtlCol="0">
            <a:spAutoFit/>
          </a:bodyPr>
          <a:lstStyle/>
          <a:p>
            <a:pPr marL="0" indent="0">
              <a:buNone/>
            </a:pPr>
            <a:r>
              <a:rPr lang="en-US" sz="2000" dirty="0">
                <a:latin typeface="Times New Roman" panose="02020603050405020304" pitchFamily="18" charset="0"/>
                <a:cs typeface="Times New Roman" panose="02020603050405020304" pitchFamily="18" charset="0"/>
              </a:rPr>
              <a:t>4. Integration and Testing</a:t>
            </a:r>
          </a:p>
          <a:p>
            <a:pPr marL="0" indent="0">
              <a:buNone/>
            </a:pPr>
            <a:r>
              <a:rPr lang="en-US" sz="2000" dirty="0">
                <a:latin typeface="Times New Roman" panose="02020603050405020304" pitchFamily="18" charset="0"/>
                <a:cs typeface="Times New Roman" panose="02020603050405020304" pitchFamily="18" charset="0"/>
              </a:rPr>
              <a:t> - Perform comprehensive testing on new features</a:t>
            </a:r>
          </a:p>
          <a:p>
            <a:pPr marL="0" indent="0">
              <a:buNone/>
            </a:pPr>
            <a:r>
              <a:rPr lang="en-US" sz="2000" dirty="0">
                <a:latin typeface="Times New Roman" panose="02020603050405020304" pitchFamily="18" charset="0"/>
                <a:cs typeface="Times New Roman" panose="02020603050405020304" pitchFamily="18" charset="0"/>
              </a:rPr>
              <a:t> - Conduct regression testing to ensure existing functionalities remain stable</a:t>
            </a:r>
          </a:p>
          <a:p>
            <a:pPr marL="0" indent="0">
              <a:buNone/>
            </a:pPr>
            <a:endParaRPr lang="en-US" sz="2000" dirty="0">
              <a:latin typeface="Times New Roman" panose="02020603050405020304" pitchFamily="18" charset="0"/>
              <a:cs typeface="Times New Roman" panose="02020603050405020304" pitchFamily="18" charset="0"/>
            </a:endParaRPr>
          </a:p>
          <a:p>
            <a:pPr marL="0" indent="0">
              <a:buNone/>
            </a:pPr>
            <a:r>
              <a:rPr lang="en-US" sz="2000" dirty="0">
                <a:latin typeface="Times New Roman" panose="02020603050405020304" pitchFamily="18" charset="0"/>
                <a:cs typeface="Times New Roman" panose="02020603050405020304" pitchFamily="18" charset="0"/>
              </a:rPr>
              <a:t>5. Deployment</a:t>
            </a:r>
          </a:p>
          <a:p>
            <a:pPr marL="0" indent="0">
              <a:buNone/>
            </a:pPr>
            <a:r>
              <a:rPr lang="en-US" sz="2000" dirty="0">
                <a:latin typeface="Times New Roman" panose="02020603050405020304" pitchFamily="18" charset="0"/>
                <a:cs typeface="Times New Roman" panose="02020603050405020304" pitchFamily="18" charset="0"/>
              </a:rPr>
              <a:t> - Deploy updates and enhancements to the production environment</a:t>
            </a:r>
          </a:p>
          <a:p>
            <a:r>
              <a:rPr lang="en-US" sz="2000" dirty="0" smtClean="0">
                <a:latin typeface="Times New Roman" panose="02020603050405020304" pitchFamily="18" charset="0"/>
                <a:cs typeface="Times New Roman" panose="02020603050405020304" pitchFamily="18" charset="0"/>
              </a:rPr>
              <a:t> - Monitor the </a:t>
            </a:r>
            <a:r>
              <a:rPr lang="en-US" sz="2000" dirty="0">
                <a:latin typeface="Times New Roman" panose="02020603050405020304" pitchFamily="18" charset="0"/>
                <a:cs typeface="Times New Roman" panose="02020603050405020304" pitchFamily="18" charset="0"/>
              </a:rPr>
              <a:t>deployment for any issues and gather user feedback to ensure the changes meet user needs</a:t>
            </a:r>
            <a:r>
              <a:rPr lang="en-US" sz="2000" dirty="0" smtClean="0">
                <a:latin typeface="Times New Roman" panose="02020603050405020304" pitchFamily="18" charset="0"/>
                <a:cs typeface="Times New Roman" panose="02020603050405020304" pitchFamily="18" charset="0"/>
              </a:rPr>
              <a:t>.</a:t>
            </a:r>
          </a:p>
          <a:p>
            <a:pPr marL="0" indent="0">
              <a:buNone/>
            </a:pPr>
            <a:endParaRPr lang="en-US" sz="2000" dirty="0" smtClean="0">
              <a:latin typeface="Times New Roman" panose="02020603050405020304" pitchFamily="18" charset="0"/>
              <a:cs typeface="Times New Roman" panose="02020603050405020304" pitchFamily="18" charset="0"/>
            </a:endParaRPr>
          </a:p>
          <a:p>
            <a:pPr marL="0" indent="0">
              <a:buNone/>
            </a:pPr>
            <a:r>
              <a:rPr lang="en-US" sz="2000" dirty="0" smtClean="0">
                <a:latin typeface="Times New Roman" panose="02020603050405020304" pitchFamily="18" charset="0"/>
                <a:cs typeface="Times New Roman" panose="02020603050405020304" pitchFamily="18" charset="0"/>
              </a:rPr>
              <a:t>6</a:t>
            </a:r>
            <a:r>
              <a:rPr lang="en-US" sz="2000" dirty="0">
                <a:latin typeface="Times New Roman" panose="02020603050405020304" pitchFamily="18" charset="0"/>
                <a:cs typeface="Times New Roman" panose="02020603050405020304" pitchFamily="18" charset="0"/>
              </a:rPr>
              <a:t>. Maintenance</a:t>
            </a:r>
          </a:p>
          <a:p>
            <a:pPr marL="0" indent="0">
              <a:buNone/>
            </a:pPr>
            <a:r>
              <a:rPr lang="en-US" sz="2000" dirty="0">
                <a:latin typeface="Times New Roman" panose="02020603050405020304" pitchFamily="18" charset="0"/>
                <a:cs typeface="Times New Roman" panose="02020603050405020304" pitchFamily="18" charset="0"/>
              </a:rPr>
              <a:t> - Regularly monitor system performance and user satisfaction</a:t>
            </a:r>
          </a:p>
          <a:p>
            <a:r>
              <a:rPr lang="en-US" sz="2000" dirty="0">
                <a:latin typeface="Times New Roman" panose="02020603050405020304" pitchFamily="18" charset="0"/>
                <a:cs typeface="Times New Roman" panose="02020603050405020304" pitchFamily="18" charset="0"/>
              </a:rPr>
              <a:t> - </a:t>
            </a:r>
            <a:r>
              <a:rPr lang="en-US" sz="2000" dirty="0" smtClean="0">
                <a:latin typeface="Times New Roman" panose="02020603050405020304" pitchFamily="18" charset="0"/>
                <a:cs typeface="Times New Roman" panose="02020603050405020304" pitchFamily="18" charset="0"/>
              </a:rPr>
              <a:t>Continuously </a:t>
            </a:r>
            <a:r>
              <a:rPr lang="en-US" sz="2000" dirty="0">
                <a:latin typeface="Times New Roman" panose="02020603050405020304" pitchFamily="18" charset="0"/>
                <a:cs typeface="Times New Roman" panose="02020603050405020304" pitchFamily="18" charset="0"/>
              </a:rPr>
              <a:t>update and refine the datasets, algorithms, and features based on user feedback and performance metrics.</a:t>
            </a:r>
          </a:p>
          <a:p>
            <a:pPr marL="0" indent="0">
              <a:buNone/>
            </a:pPr>
            <a:endParaRPr lang="en-US" dirty="0"/>
          </a:p>
        </p:txBody>
      </p:sp>
      <p:sp>
        <p:nvSpPr>
          <p:cNvPr id="5" name="TextBox 4">
            <a:extLst>
              <a:ext uri="{FF2B5EF4-FFF2-40B4-BE49-F238E27FC236}">
                <a16:creationId xmlns:a16="http://schemas.microsoft.com/office/drawing/2014/main" xmlns="" id="{F78FB71E-989C-F027-41EF-0EA133A6E688}"/>
              </a:ext>
            </a:extLst>
          </p:cNvPr>
          <p:cNvSpPr txBox="1"/>
          <p:nvPr/>
        </p:nvSpPr>
        <p:spPr>
          <a:xfrm>
            <a:off x="2904161" y="909119"/>
            <a:ext cx="6383677" cy="461665"/>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Waterfall Model for </a:t>
            </a:r>
            <a:r>
              <a:rPr lang="en-US" sz="2400" dirty="0" smtClean="0">
                <a:latin typeface="Times New Roman" panose="02020603050405020304" pitchFamily="18" charset="0"/>
                <a:cs typeface="Times New Roman" panose="02020603050405020304" pitchFamily="18" charset="0"/>
              </a:rPr>
              <a:t>SDD ML </a:t>
            </a:r>
            <a:r>
              <a:rPr lang="en-US" sz="2400" dirty="0">
                <a:latin typeface="Times New Roman" panose="02020603050405020304" pitchFamily="18" charset="0"/>
                <a:cs typeface="Times New Roman" panose="02020603050405020304" pitchFamily="18" charset="0"/>
              </a:rPr>
              <a:t>(Post-Completion</a:t>
            </a:r>
            <a:r>
              <a:rPr lang="en-US" sz="2400" dirty="0" smtClean="0">
                <a:latin typeface="Times New Roman" panose="02020603050405020304" pitchFamily="18" charset="0"/>
                <a:cs typeface="Times New Roman" panose="02020603050405020304" pitchFamily="18" charset="0"/>
              </a:rPr>
              <a:t>)</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482232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E80E3F3-5328-7E77-3F3B-78F8C7566599}"/>
              </a:ext>
            </a:extLst>
          </p:cNvPr>
          <p:cNvSpPr>
            <a:spLocks noGrp="1"/>
          </p:cNvSpPr>
          <p:nvPr>
            <p:ph type="title"/>
          </p:nvPr>
        </p:nvSpPr>
        <p:spPr>
          <a:xfrm>
            <a:off x="792480" y="0"/>
            <a:ext cx="10515600" cy="1325563"/>
          </a:xfrm>
        </p:spPr>
        <p:txBody>
          <a:bodyPr>
            <a:normAutofit/>
          </a:bodyPr>
          <a:lstStyle/>
          <a:p>
            <a:pPr algn="ctr"/>
            <a:r>
              <a:rPr lang="en-IN" sz="4000" b="1" dirty="0">
                <a:latin typeface="Times New Roman" panose="02020603050405020304" pitchFamily="18" charset="0"/>
                <a:cs typeface="Times New Roman" panose="02020603050405020304" pitchFamily="18" charset="0"/>
              </a:rPr>
              <a:t>COMPONENT DIAGRAM</a:t>
            </a:r>
          </a:p>
        </p:txBody>
      </p:sp>
      <p:pic>
        <p:nvPicPr>
          <p:cNvPr id="4" name="Content Placeholder 5"/>
          <p:cNvPicPr>
            <a:picLocks/>
          </p:cNvPicPr>
          <p:nvPr/>
        </p:nvPicPr>
        <p:blipFill>
          <a:blip r:embed="rId2">
            <a:extLst>
              <a:ext uri="{28A0092B-C50C-407E-A947-70E740481C1C}">
                <a14:useLocalDpi xmlns:a14="http://schemas.microsoft.com/office/drawing/2010/main" val="0"/>
              </a:ext>
            </a:extLst>
          </a:blip>
          <a:stretch>
            <a:fillRect/>
          </a:stretch>
        </p:blipFill>
        <p:spPr bwMode="auto">
          <a:xfrm>
            <a:off x="1461200" y="1690688"/>
            <a:ext cx="8928991" cy="5040560"/>
          </a:xfrm>
          <a:prstGeom prst="rect">
            <a:avLst/>
          </a:prstGeom>
          <a:noFill/>
          <a:ln>
            <a:noFill/>
          </a:ln>
        </p:spPr>
      </p:pic>
    </p:spTree>
    <p:extLst>
      <p:ext uri="{BB962C8B-B14F-4D97-AF65-F5344CB8AC3E}">
        <p14:creationId xmlns:p14="http://schemas.microsoft.com/office/powerpoint/2010/main" val="9248021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E710D38-56F8-CFCD-8406-F7FA2EBEDF43}"/>
              </a:ext>
            </a:extLst>
          </p:cNvPr>
          <p:cNvSpPr>
            <a:spLocks noGrp="1"/>
          </p:cNvSpPr>
          <p:nvPr>
            <p:ph type="title"/>
          </p:nvPr>
        </p:nvSpPr>
        <p:spPr>
          <a:xfrm>
            <a:off x="838200" y="365126"/>
            <a:ext cx="10515600" cy="641742"/>
          </a:xfrm>
        </p:spPr>
        <p:txBody>
          <a:bodyPr>
            <a:normAutofit/>
          </a:bodyPr>
          <a:lstStyle/>
          <a:p>
            <a:pPr algn="ctr"/>
            <a:r>
              <a:rPr lang="en-IN" sz="4000" b="1" dirty="0">
                <a:latin typeface="Times New Roman" panose="02020603050405020304" pitchFamily="18" charset="0"/>
                <a:cs typeface="Times New Roman" panose="02020603050405020304" pitchFamily="18" charset="0"/>
              </a:rPr>
              <a:t>DEPLOYMENT DIAGRAM</a:t>
            </a:r>
          </a:p>
        </p:txBody>
      </p:sp>
      <p:pic>
        <p:nvPicPr>
          <p:cNvPr id="6" name="Content Placeholder 3"/>
          <p:cNvPicPr>
            <a:picLocks noGrp="1"/>
          </p:cNvPicPr>
          <p:nvPr>
            <p:ph idx="1"/>
          </p:nvPr>
        </p:nvPicPr>
        <p:blipFill>
          <a:blip r:embed="rId2">
            <a:extLst>
              <a:ext uri="{28A0092B-C50C-407E-A947-70E740481C1C}">
                <a14:useLocalDpi xmlns:a14="http://schemas.microsoft.com/office/drawing/2010/main" val="0"/>
              </a:ext>
            </a:extLst>
          </a:blip>
          <a:stretch>
            <a:fillRect/>
          </a:stretch>
        </p:blipFill>
        <p:spPr bwMode="auto">
          <a:xfrm>
            <a:off x="1146984" y="1825625"/>
            <a:ext cx="9898032" cy="4351338"/>
          </a:xfrm>
          <a:prstGeom prst="rect">
            <a:avLst/>
          </a:prstGeom>
          <a:noFill/>
          <a:ln>
            <a:noFill/>
          </a:ln>
        </p:spPr>
      </p:pic>
    </p:spTree>
    <p:extLst>
      <p:ext uri="{BB962C8B-B14F-4D97-AF65-F5344CB8AC3E}">
        <p14:creationId xmlns:p14="http://schemas.microsoft.com/office/powerpoint/2010/main" val="21082560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xmlns="" id="{5DB4A7B8-D261-A49B-5D11-6791293A12FB}"/>
              </a:ext>
            </a:extLst>
          </p:cNvPr>
          <p:cNvSpPr>
            <a:spLocks noGrp="1"/>
          </p:cNvSpPr>
          <p:nvPr>
            <p:ph type="title"/>
          </p:nvPr>
        </p:nvSpPr>
        <p:spPr>
          <a:xfrm>
            <a:off x="883920" y="0"/>
            <a:ext cx="10515600" cy="1325563"/>
          </a:xfrm>
        </p:spPr>
        <p:txBody>
          <a:bodyPr>
            <a:normAutofit/>
          </a:bodyPr>
          <a:lstStyle/>
          <a:p>
            <a:pPr algn="ctr"/>
            <a:r>
              <a:rPr lang="en-IN" sz="4000" b="1" dirty="0">
                <a:latin typeface="Times New Roman" panose="02020603050405020304" pitchFamily="18" charset="0"/>
                <a:cs typeface="Times New Roman" panose="02020603050405020304" pitchFamily="18" charset="0"/>
              </a:rPr>
              <a:t>SYSTEM REQUIREMENTS</a:t>
            </a:r>
          </a:p>
        </p:txBody>
      </p:sp>
      <p:sp>
        <p:nvSpPr>
          <p:cNvPr id="5" name="Content Placeholder 4">
            <a:extLst>
              <a:ext uri="{FF2B5EF4-FFF2-40B4-BE49-F238E27FC236}">
                <a16:creationId xmlns:a16="http://schemas.microsoft.com/office/drawing/2014/main" xmlns="" id="{6B4073A5-580B-BA1F-68B4-FAFAF02504E0}"/>
              </a:ext>
            </a:extLst>
          </p:cNvPr>
          <p:cNvSpPr>
            <a:spLocks noGrp="1"/>
          </p:cNvSpPr>
          <p:nvPr>
            <p:ph sz="half" idx="1"/>
          </p:nvPr>
        </p:nvSpPr>
        <p:spPr>
          <a:xfrm>
            <a:off x="762001" y="1325564"/>
            <a:ext cx="5257800" cy="4479336"/>
          </a:xfrm>
        </p:spPr>
        <p:txBody>
          <a:bodyPr>
            <a:normAutofit fontScale="40000" lnSpcReduction="20000"/>
          </a:bodyPr>
          <a:lstStyle/>
          <a:p>
            <a:pPr>
              <a:buFont typeface="Wingdings" panose="05000000000000000000" pitchFamily="2" charset="2"/>
              <a:buChar char="Ø"/>
            </a:pPr>
            <a:r>
              <a:rPr lang="en-US" sz="3800" b="1" dirty="0">
                <a:latin typeface="Times New Roman" panose="02020603050405020304" pitchFamily="18" charset="0"/>
                <a:cs typeface="Times New Roman" panose="02020603050405020304" pitchFamily="18" charset="0"/>
              </a:rPr>
              <a:t>    </a:t>
            </a:r>
            <a:r>
              <a:rPr lang="en-US" sz="6000" b="1" dirty="0">
                <a:latin typeface="Times New Roman" panose="02020603050405020304" pitchFamily="18" charset="0"/>
                <a:cs typeface="Times New Roman" panose="02020603050405020304" pitchFamily="18" charset="0"/>
              </a:rPr>
              <a:t>Hardware Specification: </a:t>
            </a:r>
          </a:p>
          <a:p>
            <a:pPr marL="0" indent="0">
              <a:buNone/>
            </a:pPr>
            <a:endParaRPr lang="en-US" sz="2800" dirty="0">
              <a:latin typeface="Times New Roman" panose="02020603050405020304" pitchFamily="18" charset="0"/>
              <a:cs typeface="Times New Roman" panose="02020603050405020304" pitchFamily="18" charset="0"/>
            </a:endParaRPr>
          </a:p>
          <a:p>
            <a:pPr marL="742950" lvl="1" indent="-285750">
              <a:lnSpc>
                <a:spcPct val="150000"/>
              </a:lnSpc>
              <a:buFont typeface="+mj-lt"/>
              <a:buAutoNum type="arabicPeriod"/>
            </a:pPr>
            <a:r>
              <a:rPr lang="en-US" sz="5000" dirty="0">
                <a:solidFill>
                  <a:srgbClr val="00000A"/>
                </a:solidFill>
                <a:effectLst/>
                <a:latin typeface="Times New Roman" panose="02020603050405020304" pitchFamily="18" charset="0"/>
                <a:ea typeface="Times New Roman" panose="02020603050405020304" pitchFamily="18" charset="0"/>
              </a:rPr>
              <a:t>Processor – </a:t>
            </a:r>
            <a:r>
              <a:rPr lang="en-US" sz="5000" dirty="0" smtClean="0">
                <a:solidFill>
                  <a:srgbClr val="00000A"/>
                </a:solidFill>
                <a:effectLst/>
                <a:latin typeface="Times New Roman" panose="02020603050405020304" pitchFamily="18" charset="0"/>
                <a:ea typeface="Times New Roman" panose="02020603050405020304" pitchFamily="18" charset="0"/>
              </a:rPr>
              <a:t>Intel i3/i5/i7</a:t>
            </a:r>
            <a:endParaRPr lang="en-IN" sz="5000" dirty="0">
              <a:solidFill>
                <a:srgbClr val="00000A"/>
              </a:solidFill>
              <a:effectLst/>
              <a:latin typeface="Times New Roman" panose="02020603050405020304" pitchFamily="18" charset="0"/>
              <a:ea typeface="Times New Roman" panose="02020603050405020304" pitchFamily="18" charset="0"/>
            </a:endParaRPr>
          </a:p>
          <a:p>
            <a:pPr marL="742950" lvl="1" indent="-285750">
              <a:lnSpc>
                <a:spcPct val="150000"/>
              </a:lnSpc>
              <a:buFont typeface="+mj-lt"/>
              <a:buAutoNum type="arabicPeriod"/>
            </a:pPr>
            <a:r>
              <a:rPr lang="en-US" sz="5000" dirty="0">
                <a:solidFill>
                  <a:srgbClr val="00000A"/>
                </a:solidFill>
                <a:effectLst/>
                <a:latin typeface="Times New Roman" panose="02020603050405020304" pitchFamily="18" charset="0"/>
                <a:ea typeface="Times New Roman" panose="02020603050405020304" pitchFamily="18" charset="0"/>
              </a:rPr>
              <a:t>RAM – </a:t>
            </a:r>
            <a:r>
              <a:rPr lang="en-US" sz="5000" dirty="0">
                <a:solidFill>
                  <a:srgbClr val="00000A"/>
                </a:solidFill>
                <a:latin typeface="Times New Roman" panose="02020603050405020304" pitchFamily="18" charset="0"/>
                <a:ea typeface="Times New Roman" panose="02020603050405020304" pitchFamily="18" charset="0"/>
              </a:rPr>
              <a:t>2</a:t>
            </a:r>
            <a:r>
              <a:rPr lang="en-US" sz="5000" dirty="0" smtClean="0">
                <a:solidFill>
                  <a:srgbClr val="00000A"/>
                </a:solidFill>
                <a:effectLst/>
                <a:latin typeface="Times New Roman" panose="02020603050405020304" pitchFamily="18" charset="0"/>
                <a:ea typeface="Times New Roman" panose="02020603050405020304" pitchFamily="18" charset="0"/>
              </a:rPr>
              <a:t>GB(min)</a:t>
            </a:r>
            <a:endParaRPr lang="en-IN" sz="5000" dirty="0">
              <a:solidFill>
                <a:srgbClr val="00000A"/>
              </a:solidFill>
              <a:effectLst/>
              <a:latin typeface="Times New Roman" panose="02020603050405020304" pitchFamily="18" charset="0"/>
              <a:ea typeface="Times New Roman" panose="02020603050405020304" pitchFamily="18" charset="0"/>
            </a:endParaRPr>
          </a:p>
          <a:p>
            <a:pPr marL="742950" lvl="1" indent="-285750">
              <a:lnSpc>
                <a:spcPct val="150000"/>
              </a:lnSpc>
              <a:buFont typeface="+mj-lt"/>
              <a:buAutoNum type="arabicPeriod"/>
            </a:pPr>
            <a:r>
              <a:rPr lang="en-US" sz="5000" dirty="0">
                <a:solidFill>
                  <a:srgbClr val="00000A"/>
                </a:solidFill>
                <a:effectLst/>
                <a:latin typeface="Times New Roman" panose="02020603050405020304" pitchFamily="18" charset="0"/>
                <a:ea typeface="Times New Roman" panose="02020603050405020304" pitchFamily="18" charset="0"/>
              </a:rPr>
              <a:t>Hard Disk – </a:t>
            </a:r>
            <a:r>
              <a:rPr lang="en-US" sz="5000" dirty="0" smtClean="0">
                <a:solidFill>
                  <a:srgbClr val="00000A"/>
                </a:solidFill>
                <a:effectLst/>
                <a:latin typeface="Times New Roman" panose="02020603050405020304" pitchFamily="18" charset="0"/>
                <a:ea typeface="Times New Roman" panose="02020603050405020304" pitchFamily="18" charset="0"/>
              </a:rPr>
              <a:t>40GB</a:t>
            </a:r>
            <a:endParaRPr lang="en-IN" sz="5000" dirty="0">
              <a:solidFill>
                <a:srgbClr val="00000A"/>
              </a:solidFill>
              <a:effectLst/>
              <a:latin typeface="Times New Roman" panose="02020603050405020304" pitchFamily="18" charset="0"/>
              <a:ea typeface="Times New Roman" panose="02020603050405020304" pitchFamily="18" charset="0"/>
            </a:endParaRPr>
          </a:p>
          <a:p>
            <a:pPr marL="0" indent="0">
              <a:buNone/>
            </a:pPr>
            <a:endParaRPr lang="en-IN" sz="3400" dirty="0">
              <a:latin typeface="Times New Roman" panose="02020603050405020304" pitchFamily="18" charset="0"/>
              <a:cs typeface="Times New Roman" panose="02020603050405020304" pitchFamily="18" charset="0"/>
            </a:endParaRPr>
          </a:p>
        </p:txBody>
      </p:sp>
      <p:sp>
        <p:nvSpPr>
          <p:cNvPr id="6" name="Content Placeholder 5">
            <a:extLst>
              <a:ext uri="{FF2B5EF4-FFF2-40B4-BE49-F238E27FC236}">
                <a16:creationId xmlns:a16="http://schemas.microsoft.com/office/drawing/2014/main" xmlns="" id="{BF043A6A-1159-6CDE-5FE9-C374BF16F679}"/>
              </a:ext>
            </a:extLst>
          </p:cNvPr>
          <p:cNvSpPr>
            <a:spLocks noGrp="1"/>
          </p:cNvSpPr>
          <p:nvPr>
            <p:ph sz="half" idx="2"/>
          </p:nvPr>
        </p:nvSpPr>
        <p:spPr>
          <a:xfrm>
            <a:off x="6521522" y="1325563"/>
            <a:ext cx="5181600" cy="4823851"/>
          </a:xfrm>
        </p:spPr>
        <p:txBody>
          <a:bodyPr>
            <a:normAutofit fontScale="40000" lnSpcReduction="20000"/>
          </a:bodyPr>
          <a:lstStyle/>
          <a:p>
            <a:pPr>
              <a:lnSpc>
                <a:spcPct val="120000"/>
              </a:lnSpc>
              <a:buFont typeface="Wingdings" panose="05000000000000000000" pitchFamily="2" charset="2"/>
              <a:buChar char="Ø"/>
            </a:pPr>
            <a:r>
              <a:rPr lang="en-US" sz="5000" b="1" dirty="0">
                <a:latin typeface="Times New Roman" panose="02020603050405020304" pitchFamily="18" charset="0"/>
                <a:cs typeface="Times New Roman" panose="02020603050405020304" pitchFamily="18" charset="0"/>
              </a:rPr>
              <a:t>   </a:t>
            </a:r>
            <a:r>
              <a:rPr lang="en-US" sz="6000" b="1" dirty="0">
                <a:latin typeface="Times New Roman" panose="02020603050405020304" pitchFamily="18" charset="0"/>
                <a:cs typeface="Times New Roman" panose="02020603050405020304" pitchFamily="18" charset="0"/>
              </a:rPr>
              <a:t>Software Specification: </a:t>
            </a:r>
            <a:endParaRPr lang="en-US" sz="6000" dirty="0">
              <a:latin typeface="Times New Roman" panose="02020603050405020304" pitchFamily="18" charset="0"/>
              <a:cs typeface="Times New Roman" panose="02020603050405020304" pitchFamily="18" charset="0"/>
            </a:endParaRPr>
          </a:p>
          <a:p>
            <a:pPr marL="0" indent="0">
              <a:lnSpc>
                <a:spcPct val="170000"/>
              </a:lnSpc>
              <a:buNone/>
            </a:pPr>
            <a:r>
              <a:rPr lang="en-US" sz="5000" dirty="0" smtClean="0">
                <a:latin typeface="Times New Roman" panose="02020603050405020304" pitchFamily="18" charset="0"/>
                <a:cs typeface="Times New Roman" panose="02020603050405020304" pitchFamily="18" charset="0"/>
              </a:rPr>
              <a:t>1. Operating </a:t>
            </a:r>
            <a:r>
              <a:rPr lang="en-US" sz="5000" dirty="0">
                <a:latin typeface="Times New Roman" panose="02020603050405020304" pitchFamily="18" charset="0"/>
                <a:cs typeface="Times New Roman" panose="02020603050405020304" pitchFamily="18" charset="0"/>
              </a:rPr>
              <a:t>system: Window 7,8,10</a:t>
            </a:r>
            <a:r>
              <a:rPr lang="en-US" sz="5000" dirty="0" smtClean="0">
                <a:latin typeface="Times New Roman" panose="02020603050405020304" pitchFamily="18" charset="0"/>
                <a:cs typeface="Times New Roman" panose="02020603050405020304" pitchFamily="18" charset="0"/>
              </a:rPr>
              <a:t>.</a:t>
            </a:r>
          </a:p>
          <a:p>
            <a:pPr marL="0" indent="0">
              <a:lnSpc>
                <a:spcPct val="170000"/>
              </a:lnSpc>
              <a:buNone/>
            </a:pPr>
            <a:r>
              <a:rPr lang="en-US" sz="5000" dirty="0" smtClean="0">
                <a:latin typeface="Times New Roman" panose="02020603050405020304" pitchFamily="18" charset="0"/>
                <a:cs typeface="Times New Roman" panose="02020603050405020304" pitchFamily="18" charset="0"/>
              </a:rPr>
              <a:t>2. Application Server: </a:t>
            </a:r>
            <a:r>
              <a:rPr lang="en-US" sz="5000" dirty="0" err="1" smtClean="0">
                <a:latin typeface="Times New Roman" panose="02020603050405020304" pitchFamily="18" charset="0"/>
                <a:cs typeface="Times New Roman" panose="02020603050405020304" pitchFamily="18" charset="0"/>
              </a:rPr>
              <a:t>Apche</a:t>
            </a:r>
            <a:r>
              <a:rPr lang="en-US" sz="5000" dirty="0" smtClean="0">
                <a:latin typeface="Times New Roman" panose="02020603050405020304" pitchFamily="18" charset="0"/>
                <a:cs typeface="Times New Roman" panose="02020603050405020304" pitchFamily="18" charset="0"/>
              </a:rPr>
              <a:t>  Tomcat 7/8/9 </a:t>
            </a:r>
          </a:p>
          <a:p>
            <a:pPr marL="0" indent="0">
              <a:lnSpc>
                <a:spcPct val="170000"/>
              </a:lnSpc>
              <a:buNone/>
            </a:pPr>
            <a:r>
              <a:rPr lang="en-US" sz="5000" dirty="0" smtClean="0">
                <a:latin typeface="Times New Roman" panose="02020603050405020304" pitchFamily="18" charset="0"/>
                <a:cs typeface="Times New Roman" panose="02020603050405020304" pitchFamily="18" charset="0"/>
              </a:rPr>
              <a:t>3. Front End: HTML, JSP, CSS, Bootstrap</a:t>
            </a:r>
            <a:endParaRPr lang="en-US" sz="5000" dirty="0">
              <a:latin typeface="Times New Roman" panose="02020603050405020304" pitchFamily="18" charset="0"/>
              <a:cs typeface="Times New Roman" panose="02020603050405020304" pitchFamily="18" charset="0"/>
            </a:endParaRPr>
          </a:p>
          <a:p>
            <a:pPr marL="0" indent="0">
              <a:lnSpc>
                <a:spcPct val="170000"/>
              </a:lnSpc>
              <a:buNone/>
            </a:pPr>
            <a:r>
              <a:rPr lang="en-US" sz="5000" dirty="0" smtClean="0">
                <a:latin typeface="Times New Roman" panose="02020603050405020304" pitchFamily="18" charset="0"/>
                <a:cs typeface="Times New Roman" panose="02020603050405020304" pitchFamily="18" charset="0"/>
              </a:rPr>
              <a:t>4. Scripts: JavaScript.</a:t>
            </a:r>
            <a:endParaRPr lang="en-US" sz="5000" dirty="0">
              <a:latin typeface="Times New Roman" panose="02020603050405020304" pitchFamily="18" charset="0"/>
              <a:cs typeface="Times New Roman" panose="02020603050405020304" pitchFamily="18" charset="0"/>
            </a:endParaRPr>
          </a:p>
          <a:p>
            <a:pPr marL="0" indent="0">
              <a:lnSpc>
                <a:spcPct val="170000"/>
              </a:lnSpc>
              <a:buNone/>
            </a:pPr>
            <a:r>
              <a:rPr lang="en-US" sz="5000" dirty="0" smtClean="0">
                <a:latin typeface="Times New Roman" panose="02020603050405020304" pitchFamily="18" charset="0"/>
                <a:cs typeface="Times New Roman" panose="02020603050405020304" pitchFamily="18" charset="0"/>
              </a:rPr>
              <a:t>5.  </a:t>
            </a:r>
            <a:r>
              <a:rPr lang="en-US" sz="5000" dirty="0">
                <a:latin typeface="Times New Roman" panose="02020603050405020304" pitchFamily="18" charset="0"/>
                <a:cs typeface="Times New Roman" panose="02020603050405020304" pitchFamily="18" charset="0"/>
              </a:rPr>
              <a:t>Database: </a:t>
            </a:r>
            <a:r>
              <a:rPr lang="en-US" sz="5000" dirty="0" smtClean="0">
                <a:latin typeface="Times New Roman" panose="02020603050405020304" pitchFamily="18" charset="0"/>
                <a:cs typeface="Times New Roman" panose="02020603050405020304" pitchFamily="18" charset="0"/>
              </a:rPr>
              <a:t>MySQL </a:t>
            </a:r>
            <a:endParaRPr lang="en-US" sz="5000" dirty="0">
              <a:latin typeface="Times New Roman" panose="02020603050405020304" pitchFamily="18" charset="0"/>
              <a:cs typeface="Times New Roman" panose="02020603050405020304" pitchFamily="18" charset="0"/>
            </a:endParaRPr>
          </a:p>
          <a:p>
            <a:pPr marL="0" indent="0">
              <a:lnSpc>
                <a:spcPct val="170000"/>
              </a:lnSpc>
              <a:buNone/>
            </a:pPr>
            <a:r>
              <a:rPr lang="en-US" sz="5000" dirty="0" smtClean="0">
                <a:latin typeface="Times New Roman" panose="02020603050405020304" pitchFamily="18" charset="0"/>
                <a:cs typeface="Times New Roman" panose="02020603050405020304" pitchFamily="18" charset="0"/>
              </a:rPr>
              <a:t>6. IDE</a:t>
            </a:r>
            <a:r>
              <a:rPr lang="en-US" sz="5000" dirty="0">
                <a:latin typeface="Times New Roman" panose="02020603050405020304" pitchFamily="18" charset="0"/>
                <a:cs typeface="Times New Roman" panose="02020603050405020304" pitchFamily="18" charset="0"/>
              </a:rPr>
              <a:t>:  </a:t>
            </a:r>
            <a:r>
              <a:rPr lang="en-US" sz="5000" dirty="0" err="1" smtClean="0">
                <a:latin typeface="Times New Roman" panose="02020603050405020304" pitchFamily="18" charset="0"/>
                <a:cs typeface="Times New Roman" panose="02020603050405020304" pitchFamily="18" charset="0"/>
              </a:rPr>
              <a:t>Elipse</a:t>
            </a:r>
            <a:endParaRPr lang="en-US" sz="5000"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265028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xmlns="" id="{EF714589-0996-DB3F-3F45-8CE6304AFB9B}"/>
              </a:ext>
            </a:extLst>
          </p:cNvPr>
          <p:cNvSpPr>
            <a:spLocks noGrp="1"/>
          </p:cNvSpPr>
          <p:nvPr>
            <p:ph type="title"/>
          </p:nvPr>
        </p:nvSpPr>
        <p:spPr>
          <a:xfrm>
            <a:off x="421240" y="365125"/>
            <a:ext cx="11620072" cy="641742"/>
          </a:xfrm>
        </p:spPr>
        <p:txBody>
          <a:bodyPr>
            <a:normAutofit fontScale="90000"/>
          </a:bodyPr>
          <a:lstStyle/>
          <a:p>
            <a:r>
              <a:rPr lang="en-US" dirty="0"/>
              <a:t> </a:t>
            </a:r>
            <a:r>
              <a:rPr lang="en-US" sz="4000" b="1" dirty="0">
                <a:latin typeface="Times New Roman" panose="02020603050405020304" pitchFamily="18" charset="0"/>
                <a:cs typeface="Times New Roman" panose="02020603050405020304" pitchFamily="18" charset="0"/>
              </a:rPr>
              <a:t>Screen shots of implemented modules of project</a:t>
            </a:r>
            <a:endParaRPr lang="en-IN" sz="4000" b="1" dirty="0">
              <a:latin typeface="Times New Roman" panose="02020603050405020304" pitchFamily="18" charset="0"/>
              <a:cs typeface="Times New Roman" panose="02020603050405020304" pitchFamily="18" charset="0"/>
            </a:endParaRPr>
          </a:p>
        </p:txBody>
      </p:sp>
      <p:sp>
        <p:nvSpPr>
          <p:cNvPr id="8" name="Content Placeholder 7">
            <a:extLst>
              <a:ext uri="{FF2B5EF4-FFF2-40B4-BE49-F238E27FC236}">
                <a16:creationId xmlns:a16="http://schemas.microsoft.com/office/drawing/2014/main" xmlns="" id="{2514CD61-4FCC-EB2D-B499-12128118517E}"/>
              </a:ext>
            </a:extLst>
          </p:cNvPr>
          <p:cNvSpPr>
            <a:spLocks noGrp="1"/>
          </p:cNvSpPr>
          <p:nvPr>
            <p:ph idx="1"/>
          </p:nvPr>
        </p:nvSpPr>
        <p:spPr>
          <a:xfrm>
            <a:off x="838200" y="1099335"/>
            <a:ext cx="10515600" cy="5077628"/>
          </a:xfrm>
        </p:spPr>
        <p:txBody>
          <a:bodyPr/>
          <a:lstStyle/>
          <a:p>
            <a:pPr marL="0" indent="0">
              <a:buNone/>
            </a:pPr>
            <a:r>
              <a:rPr lang="en-IN" sz="2400" dirty="0">
                <a:latin typeface="Times New Roman" panose="02020603050405020304" pitchFamily="18" charset="0"/>
                <a:cs typeface="Times New Roman" panose="02020603050405020304" pitchFamily="18" charset="0"/>
              </a:rPr>
              <a:t>Home Page</a:t>
            </a:r>
          </a:p>
          <a:p>
            <a:pPr marL="0" indent="0">
              <a:buNone/>
            </a:pPr>
            <a:endParaRPr lang="en-IN" dirty="0"/>
          </a:p>
        </p:txBody>
      </p:sp>
      <p:pic>
        <p:nvPicPr>
          <p:cNvPr id="9" name="Content Placeholder 7">
            <a:extLst>
              <a:ext uri="{FF2B5EF4-FFF2-40B4-BE49-F238E27FC236}">
                <a16:creationId xmlns:a16="http://schemas.microsoft.com/office/drawing/2014/main" xmlns="" id="{018BA192-DA30-9145-62E6-31B0C39BB5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25043" y="1530849"/>
            <a:ext cx="8648589" cy="4808307"/>
          </a:xfrm>
          <a:prstGeom prst="rect">
            <a:avLst/>
          </a:prstGeom>
          <a:noFill/>
          <a:ln>
            <a:noFill/>
          </a:ln>
        </p:spPr>
      </p:pic>
    </p:spTree>
    <p:extLst>
      <p:ext uri="{BB962C8B-B14F-4D97-AF65-F5344CB8AC3E}">
        <p14:creationId xmlns:p14="http://schemas.microsoft.com/office/powerpoint/2010/main" val="266269281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A312690-4AD6-889A-D09B-5F4A01B923E3}"/>
              </a:ext>
            </a:extLst>
          </p:cNvPr>
          <p:cNvSpPr>
            <a:spLocks noGrp="1"/>
          </p:cNvSpPr>
          <p:nvPr>
            <p:ph type="title"/>
          </p:nvPr>
        </p:nvSpPr>
        <p:spPr>
          <a:xfrm>
            <a:off x="503435" y="365126"/>
            <a:ext cx="11301572" cy="765032"/>
          </a:xfrm>
        </p:spPr>
        <p:txBody>
          <a:bodyPr>
            <a:normAutofit/>
          </a:bodyPr>
          <a:lstStyle/>
          <a:p>
            <a:r>
              <a:rPr lang="en-US" sz="4000" b="1" dirty="0">
                <a:latin typeface="Times New Roman" panose="02020603050405020304" pitchFamily="18" charset="0"/>
                <a:cs typeface="Times New Roman" panose="02020603050405020304" pitchFamily="18" charset="0"/>
              </a:rPr>
              <a:t>Screen shots of implemented modules of project</a:t>
            </a:r>
            <a:endParaRPr lang="en-IN" sz="4000" dirty="0"/>
          </a:p>
        </p:txBody>
      </p:sp>
      <p:sp>
        <p:nvSpPr>
          <p:cNvPr id="3" name="Content Placeholder 2">
            <a:extLst>
              <a:ext uri="{FF2B5EF4-FFF2-40B4-BE49-F238E27FC236}">
                <a16:creationId xmlns:a16="http://schemas.microsoft.com/office/drawing/2014/main" xmlns="" id="{7854D70B-84BC-975D-842A-ADE6C00785FA}"/>
              </a:ext>
            </a:extLst>
          </p:cNvPr>
          <p:cNvSpPr>
            <a:spLocks noGrp="1"/>
          </p:cNvSpPr>
          <p:nvPr>
            <p:ph idx="1"/>
          </p:nvPr>
        </p:nvSpPr>
        <p:spPr>
          <a:xfrm>
            <a:off x="838200" y="1109610"/>
            <a:ext cx="10515600" cy="5046805"/>
          </a:xfrm>
        </p:spPr>
        <p:txBody>
          <a:bodyPr/>
          <a:lstStyle/>
          <a:p>
            <a:pPr marL="0" indent="0">
              <a:buNone/>
            </a:pPr>
            <a:r>
              <a:rPr lang="en-IN" sz="2400" dirty="0">
                <a:latin typeface="Times New Roman" panose="02020603050405020304" pitchFamily="18" charset="0"/>
                <a:cs typeface="Times New Roman" panose="02020603050405020304" pitchFamily="18" charset="0"/>
              </a:rPr>
              <a:t>Registration Page</a:t>
            </a:r>
          </a:p>
          <a:p>
            <a:pPr marL="0" indent="0">
              <a:buNone/>
            </a:pPr>
            <a:endParaRPr lang="en-IN" dirty="0"/>
          </a:p>
        </p:txBody>
      </p:sp>
      <p:pic>
        <p:nvPicPr>
          <p:cNvPr id="4" name="Picture 3">
            <a:extLst>
              <a:ext uri="{FF2B5EF4-FFF2-40B4-BE49-F238E27FC236}">
                <a16:creationId xmlns:a16="http://schemas.microsoft.com/office/drawing/2014/main" xmlns="" id="{B5D3D2D3-55F9-95FE-1938-6D81EEF63D59}"/>
              </a:ext>
            </a:extLst>
          </p:cNvPr>
          <p:cNvPicPr/>
          <p:nvPr/>
        </p:nvPicPr>
        <p:blipFill>
          <a:blip r:embed="rId2">
            <a:extLst>
              <a:ext uri="{28A0092B-C50C-407E-A947-70E740481C1C}">
                <a14:useLocalDpi xmlns:a14="http://schemas.microsoft.com/office/drawing/2010/main" val="0"/>
              </a:ext>
            </a:extLst>
          </a:blip>
          <a:stretch>
            <a:fillRect/>
          </a:stretch>
        </p:blipFill>
        <p:spPr>
          <a:xfrm>
            <a:off x="1767342" y="1600834"/>
            <a:ext cx="8434711" cy="4738207"/>
          </a:xfrm>
          <a:prstGeom prst="rect">
            <a:avLst/>
          </a:prstGeom>
        </p:spPr>
      </p:pic>
    </p:spTree>
    <p:extLst>
      <p:ext uri="{BB962C8B-B14F-4D97-AF65-F5344CB8AC3E}">
        <p14:creationId xmlns:p14="http://schemas.microsoft.com/office/powerpoint/2010/main" val="44482865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121FBD2-1CCE-CD77-B757-C0E4642482C3}"/>
              </a:ext>
            </a:extLst>
          </p:cNvPr>
          <p:cNvSpPr>
            <a:spLocks noGrp="1"/>
          </p:cNvSpPr>
          <p:nvPr>
            <p:ph type="title"/>
          </p:nvPr>
        </p:nvSpPr>
        <p:spPr>
          <a:xfrm>
            <a:off x="410966" y="365126"/>
            <a:ext cx="11445412" cy="600646"/>
          </a:xfrm>
        </p:spPr>
        <p:txBody>
          <a:bodyPr>
            <a:normAutofit fontScale="90000"/>
          </a:bodyPr>
          <a:lstStyle/>
          <a:p>
            <a:pPr algn="ctr"/>
            <a:r>
              <a:rPr lang="en-US" sz="4000" b="1" dirty="0">
                <a:latin typeface="Times New Roman" panose="02020603050405020304" pitchFamily="18" charset="0"/>
                <a:cs typeface="Times New Roman" panose="02020603050405020304" pitchFamily="18" charset="0"/>
              </a:rPr>
              <a:t>Screen shots of implemented modules of project</a:t>
            </a:r>
            <a:endParaRPr lang="en-IN" sz="4000" dirty="0"/>
          </a:p>
        </p:txBody>
      </p:sp>
      <p:sp>
        <p:nvSpPr>
          <p:cNvPr id="3" name="Content Placeholder 2">
            <a:extLst>
              <a:ext uri="{FF2B5EF4-FFF2-40B4-BE49-F238E27FC236}">
                <a16:creationId xmlns:a16="http://schemas.microsoft.com/office/drawing/2014/main" xmlns="" id="{5A00D948-19CC-E7A8-9AE9-7A2F20E9A889}"/>
              </a:ext>
            </a:extLst>
          </p:cNvPr>
          <p:cNvSpPr>
            <a:spLocks noGrp="1"/>
          </p:cNvSpPr>
          <p:nvPr>
            <p:ph idx="1"/>
          </p:nvPr>
        </p:nvSpPr>
        <p:spPr>
          <a:xfrm>
            <a:off x="838200" y="1047964"/>
            <a:ext cx="10515600" cy="5128999"/>
          </a:xfrm>
        </p:spPr>
        <p:txBody>
          <a:bodyPr>
            <a:normAutofit/>
          </a:bodyPr>
          <a:lstStyle/>
          <a:p>
            <a:pPr marL="0" indent="0">
              <a:buNone/>
            </a:pPr>
            <a:r>
              <a:rPr lang="en-IN" sz="2400" dirty="0">
                <a:latin typeface="Times New Roman" panose="02020603050405020304" pitchFamily="18" charset="0"/>
                <a:cs typeface="Times New Roman" panose="02020603050405020304" pitchFamily="18" charset="0"/>
              </a:rPr>
              <a:t>Login Page</a:t>
            </a:r>
          </a:p>
          <a:p>
            <a:pPr marL="0" indent="0">
              <a:buNone/>
            </a:pPr>
            <a:endParaRPr lang="en-IN" sz="2400" dirty="0"/>
          </a:p>
        </p:txBody>
      </p:sp>
      <p:pic>
        <p:nvPicPr>
          <p:cNvPr id="4" name="Content Placeholder 3">
            <a:extLst>
              <a:ext uri="{FF2B5EF4-FFF2-40B4-BE49-F238E27FC236}">
                <a16:creationId xmlns:a16="http://schemas.microsoft.com/office/drawing/2014/main" xmlns="" id="{6104D260-F847-C757-3CEC-57DF7B6E5E5D}"/>
              </a:ext>
            </a:extLst>
          </p:cNvPr>
          <p:cNvPicPr/>
          <p:nvPr/>
        </p:nvPicPr>
        <p:blipFill>
          <a:blip r:embed="rId2">
            <a:extLst>
              <a:ext uri="{28A0092B-C50C-407E-A947-70E740481C1C}">
                <a14:useLocalDpi xmlns:a14="http://schemas.microsoft.com/office/drawing/2010/main" val="0"/>
              </a:ext>
            </a:extLst>
          </a:blip>
          <a:stretch>
            <a:fillRect/>
          </a:stretch>
        </p:blipFill>
        <p:spPr>
          <a:xfrm>
            <a:off x="2043760" y="1560721"/>
            <a:ext cx="8335365" cy="4616242"/>
          </a:xfrm>
          <a:prstGeom prst="rect">
            <a:avLst/>
          </a:prstGeom>
        </p:spPr>
      </p:pic>
    </p:spTree>
    <p:extLst>
      <p:ext uri="{BB962C8B-B14F-4D97-AF65-F5344CB8AC3E}">
        <p14:creationId xmlns:p14="http://schemas.microsoft.com/office/powerpoint/2010/main" val="15894998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6FF297C-BFE6-EDA7-823B-6303DAD51422}"/>
              </a:ext>
            </a:extLst>
          </p:cNvPr>
          <p:cNvSpPr>
            <a:spLocks noGrp="1"/>
          </p:cNvSpPr>
          <p:nvPr>
            <p:ph type="title"/>
          </p:nvPr>
        </p:nvSpPr>
        <p:spPr>
          <a:xfrm>
            <a:off x="838200" y="365126"/>
            <a:ext cx="10515600" cy="590372"/>
          </a:xfrm>
        </p:spPr>
        <p:txBody>
          <a:bodyPr>
            <a:normAutofit fontScale="90000"/>
          </a:bodyPr>
          <a:lstStyle/>
          <a:p>
            <a:pPr algn="ctr"/>
            <a:r>
              <a:rPr lang="en-US" sz="4000" b="1" dirty="0">
                <a:latin typeface="Times New Roman" panose="02020603050405020304" pitchFamily="18" charset="0"/>
                <a:cs typeface="Times New Roman" panose="02020603050405020304" pitchFamily="18" charset="0"/>
              </a:rPr>
              <a:t>Screen shots of project output</a:t>
            </a:r>
            <a:endParaRPr lang="en-IN" sz="4000" b="1" dirty="0">
              <a:latin typeface="Times New Roman" panose="02020603050405020304" pitchFamily="18" charset="0"/>
              <a:cs typeface="Times New Roman" panose="02020603050405020304" pitchFamily="18" charset="0"/>
            </a:endParaRPr>
          </a:p>
        </p:txBody>
      </p:sp>
      <p:pic>
        <p:nvPicPr>
          <p:cNvPr id="4" name="Content Placeholder 3">
            <a:extLst>
              <a:ext uri="{FF2B5EF4-FFF2-40B4-BE49-F238E27FC236}">
                <a16:creationId xmlns:a16="http://schemas.microsoft.com/office/drawing/2014/main" xmlns="" id="{0018819F-59BC-8E3D-A4CD-31A0576AFEB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339890" y="1263721"/>
            <a:ext cx="9948016" cy="5229153"/>
          </a:xfrm>
          <a:prstGeom prst="rect">
            <a:avLst/>
          </a:prstGeom>
        </p:spPr>
      </p:pic>
    </p:spTree>
    <p:extLst>
      <p:ext uri="{BB962C8B-B14F-4D97-AF65-F5344CB8AC3E}">
        <p14:creationId xmlns:p14="http://schemas.microsoft.com/office/powerpoint/2010/main" val="90028671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6FF297C-BFE6-EDA7-823B-6303DAD51422}"/>
              </a:ext>
            </a:extLst>
          </p:cNvPr>
          <p:cNvSpPr>
            <a:spLocks noGrp="1"/>
          </p:cNvSpPr>
          <p:nvPr>
            <p:ph type="title"/>
          </p:nvPr>
        </p:nvSpPr>
        <p:spPr>
          <a:xfrm>
            <a:off x="838200" y="365126"/>
            <a:ext cx="10515600" cy="590372"/>
          </a:xfrm>
        </p:spPr>
        <p:txBody>
          <a:bodyPr>
            <a:normAutofit fontScale="90000"/>
          </a:bodyPr>
          <a:lstStyle/>
          <a:p>
            <a:pPr algn="ctr"/>
            <a:r>
              <a:rPr lang="en-US" sz="4000" b="1" dirty="0">
                <a:latin typeface="Times New Roman" panose="02020603050405020304" pitchFamily="18" charset="0"/>
                <a:cs typeface="Times New Roman" panose="02020603050405020304" pitchFamily="18" charset="0"/>
              </a:rPr>
              <a:t>Screen shots of project output</a:t>
            </a:r>
            <a:endParaRPr lang="en-IN" sz="4000" b="1" dirty="0">
              <a:latin typeface="Times New Roman" panose="02020603050405020304" pitchFamily="18" charset="0"/>
              <a:cs typeface="Times New Roman" panose="02020603050405020304" pitchFamily="18" charset="0"/>
            </a:endParaRPr>
          </a:p>
        </p:txBody>
      </p:sp>
      <p:pic>
        <p:nvPicPr>
          <p:cNvPr id="4" name="Content Placeholder 3">
            <a:extLst>
              <a:ext uri="{FF2B5EF4-FFF2-40B4-BE49-F238E27FC236}">
                <a16:creationId xmlns:a16="http://schemas.microsoft.com/office/drawing/2014/main" xmlns="" id="{0018819F-59BC-8E3D-A4CD-31A0576AFEB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29244" y="1263721"/>
            <a:ext cx="9369307" cy="5229153"/>
          </a:xfrm>
          <a:prstGeom prst="rect">
            <a:avLst/>
          </a:prstGeom>
        </p:spPr>
      </p:pic>
    </p:spTree>
    <p:extLst>
      <p:ext uri="{BB962C8B-B14F-4D97-AF65-F5344CB8AC3E}">
        <p14:creationId xmlns:p14="http://schemas.microsoft.com/office/powerpoint/2010/main" val="205441234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B6ED5F0-E508-113E-2817-B94BE0D9C2BA}"/>
              </a:ext>
            </a:extLst>
          </p:cNvPr>
          <p:cNvSpPr>
            <a:spLocks noGrp="1"/>
          </p:cNvSpPr>
          <p:nvPr>
            <p:ph type="title"/>
          </p:nvPr>
        </p:nvSpPr>
        <p:spPr>
          <a:xfrm>
            <a:off x="838200" y="365126"/>
            <a:ext cx="10515600" cy="713662"/>
          </a:xfrm>
        </p:spPr>
        <p:txBody>
          <a:bodyPr/>
          <a:lstStyle/>
          <a:p>
            <a:pPr algn="ctr"/>
            <a:r>
              <a:rPr lang="en-US" sz="4400" b="1" dirty="0">
                <a:latin typeface="Times New Roman" panose="02020603050405020304" pitchFamily="18" charset="0"/>
                <a:cs typeface="Times New Roman" panose="02020603050405020304" pitchFamily="18" charset="0"/>
              </a:rPr>
              <a:t>Screen shots of project output</a:t>
            </a:r>
            <a:endParaRPr lang="en-IN" dirty="0"/>
          </a:p>
        </p:txBody>
      </p:sp>
      <p:pic>
        <p:nvPicPr>
          <p:cNvPr id="4" name="Content Placeholder 3">
            <a:extLst>
              <a:ext uri="{FF2B5EF4-FFF2-40B4-BE49-F238E27FC236}">
                <a16:creationId xmlns:a16="http://schemas.microsoft.com/office/drawing/2014/main" xmlns="" id="{070BE01C-37E5-BD76-4000-C5A6333E9FD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560944" y="1222624"/>
            <a:ext cx="9227649" cy="5188449"/>
          </a:xfrm>
          <a:prstGeom prst="rect">
            <a:avLst/>
          </a:prstGeom>
        </p:spPr>
      </p:pic>
    </p:spTree>
    <p:extLst>
      <p:ext uri="{BB962C8B-B14F-4D97-AF65-F5344CB8AC3E}">
        <p14:creationId xmlns:p14="http://schemas.microsoft.com/office/powerpoint/2010/main" val="237181967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3B37E42-8950-C6AC-00D8-77DEC552153C}"/>
              </a:ext>
            </a:extLst>
          </p:cNvPr>
          <p:cNvSpPr>
            <a:spLocks noGrp="1"/>
          </p:cNvSpPr>
          <p:nvPr>
            <p:ph type="title"/>
          </p:nvPr>
        </p:nvSpPr>
        <p:spPr>
          <a:xfrm>
            <a:off x="838200" y="365125"/>
            <a:ext cx="10515600" cy="703387"/>
          </a:xfrm>
        </p:spPr>
        <p:txBody>
          <a:bodyPr/>
          <a:lstStyle/>
          <a:p>
            <a:pPr algn="ctr"/>
            <a:r>
              <a:rPr lang="en-US" sz="4400" b="1" dirty="0" smtClean="0">
                <a:latin typeface="Times New Roman" panose="02020603050405020304" pitchFamily="18" charset="0"/>
                <a:cs typeface="Times New Roman" panose="02020603050405020304" pitchFamily="18" charset="0"/>
              </a:rPr>
              <a:t>screen shots of project output</a:t>
            </a:r>
            <a:endParaRPr lang="en-IN" dirty="0"/>
          </a:p>
        </p:txBody>
      </p:sp>
      <p:pic>
        <p:nvPicPr>
          <p:cNvPr id="4" name="Content Placeholder 3">
            <a:extLst>
              <a:ext uri="{FF2B5EF4-FFF2-40B4-BE49-F238E27FC236}">
                <a16:creationId xmlns:a16="http://schemas.microsoft.com/office/drawing/2014/main" xmlns="" id="{19578C05-E2E8-DBF9-4F70-CC12DB9875A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566160" y="1171254"/>
            <a:ext cx="9721506" cy="5321621"/>
          </a:xfrm>
          <a:prstGeom prst="rect">
            <a:avLst/>
          </a:prstGeom>
        </p:spPr>
      </p:pic>
    </p:spTree>
    <p:extLst>
      <p:ext uri="{BB962C8B-B14F-4D97-AF65-F5344CB8AC3E}">
        <p14:creationId xmlns:p14="http://schemas.microsoft.com/office/powerpoint/2010/main" val="406340142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3B37E42-8950-C6AC-00D8-77DEC552153C}"/>
              </a:ext>
            </a:extLst>
          </p:cNvPr>
          <p:cNvSpPr>
            <a:spLocks noGrp="1"/>
          </p:cNvSpPr>
          <p:nvPr>
            <p:ph type="title"/>
          </p:nvPr>
        </p:nvSpPr>
        <p:spPr>
          <a:xfrm>
            <a:off x="838200" y="365125"/>
            <a:ext cx="10515600" cy="703387"/>
          </a:xfrm>
        </p:spPr>
        <p:txBody>
          <a:bodyPr/>
          <a:lstStyle/>
          <a:p>
            <a:pPr algn="ctr"/>
            <a:r>
              <a:rPr lang="en-US" sz="4400" b="1" dirty="0" smtClean="0">
                <a:latin typeface="Times New Roman" panose="02020603050405020304" pitchFamily="18" charset="0"/>
                <a:cs typeface="Times New Roman" panose="02020603050405020304" pitchFamily="18" charset="0"/>
              </a:rPr>
              <a:t>screen shots of project output</a:t>
            </a:r>
            <a:endParaRPr lang="en-IN" dirty="0"/>
          </a:p>
        </p:txBody>
      </p:sp>
      <p:pic>
        <p:nvPicPr>
          <p:cNvPr id="4" name="Content Placeholder 3">
            <a:extLst>
              <a:ext uri="{FF2B5EF4-FFF2-40B4-BE49-F238E27FC236}">
                <a16:creationId xmlns:a16="http://schemas.microsoft.com/office/drawing/2014/main" xmlns="" id="{19578C05-E2E8-DBF9-4F70-CC12DB9875A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94665" y="1171254"/>
            <a:ext cx="9464495" cy="5321620"/>
          </a:xfrm>
          <a:prstGeom prst="rect">
            <a:avLst/>
          </a:prstGeom>
        </p:spPr>
      </p:pic>
    </p:spTree>
    <p:extLst>
      <p:ext uri="{BB962C8B-B14F-4D97-AF65-F5344CB8AC3E}">
        <p14:creationId xmlns:p14="http://schemas.microsoft.com/office/powerpoint/2010/main" val="65722394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A4D620B-8F63-871B-32A3-DEC6A160151B}"/>
              </a:ext>
            </a:extLst>
          </p:cNvPr>
          <p:cNvSpPr>
            <a:spLocks noGrp="1"/>
          </p:cNvSpPr>
          <p:nvPr>
            <p:ph type="title"/>
          </p:nvPr>
        </p:nvSpPr>
        <p:spPr>
          <a:xfrm>
            <a:off x="838200" y="128820"/>
            <a:ext cx="10515600" cy="641742"/>
          </a:xfrm>
        </p:spPr>
        <p:txBody>
          <a:bodyPr>
            <a:normAutofit/>
          </a:bodyPr>
          <a:lstStyle/>
          <a:p>
            <a:pPr algn="ctr"/>
            <a:r>
              <a:rPr lang="en-IN" sz="4000" b="1" dirty="0" smtClean="0">
                <a:latin typeface="Times New Roman" panose="02020603050405020304" pitchFamily="18" charset="0"/>
                <a:cs typeface="Times New Roman" panose="02020603050405020304" pitchFamily="18" charset="0"/>
              </a:rPr>
              <a:t>ADVANTAGES</a:t>
            </a:r>
            <a:endParaRPr lang="en-IN" sz="40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xmlns="" id="{F67002FA-1E79-61EA-8578-7E027902900D}"/>
              </a:ext>
            </a:extLst>
          </p:cNvPr>
          <p:cNvSpPr>
            <a:spLocks noGrp="1"/>
          </p:cNvSpPr>
          <p:nvPr>
            <p:ph idx="1"/>
          </p:nvPr>
        </p:nvSpPr>
        <p:spPr>
          <a:xfrm>
            <a:off x="838200" y="965770"/>
            <a:ext cx="10515600" cy="5342169"/>
          </a:xfrm>
        </p:spPr>
        <p:txBody>
          <a:bodyPr>
            <a:noAutofit/>
          </a:bodyPr>
          <a:lstStyle/>
          <a:p>
            <a:pPr algn="just">
              <a:lnSpc>
                <a:spcPct val="100000"/>
              </a:lnSpc>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Design and develop web </a:t>
            </a:r>
            <a:r>
              <a:rPr lang="en-US" sz="2200" dirty="0" smtClean="0">
                <a:latin typeface="Times New Roman" panose="02020603050405020304" pitchFamily="18" charset="0"/>
                <a:cs typeface="Times New Roman" panose="02020603050405020304" pitchFamily="18" charset="0"/>
              </a:rPr>
              <a:t>application for early stress detection.</a:t>
            </a:r>
            <a:endParaRPr lang="en-US" sz="2200" dirty="0">
              <a:latin typeface="Times New Roman" panose="02020603050405020304" pitchFamily="18" charset="0"/>
              <a:cs typeface="Times New Roman" panose="02020603050405020304" pitchFamily="18" charset="0"/>
            </a:endParaRPr>
          </a:p>
          <a:p>
            <a:pPr algn="just">
              <a:lnSpc>
                <a:spcPct val="100000"/>
              </a:lnSpc>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 Classification of depressed and stressed user by using deep learning algorithms.</a:t>
            </a:r>
          </a:p>
          <a:p>
            <a:pPr algn="just">
              <a:lnSpc>
                <a:spcPct val="100000"/>
              </a:lnSpc>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Get positive and negative comments using sentiment analysis</a:t>
            </a:r>
            <a:r>
              <a:rPr lang="en-US" sz="2200" dirty="0" smtClean="0">
                <a:latin typeface="Times New Roman" panose="02020603050405020304" pitchFamily="18" charset="0"/>
                <a:cs typeface="Times New Roman" panose="02020603050405020304" pitchFamily="18" charset="0"/>
              </a:rPr>
              <a:t>.</a:t>
            </a:r>
          </a:p>
          <a:p>
            <a:pPr algn="just">
              <a:lnSpc>
                <a:spcPct val="100000"/>
              </a:lnSpc>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Machine learning algorithms can identify signs of stress and depression early, allowing for timely intervention and support</a:t>
            </a:r>
            <a:r>
              <a:rPr lang="en-US" sz="2200" dirty="0" smtClean="0">
                <a:latin typeface="Times New Roman" panose="02020603050405020304" pitchFamily="18" charset="0"/>
                <a:cs typeface="Times New Roman" panose="02020603050405020304" pitchFamily="18" charset="0"/>
              </a:rPr>
              <a:t>.</a:t>
            </a:r>
          </a:p>
          <a:p>
            <a:pPr algn="just">
              <a:lnSpc>
                <a:spcPct val="100000"/>
              </a:lnSpc>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Social media platforms have a vast user base, making it possible to reach a large population and provide support to those in need</a:t>
            </a:r>
            <a:r>
              <a:rPr lang="en-US" sz="2200" dirty="0" smtClean="0">
                <a:latin typeface="Times New Roman" panose="02020603050405020304" pitchFamily="18" charset="0"/>
                <a:cs typeface="Times New Roman" panose="02020603050405020304" pitchFamily="18" charset="0"/>
              </a:rPr>
              <a:t>.</a:t>
            </a:r>
          </a:p>
          <a:p>
            <a:pPr algn="just">
              <a:lnSpc>
                <a:spcPct val="100000"/>
              </a:lnSpc>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Automated detection through machine learning reduces the need for manual screening, making it a cost-effective solution for identifying mental health issues.</a:t>
            </a:r>
          </a:p>
          <a:p>
            <a:pPr marL="0" indent="0">
              <a:lnSpc>
                <a:spcPct val="100000"/>
              </a:lnSpc>
              <a:buNone/>
            </a:pP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0765832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A4D620B-8F63-871B-32A3-DEC6A160151B}"/>
              </a:ext>
            </a:extLst>
          </p:cNvPr>
          <p:cNvSpPr>
            <a:spLocks noGrp="1"/>
          </p:cNvSpPr>
          <p:nvPr>
            <p:ph type="title"/>
          </p:nvPr>
        </p:nvSpPr>
        <p:spPr>
          <a:xfrm>
            <a:off x="838200" y="128820"/>
            <a:ext cx="10515600" cy="836950"/>
          </a:xfrm>
        </p:spPr>
        <p:txBody>
          <a:bodyPr>
            <a:normAutofit/>
          </a:bodyPr>
          <a:lstStyle/>
          <a:p>
            <a:pPr algn="ctr"/>
            <a:r>
              <a:rPr lang="en-US" sz="4000" b="1" dirty="0" smtClean="0">
                <a:latin typeface="Times New Roman" panose="02020603050405020304" pitchFamily="18" charset="0"/>
                <a:cs typeface="Times New Roman" panose="02020603050405020304" pitchFamily="18" charset="0"/>
              </a:rPr>
              <a:t>LIMITATIONS</a:t>
            </a:r>
            <a:endParaRPr lang="en-IN" sz="40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xmlns="" id="{F67002FA-1E79-61EA-8578-7E027902900D}"/>
              </a:ext>
            </a:extLst>
          </p:cNvPr>
          <p:cNvSpPr>
            <a:spLocks noGrp="1"/>
          </p:cNvSpPr>
          <p:nvPr>
            <p:ph idx="1"/>
          </p:nvPr>
        </p:nvSpPr>
        <p:spPr>
          <a:xfrm>
            <a:off x="838200" y="965770"/>
            <a:ext cx="10515600" cy="5342169"/>
          </a:xfrm>
        </p:spPr>
        <p:txBody>
          <a:bodyPr>
            <a:noAutofit/>
          </a:bodyPr>
          <a:lstStyle/>
          <a:p>
            <a:pPr algn="just">
              <a:lnSpc>
                <a:spcPct val="100000"/>
              </a:lnSpc>
              <a:buFont typeface="Wingdings" panose="05000000000000000000" pitchFamily="2" charset="2"/>
              <a:buChar char="Ø"/>
            </a:pPr>
            <a:r>
              <a:rPr lang="en-IN" sz="2200" dirty="0">
                <a:latin typeface="Times New Roman" panose="02020603050405020304" pitchFamily="18" charset="0"/>
                <a:cs typeface="Times New Roman" panose="02020603050405020304" pitchFamily="18" charset="0"/>
              </a:rPr>
              <a:t>Bias and Representativeness</a:t>
            </a:r>
            <a:r>
              <a:rPr lang="en-US" sz="2200" dirty="0" smtClean="0">
                <a:latin typeface="Times New Roman" panose="02020603050405020304" pitchFamily="18" charset="0"/>
                <a:cs typeface="Times New Roman" panose="02020603050405020304" pitchFamily="18" charset="0"/>
              </a:rPr>
              <a:t>.</a:t>
            </a:r>
            <a:endParaRPr lang="en-US" sz="2200" dirty="0">
              <a:latin typeface="Times New Roman" panose="02020603050405020304" pitchFamily="18" charset="0"/>
              <a:cs typeface="Times New Roman" panose="02020603050405020304" pitchFamily="18" charset="0"/>
            </a:endParaRPr>
          </a:p>
          <a:p>
            <a:pPr algn="just">
              <a:lnSpc>
                <a:spcPct val="100000"/>
              </a:lnSpc>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 </a:t>
            </a:r>
            <a:r>
              <a:rPr lang="en-US" sz="2200" dirty="0" smtClean="0">
                <a:latin typeface="Times New Roman" panose="02020603050405020304" pitchFamily="18" charset="0"/>
                <a:cs typeface="Times New Roman" panose="02020603050405020304" pitchFamily="18" charset="0"/>
              </a:rPr>
              <a:t>Users </a:t>
            </a:r>
            <a:r>
              <a:rPr lang="en-US" sz="2200" dirty="0">
                <a:latin typeface="Times New Roman" panose="02020603050405020304" pitchFamily="18" charset="0"/>
                <a:cs typeface="Times New Roman" panose="02020603050405020304" pitchFamily="18" charset="0"/>
              </a:rPr>
              <a:t>may be uncomfortable with their data being </a:t>
            </a:r>
            <a:r>
              <a:rPr lang="en-US" sz="2200" dirty="0" smtClean="0">
                <a:latin typeface="Times New Roman" panose="02020603050405020304" pitchFamily="18" charset="0"/>
                <a:cs typeface="Times New Roman" panose="02020603050405020304" pitchFamily="18" charset="0"/>
              </a:rPr>
              <a:t>used for analysis</a:t>
            </a:r>
            <a:endParaRPr lang="en-US" sz="2200" dirty="0">
              <a:latin typeface="Times New Roman" panose="02020603050405020304" pitchFamily="18" charset="0"/>
              <a:cs typeface="Times New Roman" panose="02020603050405020304" pitchFamily="18" charset="0"/>
            </a:endParaRPr>
          </a:p>
          <a:p>
            <a:pPr algn="just">
              <a:lnSpc>
                <a:spcPct val="100000"/>
              </a:lnSpc>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complexity of language and the various ways people express their emotions</a:t>
            </a:r>
            <a:endParaRPr lang="en-US" sz="2200" dirty="0" smtClean="0">
              <a:latin typeface="Times New Roman" panose="02020603050405020304" pitchFamily="18" charset="0"/>
              <a:cs typeface="Times New Roman" panose="02020603050405020304" pitchFamily="18" charset="0"/>
            </a:endParaRPr>
          </a:p>
          <a:p>
            <a:pPr algn="just">
              <a:lnSpc>
                <a:spcPct val="100000"/>
              </a:lnSpc>
              <a:buFont typeface="Wingdings" panose="05000000000000000000" pitchFamily="2" charset="2"/>
              <a:buChar char="Ø"/>
            </a:pPr>
            <a:r>
              <a:rPr lang="en-IN" sz="2200" dirty="0" smtClean="0">
                <a:latin typeface="Times New Roman" panose="02020603050405020304" pitchFamily="18" charset="0"/>
                <a:cs typeface="Times New Roman" panose="02020603050405020304" pitchFamily="18" charset="0"/>
              </a:rPr>
              <a:t>ML algorithm may struggle to understand context surrounding social media posts</a:t>
            </a:r>
            <a:r>
              <a:rPr lang="en-US" sz="2200" dirty="0" smtClean="0">
                <a:latin typeface="Times New Roman" panose="02020603050405020304" pitchFamily="18" charset="0"/>
                <a:cs typeface="Times New Roman" panose="02020603050405020304" pitchFamily="18" charset="0"/>
              </a:rPr>
              <a:t>, leading to misinterpretation of </a:t>
            </a:r>
            <a:r>
              <a:rPr lang="en-US" sz="2200" dirty="0" smtClean="0">
                <a:latin typeface="Times New Roman" panose="02020603050405020304" pitchFamily="18" charset="0"/>
                <a:cs typeface="Times New Roman" panose="02020603050405020304" pitchFamily="18" charset="0"/>
              </a:rPr>
              <a:t>emotions</a:t>
            </a:r>
            <a:r>
              <a:rPr lang="en-US" sz="2200" dirty="0" smtClean="0">
                <a:latin typeface="Times New Roman" panose="02020603050405020304" pitchFamily="18" charset="0"/>
                <a:cs typeface="Times New Roman" panose="02020603050405020304" pitchFamily="18" charset="0"/>
              </a:rPr>
              <a:t>.</a:t>
            </a:r>
          </a:p>
          <a:p>
            <a:pPr algn="just">
              <a:lnSpc>
                <a:spcPct val="100000"/>
              </a:lnSpc>
              <a:buFont typeface="Wingdings" panose="05000000000000000000" pitchFamily="2" charset="2"/>
              <a:buChar char="Ø"/>
            </a:pPr>
            <a:r>
              <a:rPr lang="en-IN" sz="2200" dirty="0" smtClean="0">
                <a:latin typeface="Times New Roman" panose="02020603050405020304" pitchFamily="18" charset="0"/>
                <a:cs typeface="Times New Roman" panose="02020603050405020304" pitchFamily="18" charset="0"/>
              </a:rPr>
              <a:t>Access to social media data for research purpose might be restricted</a:t>
            </a:r>
            <a:r>
              <a:rPr lang="en-US" sz="2200" dirty="0" smtClean="0">
                <a:latin typeface="Times New Roman" panose="02020603050405020304" pitchFamily="18" charset="0"/>
                <a:cs typeface="Times New Roman" panose="02020603050405020304" pitchFamily="18" charset="0"/>
              </a:rPr>
              <a:t>.</a:t>
            </a:r>
          </a:p>
          <a:p>
            <a:pPr algn="just">
              <a:lnSpc>
                <a:spcPct val="100000"/>
              </a:lnSpc>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Mental health states can fluctuate over time, and social media posts may not </a:t>
            </a:r>
            <a:r>
              <a:rPr lang="en-US" sz="2200" dirty="0" smtClean="0">
                <a:latin typeface="Times New Roman" panose="02020603050405020304" pitchFamily="18" charset="0"/>
                <a:cs typeface="Times New Roman" panose="02020603050405020304" pitchFamily="18" charset="0"/>
              </a:rPr>
              <a:t>always </a:t>
            </a:r>
            <a:r>
              <a:rPr lang="en-US" sz="2200" dirty="0">
                <a:latin typeface="Times New Roman" panose="02020603050405020304" pitchFamily="18" charset="0"/>
                <a:cs typeface="Times New Roman" panose="02020603050405020304" pitchFamily="18" charset="0"/>
              </a:rPr>
              <a:t>reflect users' current emotional states</a:t>
            </a:r>
            <a:r>
              <a:rPr lang="en-US" sz="2200" dirty="0" smtClean="0">
                <a:latin typeface="Times New Roman" panose="02020603050405020304" pitchFamily="18" charset="0"/>
                <a:cs typeface="Times New Roman" panose="02020603050405020304" pitchFamily="18" charset="0"/>
              </a:rPr>
              <a:t>.</a:t>
            </a:r>
            <a:endParaRPr lang="en-US" sz="2200" dirty="0">
              <a:latin typeface="Times New Roman" panose="02020603050405020304" pitchFamily="18" charset="0"/>
              <a:cs typeface="Times New Roman" panose="02020603050405020304" pitchFamily="18" charset="0"/>
            </a:endParaRPr>
          </a:p>
          <a:p>
            <a:pPr marL="0" indent="0">
              <a:lnSpc>
                <a:spcPct val="100000"/>
              </a:lnSpc>
              <a:buNone/>
            </a:pP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9553294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3FDCDEE-A160-7300-7BF8-CE6CF14C13AE}"/>
              </a:ext>
            </a:extLst>
          </p:cNvPr>
          <p:cNvSpPr>
            <a:spLocks noGrp="1"/>
          </p:cNvSpPr>
          <p:nvPr>
            <p:ph type="title"/>
          </p:nvPr>
        </p:nvSpPr>
        <p:spPr>
          <a:xfrm>
            <a:off x="838200" y="365125"/>
            <a:ext cx="10515600" cy="539001"/>
          </a:xfrm>
        </p:spPr>
        <p:txBody>
          <a:bodyPr>
            <a:normAutofit fontScale="90000"/>
          </a:bodyPr>
          <a:lstStyle/>
          <a:p>
            <a:pPr algn="ctr"/>
            <a:r>
              <a:rPr lang="en-IN" sz="4000" b="1" dirty="0" smtClean="0">
                <a:latin typeface="Times New Roman" panose="02020603050405020304" pitchFamily="18" charset="0"/>
                <a:cs typeface="Times New Roman" panose="02020603050405020304" pitchFamily="18" charset="0"/>
              </a:rPr>
              <a:t>CONCLUSIONS</a:t>
            </a:r>
            <a:endParaRPr lang="en-IN" sz="40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xmlns="" id="{1B901FFE-0768-BFF7-8D09-75D1CA095A9E}"/>
              </a:ext>
            </a:extLst>
          </p:cNvPr>
          <p:cNvSpPr>
            <a:spLocks noGrp="1"/>
          </p:cNvSpPr>
          <p:nvPr>
            <p:ph idx="1"/>
          </p:nvPr>
        </p:nvSpPr>
        <p:spPr>
          <a:xfrm>
            <a:off x="838200" y="1191802"/>
            <a:ext cx="10515600" cy="4985161"/>
          </a:xfrm>
        </p:spPr>
        <p:txBody>
          <a:bodyPr>
            <a:normAutofit/>
          </a:bodyPr>
          <a:lstStyle/>
          <a:p>
            <a:pPr algn="just">
              <a:lnSpc>
                <a:spcPct val="100000"/>
              </a:lnSpc>
              <a:buFont typeface="Wingdings" panose="05000000000000000000" pitchFamily="2" charset="2"/>
              <a:buChar char="Ø"/>
            </a:pPr>
            <a:r>
              <a:rPr lang="en-AU" sz="2200" dirty="0">
                <a:latin typeface="Times New Roman" panose="02020603050405020304" pitchFamily="18" charset="0"/>
                <a:cs typeface="Times New Roman" panose="02020603050405020304" pitchFamily="18" charset="0"/>
              </a:rPr>
              <a:t>In this proposed system, automatically identifying potential online users with depression and stress is threatening people's health.</a:t>
            </a:r>
            <a:endParaRPr lang="en-US" sz="2200" dirty="0">
              <a:latin typeface="Times New Roman" panose="02020603050405020304" pitchFamily="18" charset="0"/>
              <a:cs typeface="Times New Roman" panose="02020603050405020304" pitchFamily="18" charset="0"/>
            </a:endParaRPr>
          </a:p>
          <a:p>
            <a:pPr algn="just">
              <a:lnSpc>
                <a:spcPct val="100000"/>
              </a:lnSpc>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Thus users suffering from depression can be identified and they might be helped before they take any drastic steps which might have a long lasting impact. </a:t>
            </a:r>
          </a:p>
          <a:p>
            <a:pPr algn="just">
              <a:lnSpc>
                <a:spcPct val="100000"/>
              </a:lnSpc>
              <a:buFont typeface="Wingdings" panose="05000000000000000000" pitchFamily="2" charset="2"/>
              <a:buChar char="Ø"/>
            </a:pPr>
            <a:r>
              <a:rPr lang="en-AU" sz="2200" dirty="0">
                <a:latin typeface="Times New Roman" panose="02020603050405020304" pitchFamily="18" charset="0"/>
                <a:cs typeface="Times New Roman" panose="02020603050405020304" pitchFamily="18" charset="0"/>
              </a:rPr>
              <a:t>Using the data of the social networks of the real world as a basis, we study the correlation between the states of psychological disorder of users and their social interaction behaviour we recommend the user for health precautions to send by mail for user interaction.</a:t>
            </a:r>
            <a:endParaRPr lang="en-US" sz="2200" dirty="0">
              <a:latin typeface="Times New Roman" panose="02020603050405020304" pitchFamily="18" charset="0"/>
              <a:cs typeface="Times New Roman" panose="02020603050405020304" pitchFamily="18" charset="0"/>
            </a:endParaRPr>
          </a:p>
          <a:p>
            <a:pPr>
              <a:lnSpc>
                <a:spcPct val="100000"/>
              </a:lnSpc>
            </a:pPr>
            <a:endParaRPr lang="en-IN" sz="2400" dirty="0"/>
          </a:p>
        </p:txBody>
      </p:sp>
    </p:spTree>
    <p:extLst>
      <p:ext uri="{BB962C8B-B14F-4D97-AF65-F5344CB8AC3E}">
        <p14:creationId xmlns:p14="http://schemas.microsoft.com/office/powerpoint/2010/main" val="69447149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88B114E-7B60-3889-5419-A07CBE083ABB}"/>
              </a:ext>
            </a:extLst>
          </p:cNvPr>
          <p:cNvSpPr>
            <a:spLocks noGrp="1"/>
          </p:cNvSpPr>
          <p:nvPr>
            <p:ph type="title"/>
          </p:nvPr>
        </p:nvSpPr>
        <p:spPr>
          <a:xfrm>
            <a:off x="838200" y="365125"/>
            <a:ext cx="10515600" cy="559549"/>
          </a:xfrm>
        </p:spPr>
        <p:txBody>
          <a:bodyPr>
            <a:normAutofit fontScale="90000"/>
          </a:bodyPr>
          <a:lstStyle/>
          <a:p>
            <a:pPr algn="ctr"/>
            <a:r>
              <a:rPr lang="en-IN" sz="4000" b="1" dirty="0" smtClean="0">
                <a:latin typeface="Times New Roman" panose="02020603050405020304" pitchFamily="18" charset="0"/>
                <a:cs typeface="Times New Roman" panose="02020603050405020304" pitchFamily="18" charset="0"/>
              </a:rPr>
              <a:t>FUTURE WORK</a:t>
            </a:r>
            <a:endParaRPr lang="en-IN" sz="40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xmlns="" id="{159A3AE8-5C8D-A9FC-AAAF-53B6ABC528B0}"/>
              </a:ext>
            </a:extLst>
          </p:cNvPr>
          <p:cNvSpPr>
            <a:spLocks noGrp="1"/>
          </p:cNvSpPr>
          <p:nvPr>
            <p:ph idx="1"/>
          </p:nvPr>
        </p:nvSpPr>
        <p:spPr>
          <a:xfrm>
            <a:off x="838200" y="1182414"/>
            <a:ext cx="10515600" cy="5824561"/>
          </a:xfrm>
        </p:spPr>
        <p:txBody>
          <a:bodyPr>
            <a:noAutofit/>
          </a:bodyPr>
          <a:lstStyle/>
          <a:p>
            <a:pPr>
              <a:lnSpc>
                <a:spcPct val="100000"/>
              </a:lnSpc>
              <a:buFont typeface="Wingdings" panose="05000000000000000000" pitchFamily="2" charset="2"/>
              <a:buChar char="Ø"/>
            </a:pPr>
            <a:r>
              <a:rPr lang="en-US" sz="2200" dirty="0" smtClean="0">
                <a:latin typeface="Times New Roman" panose="02020603050405020304" pitchFamily="18" charset="0"/>
                <a:cs typeface="Times New Roman" panose="02020603050405020304" pitchFamily="18" charset="0"/>
              </a:rPr>
              <a:t>More </a:t>
            </a:r>
            <a:r>
              <a:rPr lang="en-US" sz="2200" dirty="0">
                <a:latin typeface="Times New Roman" panose="02020603050405020304" pitchFamily="18" charset="0"/>
                <a:cs typeface="Times New Roman" panose="02020603050405020304" pitchFamily="18" charset="0"/>
              </a:rPr>
              <a:t>accurate and reliable machine learning models for stress and depression </a:t>
            </a:r>
            <a:r>
              <a:rPr lang="en-US" sz="2200" dirty="0" smtClean="0">
                <a:latin typeface="Times New Roman" panose="02020603050405020304" pitchFamily="18" charset="0"/>
                <a:cs typeface="Times New Roman" panose="02020603050405020304" pitchFamily="18" charset="0"/>
              </a:rPr>
              <a:t>detection can  be created by continued research. </a:t>
            </a:r>
            <a:endParaRPr lang="en-US" sz="2200" dirty="0">
              <a:latin typeface="Times New Roman" panose="02020603050405020304" pitchFamily="18" charset="0"/>
              <a:cs typeface="Times New Roman" panose="02020603050405020304" pitchFamily="18" charset="0"/>
            </a:endParaRPr>
          </a:p>
          <a:p>
            <a:pPr>
              <a:lnSpc>
                <a:spcPct val="100000"/>
              </a:lnSpc>
              <a:buFont typeface="Wingdings" panose="05000000000000000000" pitchFamily="2" charset="2"/>
              <a:buChar char="Ø"/>
            </a:pPr>
            <a:r>
              <a:rPr lang="en-US" sz="2200" dirty="0" smtClean="0">
                <a:latin typeface="Times New Roman" panose="02020603050405020304" pitchFamily="18" charset="0"/>
                <a:cs typeface="Times New Roman" panose="02020603050405020304" pitchFamily="18" charset="0"/>
              </a:rPr>
              <a:t>Incorporating </a:t>
            </a:r>
            <a:r>
              <a:rPr lang="en-US" sz="2200" dirty="0">
                <a:latin typeface="Times New Roman" panose="02020603050405020304" pitchFamily="18" charset="0"/>
                <a:cs typeface="Times New Roman" panose="02020603050405020304" pitchFamily="18" charset="0"/>
              </a:rPr>
              <a:t>advanced </a:t>
            </a:r>
            <a:r>
              <a:rPr lang="en-US" sz="2200" dirty="0" smtClean="0">
                <a:latin typeface="Times New Roman" panose="02020603050405020304" pitchFamily="18" charset="0"/>
                <a:cs typeface="Times New Roman" panose="02020603050405020304" pitchFamily="18" charset="0"/>
              </a:rPr>
              <a:t>NLP techniques&amp; </a:t>
            </a:r>
            <a:r>
              <a:rPr lang="en-US" sz="2200" dirty="0">
                <a:latin typeface="Times New Roman" panose="02020603050405020304" pitchFamily="18" charset="0"/>
                <a:cs typeface="Times New Roman" panose="02020603050405020304" pitchFamily="18" charset="0"/>
              </a:rPr>
              <a:t>multimodal data </a:t>
            </a:r>
            <a:r>
              <a:rPr lang="en-US" sz="2200" dirty="0" smtClean="0">
                <a:latin typeface="Times New Roman" panose="02020603050405020304" pitchFamily="18" charset="0"/>
                <a:cs typeface="Times New Roman" panose="02020603050405020304" pitchFamily="18" charset="0"/>
              </a:rPr>
              <a:t>fusions like text, images and videos </a:t>
            </a:r>
            <a:r>
              <a:rPr lang="en-US" sz="2200" dirty="0">
                <a:latin typeface="Times New Roman" panose="02020603050405020304" pitchFamily="18" charset="0"/>
                <a:cs typeface="Times New Roman" panose="02020603050405020304" pitchFamily="18" charset="0"/>
              </a:rPr>
              <a:t>can improve model performance</a:t>
            </a:r>
            <a:r>
              <a:rPr lang="en-US" sz="2200" dirty="0" smtClean="0">
                <a:latin typeface="Times New Roman" panose="02020603050405020304" pitchFamily="18" charset="0"/>
                <a:cs typeface="Times New Roman" panose="02020603050405020304" pitchFamily="18" charset="0"/>
              </a:rPr>
              <a:t>.</a:t>
            </a:r>
            <a:endParaRPr lang="en-US" sz="2200" dirty="0">
              <a:latin typeface="Times New Roman" panose="02020603050405020304" pitchFamily="18" charset="0"/>
              <a:cs typeface="Times New Roman" panose="02020603050405020304" pitchFamily="18" charset="0"/>
            </a:endParaRPr>
          </a:p>
          <a:p>
            <a:pPr>
              <a:lnSpc>
                <a:spcPct val="100000"/>
              </a:lnSpc>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Implement advanced user feedback for better personalization.</a:t>
            </a:r>
          </a:p>
          <a:p>
            <a:pPr>
              <a:lnSpc>
                <a:spcPct val="100000"/>
              </a:lnSpc>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enabling real-time intervention and support for individuals at risk of stress and depression.</a:t>
            </a:r>
          </a:p>
          <a:p>
            <a:pPr>
              <a:lnSpc>
                <a:spcPct val="100000"/>
              </a:lnSpc>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Enhance privacy and security measures.</a:t>
            </a:r>
          </a:p>
          <a:p>
            <a:pPr>
              <a:lnSpc>
                <a:spcPct val="100000"/>
              </a:lnSpc>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Incorporate voice recognition for </a:t>
            </a:r>
            <a:r>
              <a:rPr lang="en-US" sz="2200" dirty="0" smtClean="0">
                <a:latin typeface="Times New Roman" panose="02020603050405020304" pitchFamily="18" charset="0"/>
                <a:cs typeface="Times New Roman" panose="02020603050405020304" pitchFamily="18" charset="0"/>
              </a:rPr>
              <a:t>stress detection.</a:t>
            </a:r>
            <a:endParaRPr lang="en-US"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5169242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19CFA9C-F97F-79D5-E556-8108E76142C9}"/>
              </a:ext>
            </a:extLst>
          </p:cNvPr>
          <p:cNvSpPr>
            <a:spLocks noGrp="1"/>
          </p:cNvSpPr>
          <p:nvPr>
            <p:ph type="title"/>
          </p:nvPr>
        </p:nvSpPr>
        <p:spPr>
          <a:xfrm>
            <a:off x="838200" y="1"/>
            <a:ext cx="10515600" cy="1259840"/>
          </a:xfrm>
        </p:spPr>
        <p:txBody>
          <a:bodyPr>
            <a:normAutofit/>
          </a:bodyPr>
          <a:lstStyle/>
          <a:p>
            <a:pPr algn="ctr"/>
            <a:r>
              <a:rPr lang="en-IN" sz="3600" b="1" dirty="0" smtClean="0">
                <a:latin typeface="Times New Roman" panose="02020603050405020304" pitchFamily="18" charset="0"/>
                <a:cs typeface="Times New Roman" panose="02020603050405020304" pitchFamily="18" charset="0"/>
              </a:rPr>
              <a:t>LIST OF PUBLICATIONS</a:t>
            </a:r>
            <a:endParaRPr lang="en-IN" sz="3600" dirty="0"/>
          </a:p>
        </p:txBody>
      </p:sp>
      <p:sp>
        <p:nvSpPr>
          <p:cNvPr id="3" name="Content Placeholder 2">
            <a:extLst>
              <a:ext uri="{FF2B5EF4-FFF2-40B4-BE49-F238E27FC236}">
                <a16:creationId xmlns:a16="http://schemas.microsoft.com/office/drawing/2014/main" xmlns="" id="{BA6C8A16-6628-C131-09AF-A0CD4AF791B6}"/>
              </a:ext>
            </a:extLst>
          </p:cNvPr>
          <p:cNvSpPr>
            <a:spLocks noGrp="1"/>
          </p:cNvSpPr>
          <p:nvPr>
            <p:ph idx="1"/>
          </p:nvPr>
        </p:nvSpPr>
        <p:spPr>
          <a:xfrm>
            <a:off x="838200" y="1690688"/>
            <a:ext cx="10515600" cy="4351338"/>
          </a:xfrm>
        </p:spPr>
        <p:txBody>
          <a:bodyPr>
            <a:normAutofit fontScale="92500" lnSpcReduction="10000"/>
          </a:bodyPr>
          <a:lstStyle/>
          <a:p>
            <a:pPr>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Paper 1</a:t>
            </a:r>
          </a:p>
          <a:p>
            <a:pPr marL="0" indent="0">
              <a:buNone/>
            </a:pPr>
            <a:r>
              <a:rPr lang="en-IN" dirty="0">
                <a:latin typeface="Times New Roman" panose="02020603050405020304" pitchFamily="18" charset="0"/>
                <a:cs typeface="Times New Roman" panose="02020603050405020304" pitchFamily="18" charset="0"/>
              </a:rPr>
              <a:t>	Publication Name </a:t>
            </a:r>
            <a:r>
              <a:rPr lang="en-IN" sz="2400" dirty="0" smtClean="0">
                <a:latin typeface="Times New Roman" panose="02020603050405020304" pitchFamily="18" charset="0"/>
                <a:cs typeface="Times New Roman" panose="02020603050405020304" pitchFamily="18" charset="0"/>
              </a:rPr>
              <a:t>: International Research Journal of Modernization in 					Engineering </a:t>
            </a:r>
            <a:r>
              <a:rPr lang="en-IN" sz="2400" dirty="0" smtClean="0">
                <a:latin typeface="Times New Roman" panose="02020603050405020304" pitchFamily="18" charset="0"/>
                <a:cs typeface="Times New Roman" panose="02020603050405020304" pitchFamily="18" charset="0"/>
              </a:rPr>
              <a:t>Technology </a:t>
            </a:r>
            <a:r>
              <a:rPr lang="en-IN" sz="2400" dirty="0" smtClean="0">
                <a:latin typeface="Times New Roman" panose="02020603050405020304" pitchFamily="18" charset="0"/>
                <a:cs typeface="Times New Roman" panose="02020603050405020304" pitchFamily="18" charset="0"/>
              </a:rPr>
              <a:t>and Science</a:t>
            </a:r>
            <a:r>
              <a:rPr lang="en-IN" dirty="0">
                <a:latin typeface="Times New Roman" panose="02020603050405020304" pitchFamily="18" charset="0"/>
                <a:cs typeface="Times New Roman" panose="02020603050405020304" pitchFamily="18" charset="0"/>
              </a:rPr>
              <a:t>	</a:t>
            </a:r>
            <a:endParaRPr lang="en-IN" dirty="0" smtClean="0">
              <a:latin typeface="Times New Roman" panose="02020603050405020304" pitchFamily="18" charset="0"/>
              <a:cs typeface="Times New Roman" panose="02020603050405020304" pitchFamily="18" charset="0"/>
            </a:endParaRPr>
          </a:p>
          <a:p>
            <a:pPr marL="0" indent="0">
              <a:buNone/>
            </a:pPr>
            <a:r>
              <a:rPr lang="en-IN" dirty="0" smtClean="0">
                <a:latin typeface="Times New Roman" panose="02020603050405020304" pitchFamily="18" charset="0"/>
                <a:cs typeface="Times New Roman" panose="02020603050405020304" pitchFamily="18" charset="0"/>
              </a:rPr>
              <a:t>	ISSN </a:t>
            </a:r>
            <a:r>
              <a:rPr lang="en-IN" dirty="0">
                <a:latin typeface="Times New Roman" panose="02020603050405020304" pitchFamily="18" charset="0"/>
                <a:cs typeface="Times New Roman" panose="02020603050405020304" pitchFamily="18" charset="0"/>
              </a:rPr>
              <a:t>No. : </a:t>
            </a:r>
            <a:r>
              <a:rPr lang="en-IN" sz="2400" dirty="0" smtClean="0">
                <a:latin typeface="Times New Roman" panose="02020603050405020304" pitchFamily="18" charset="0"/>
                <a:cs typeface="Times New Roman" panose="02020603050405020304" pitchFamily="18" charset="0"/>
              </a:rPr>
              <a:t>2582-5208</a:t>
            </a:r>
            <a:endParaRPr lang="en-IN" sz="2400" dirty="0">
              <a:latin typeface="Times New Roman" panose="02020603050405020304" pitchFamily="18" charset="0"/>
              <a:cs typeface="Times New Roman" panose="02020603050405020304" pitchFamily="18" charset="0"/>
            </a:endParaRPr>
          </a:p>
          <a:p>
            <a:pPr marL="0" indent="0">
              <a:buNone/>
            </a:pPr>
            <a:endParaRPr lang="en-IN" dirty="0">
              <a:latin typeface="Times New Roman" panose="02020603050405020304" pitchFamily="18" charset="0"/>
              <a:cs typeface="Times New Roman" panose="02020603050405020304" pitchFamily="18" charset="0"/>
            </a:endParaRPr>
          </a:p>
          <a:p>
            <a:pPr marL="0" indent="0">
              <a:buNone/>
            </a:pPr>
            <a:endParaRPr lang="en-IN"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Paper 2</a:t>
            </a:r>
          </a:p>
          <a:p>
            <a:pPr marL="0" indent="0">
              <a:buNone/>
            </a:pPr>
            <a:r>
              <a:rPr lang="en-IN" dirty="0">
                <a:latin typeface="Times New Roman" panose="02020603050405020304" pitchFamily="18" charset="0"/>
                <a:cs typeface="Times New Roman" panose="02020603050405020304" pitchFamily="18" charset="0"/>
              </a:rPr>
              <a:t>	Publication Name :</a:t>
            </a:r>
            <a:r>
              <a:rPr lang="en-IN" sz="2600" dirty="0">
                <a:latin typeface="Times New Roman" panose="02020603050405020304" pitchFamily="18" charset="0"/>
                <a:cs typeface="Times New Roman" panose="02020603050405020304" pitchFamily="18" charset="0"/>
              </a:rPr>
              <a:t> </a:t>
            </a:r>
            <a:r>
              <a:rPr lang="en-IN" sz="2400" dirty="0" smtClean="0">
                <a:latin typeface="Times New Roman" panose="02020603050405020304" pitchFamily="18" charset="0"/>
                <a:cs typeface="Times New Roman" panose="02020603050405020304" pitchFamily="18" charset="0"/>
              </a:rPr>
              <a:t>International Journal of All Research Education &amp; 					Scientific Methods</a:t>
            </a:r>
            <a:endParaRPr lang="en-IN" sz="2400" dirty="0">
              <a:latin typeface="Times New Roman" panose="02020603050405020304" pitchFamily="18" charset="0"/>
              <a:cs typeface="Times New Roman" panose="02020603050405020304" pitchFamily="18" charset="0"/>
            </a:endParaRPr>
          </a:p>
          <a:p>
            <a:pPr marL="0" indent="0">
              <a:buNone/>
            </a:pPr>
            <a:r>
              <a:rPr lang="en-IN" dirty="0">
                <a:latin typeface="Times New Roman" panose="02020603050405020304" pitchFamily="18" charset="0"/>
                <a:cs typeface="Times New Roman" panose="02020603050405020304" pitchFamily="18" charset="0"/>
              </a:rPr>
              <a:t>	ISSN No. : </a:t>
            </a:r>
            <a:r>
              <a:rPr lang="en-IN" sz="2400" dirty="0" smtClean="0">
                <a:latin typeface="Times New Roman" panose="02020603050405020304" pitchFamily="18" charset="0"/>
                <a:cs typeface="Times New Roman" panose="02020603050405020304" pitchFamily="18" charset="0"/>
              </a:rPr>
              <a:t>2455-6211</a:t>
            </a:r>
            <a:endParaRPr lang="en-IN" sz="2400" dirty="0">
              <a:latin typeface="Times New Roman" panose="02020603050405020304" pitchFamily="18" charset="0"/>
              <a:cs typeface="Times New Roman" panose="02020603050405020304" pitchFamily="18" charset="0"/>
            </a:endParaRPr>
          </a:p>
          <a:p>
            <a:pPr marL="457200" lvl="1" indent="0">
              <a:buNone/>
            </a:pPr>
            <a:endParaRPr lang="en-IN" dirty="0"/>
          </a:p>
        </p:txBody>
      </p:sp>
    </p:spTree>
    <p:extLst>
      <p:ext uri="{BB962C8B-B14F-4D97-AF65-F5344CB8AC3E}">
        <p14:creationId xmlns:p14="http://schemas.microsoft.com/office/powerpoint/2010/main" val="17885803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46A40D6-B7AF-77B1-37DB-9F8DDAFBA335}"/>
              </a:ext>
            </a:extLst>
          </p:cNvPr>
          <p:cNvSpPr>
            <a:spLocks noGrp="1"/>
          </p:cNvSpPr>
          <p:nvPr>
            <p:ph type="title"/>
          </p:nvPr>
        </p:nvSpPr>
        <p:spPr>
          <a:xfrm>
            <a:off x="838200" y="211013"/>
            <a:ext cx="10515600" cy="559549"/>
          </a:xfrm>
        </p:spPr>
        <p:txBody>
          <a:bodyPr>
            <a:normAutofit fontScale="90000"/>
          </a:bodyPr>
          <a:lstStyle/>
          <a:p>
            <a:pPr algn="ctr"/>
            <a:r>
              <a:rPr lang="en-IN" sz="4000" b="1" dirty="0" smtClean="0">
                <a:latin typeface="Times New Roman" panose="02020603050405020304" pitchFamily="18" charset="0"/>
                <a:cs typeface="Times New Roman" panose="02020603050405020304" pitchFamily="18" charset="0"/>
              </a:rPr>
              <a:t>REFERENCES</a:t>
            </a:r>
            <a:endParaRPr lang="en-IN" sz="40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xmlns="" id="{2580732A-E3A0-039F-976B-13397C5DFF0F}"/>
              </a:ext>
            </a:extLst>
          </p:cNvPr>
          <p:cNvSpPr>
            <a:spLocks noGrp="1"/>
          </p:cNvSpPr>
          <p:nvPr>
            <p:ph idx="1"/>
          </p:nvPr>
        </p:nvSpPr>
        <p:spPr>
          <a:xfrm>
            <a:off x="215757" y="1063375"/>
            <a:ext cx="11458083" cy="5794625"/>
          </a:xfrm>
        </p:spPr>
        <p:txBody>
          <a:bodyPr>
            <a:normAutofit fontScale="77500" lnSpcReduction="20000"/>
          </a:bodyPr>
          <a:lstStyle/>
          <a:p>
            <a:pPr marL="425196" lvl="0" indent="-342900" algn="just">
              <a:lnSpc>
                <a:spcPct val="150000"/>
              </a:lnSpc>
              <a:buFont typeface="+mj-lt"/>
              <a:buAutoNum type="arabicPeriod"/>
            </a:pPr>
            <a:r>
              <a:rPr lang="en-US" sz="2600" dirty="0" err="1">
                <a:latin typeface="Times New Roman" panose="02020603050405020304" pitchFamily="18" charset="0"/>
                <a:cs typeface="Times New Roman" panose="02020603050405020304" pitchFamily="18" charset="0"/>
              </a:rPr>
              <a:t>Renata</a:t>
            </a:r>
            <a:r>
              <a:rPr lang="en-US" sz="2600" dirty="0">
                <a:latin typeface="Times New Roman" panose="02020603050405020304" pitchFamily="18" charset="0"/>
                <a:cs typeface="Times New Roman" panose="02020603050405020304" pitchFamily="18" charset="0"/>
              </a:rPr>
              <a:t> L. Rosa, Gisele M. Schwartz, Wilson V. Ruggiero, and </a:t>
            </a:r>
            <a:r>
              <a:rPr lang="en-US" sz="2600" dirty="0" err="1">
                <a:latin typeface="Times New Roman" panose="02020603050405020304" pitchFamily="18" charset="0"/>
                <a:cs typeface="Times New Roman" panose="02020603050405020304" pitchFamily="18" charset="0"/>
              </a:rPr>
              <a:t>Dem´ostenes</a:t>
            </a:r>
            <a:r>
              <a:rPr lang="en-US" sz="2600" dirty="0">
                <a:latin typeface="Times New Roman" panose="02020603050405020304" pitchFamily="18" charset="0"/>
                <a:cs typeface="Times New Roman" panose="02020603050405020304" pitchFamily="18" charset="0"/>
              </a:rPr>
              <a:t> Z. </a:t>
            </a:r>
            <a:r>
              <a:rPr lang="en-US" sz="2600" dirty="0" err="1">
                <a:latin typeface="Times New Roman" panose="02020603050405020304" pitchFamily="18" charset="0"/>
                <a:cs typeface="Times New Roman" panose="02020603050405020304" pitchFamily="18" charset="0"/>
              </a:rPr>
              <a:t>Rodr´ıguez</a:t>
            </a:r>
            <a:r>
              <a:rPr lang="en-US" sz="2600" dirty="0">
                <a:latin typeface="Times New Roman" panose="02020603050405020304" pitchFamily="18" charset="0"/>
                <a:cs typeface="Times New Roman" panose="02020603050405020304" pitchFamily="18" charset="0"/>
              </a:rPr>
              <a:t>, Senior Member, IEEE” A Knowledge-Based Recommendation System that includes Sentiment Analysis and Deep Learning” IEEE 2019.</a:t>
            </a:r>
          </a:p>
          <a:p>
            <a:pPr marL="425196" lvl="0" indent="-342900" algn="just">
              <a:lnSpc>
                <a:spcPct val="150000"/>
              </a:lnSpc>
              <a:buFont typeface="+mj-lt"/>
              <a:buAutoNum type="arabicPeriod"/>
            </a:pPr>
            <a:r>
              <a:rPr lang="en-US" sz="2600" dirty="0" err="1">
                <a:latin typeface="Times New Roman" panose="02020603050405020304" pitchFamily="18" charset="0"/>
                <a:cs typeface="Times New Roman" panose="02020603050405020304" pitchFamily="18" charset="0"/>
              </a:rPr>
              <a:t>Guang</a:t>
            </a:r>
            <a:r>
              <a:rPr lang="en-US" sz="2600" dirty="0">
                <a:latin typeface="Times New Roman" panose="02020603050405020304" pitchFamily="18" charset="0"/>
                <a:cs typeface="Times New Roman" panose="02020603050405020304" pitchFamily="18" charset="0"/>
              </a:rPr>
              <a:t> Yang, </a:t>
            </a:r>
            <a:r>
              <a:rPr lang="en-US" sz="2600" dirty="0" err="1">
                <a:latin typeface="Times New Roman" panose="02020603050405020304" pitchFamily="18" charset="0"/>
                <a:cs typeface="Times New Roman" panose="02020603050405020304" pitchFamily="18" charset="0"/>
              </a:rPr>
              <a:t>Haibo</a:t>
            </a:r>
            <a:r>
              <a:rPr lang="en-US" sz="2600" dirty="0">
                <a:latin typeface="Times New Roman" panose="02020603050405020304" pitchFamily="18" charset="0"/>
                <a:cs typeface="Times New Roman" panose="02020603050405020304" pitchFamily="18" charset="0"/>
              </a:rPr>
              <a:t> He, Fellow, IEEE, and </a:t>
            </a:r>
            <a:r>
              <a:rPr lang="en-US" sz="2600" dirty="0" err="1">
                <a:latin typeface="Times New Roman" panose="02020603050405020304" pitchFamily="18" charset="0"/>
                <a:cs typeface="Times New Roman" panose="02020603050405020304" pitchFamily="18" charset="0"/>
              </a:rPr>
              <a:t>Qian</a:t>
            </a:r>
            <a:r>
              <a:rPr lang="en-US" sz="2600" dirty="0">
                <a:latin typeface="Times New Roman" panose="02020603050405020304" pitchFamily="18" charset="0"/>
                <a:cs typeface="Times New Roman" panose="02020603050405020304" pitchFamily="18" charset="0"/>
              </a:rPr>
              <a:t> Chen” Emotion-Semantic Enhanced Neural Network” IEEE 2019.</a:t>
            </a:r>
          </a:p>
          <a:p>
            <a:pPr marL="425196" lvl="0" indent="-342900" algn="just">
              <a:lnSpc>
                <a:spcPct val="150000"/>
              </a:lnSpc>
              <a:buFont typeface="+mj-lt"/>
              <a:buAutoNum type="arabicPeriod"/>
            </a:pPr>
            <a:r>
              <a:rPr lang="en-US" sz="2600" dirty="0">
                <a:latin typeface="Times New Roman" panose="02020603050405020304" pitchFamily="18" charset="0"/>
                <a:cs typeface="Times New Roman" panose="02020603050405020304" pitchFamily="18" charset="0"/>
              </a:rPr>
              <a:t>M. Al-</a:t>
            </a:r>
            <a:r>
              <a:rPr lang="en-US" sz="2600" dirty="0" err="1">
                <a:latin typeface="Times New Roman" panose="02020603050405020304" pitchFamily="18" charset="0"/>
                <a:cs typeface="Times New Roman" panose="02020603050405020304" pitchFamily="18" charset="0"/>
              </a:rPr>
              <a:t>Qurishi</a:t>
            </a:r>
            <a:r>
              <a:rPr lang="en-US" sz="2600" dirty="0">
                <a:latin typeface="Times New Roman" panose="02020603050405020304" pitchFamily="18" charset="0"/>
                <a:cs typeface="Times New Roman" panose="02020603050405020304" pitchFamily="18" charset="0"/>
              </a:rPr>
              <a:t>, M. S. Hossain, M. </a:t>
            </a:r>
            <a:r>
              <a:rPr lang="en-US" sz="2600" dirty="0" err="1">
                <a:latin typeface="Times New Roman" panose="02020603050405020304" pitchFamily="18" charset="0"/>
                <a:cs typeface="Times New Roman" panose="02020603050405020304" pitchFamily="18" charset="0"/>
              </a:rPr>
              <a:t>Alrubaian</a:t>
            </a:r>
            <a:r>
              <a:rPr lang="en-US" sz="2600" dirty="0">
                <a:latin typeface="Times New Roman" panose="02020603050405020304" pitchFamily="18" charset="0"/>
                <a:cs typeface="Times New Roman" panose="02020603050405020304" pitchFamily="18" charset="0"/>
              </a:rPr>
              <a:t>, S. M. M. Rahman, and A. </a:t>
            </a:r>
            <a:r>
              <a:rPr lang="en-US" sz="2600" dirty="0" err="1">
                <a:latin typeface="Times New Roman" panose="02020603050405020304" pitchFamily="18" charset="0"/>
                <a:cs typeface="Times New Roman" panose="02020603050405020304" pitchFamily="18" charset="0"/>
              </a:rPr>
              <a:t>Alamri</a:t>
            </a:r>
            <a:r>
              <a:rPr lang="en-US" sz="2600" dirty="0">
                <a:latin typeface="Times New Roman" panose="02020603050405020304" pitchFamily="18" charset="0"/>
                <a:cs typeface="Times New Roman" panose="02020603050405020304" pitchFamily="18" charset="0"/>
              </a:rPr>
              <a:t>, “Leveraging analysis of user behavior to identify malicious activities in large-scale social networks,” IEEE Transactions on Industrial Informatics, vol. 14, no. 2, pp. 799–813, Feb 2018.</a:t>
            </a:r>
          </a:p>
          <a:p>
            <a:pPr marL="425196" lvl="0" indent="-342900" algn="just">
              <a:lnSpc>
                <a:spcPct val="150000"/>
              </a:lnSpc>
              <a:buFont typeface="+mj-lt"/>
              <a:buAutoNum type="arabicPeriod"/>
            </a:pPr>
            <a:r>
              <a:rPr lang="en-US" sz="2600" dirty="0">
                <a:latin typeface="Times New Roman" panose="02020603050405020304" pitchFamily="18" charset="0"/>
                <a:cs typeface="Times New Roman" panose="02020603050405020304" pitchFamily="18" charset="0"/>
              </a:rPr>
              <a:t>H. Lin, J. </a:t>
            </a:r>
            <a:r>
              <a:rPr lang="en-US" sz="2600" dirty="0" err="1">
                <a:latin typeface="Times New Roman" panose="02020603050405020304" pitchFamily="18" charset="0"/>
                <a:cs typeface="Times New Roman" panose="02020603050405020304" pitchFamily="18" charset="0"/>
              </a:rPr>
              <a:t>Jia</a:t>
            </a:r>
            <a:r>
              <a:rPr lang="en-US" sz="2600" dirty="0">
                <a:latin typeface="Times New Roman" panose="02020603050405020304" pitchFamily="18" charset="0"/>
                <a:cs typeface="Times New Roman" panose="02020603050405020304" pitchFamily="18" charset="0"/>
              </a:rPr>
              <a:t>, J. </a:t>
            </a:r>
            <a:r>
              <a:rPr lang="en-US" sz="2600" dirty="0" err="1">
                <a:latin typeface="Times New Roman" panose="02020603050405020304" pitchFamily="18" charset="0"/>
                <a:cs typeface="Times New Roman" panose="02020603050405020304" pitchFamily="18" charset="0"/>
              </a:rPr>
              <a:t>Qiu</a:t>
            </a:r>
            <a:r>
              <a:rPr lang="en-US" sz="2600" dirty="0">
                <a:latin typeface="Times New Roman" panose="02020603050405020304" pitchFamily="18" charset="0"/>
                <a:cs typeface="Times New Roman" panose="02020603050405020304" pitchFamily="18" charset="0"/>
              </a:rPr>
              <a:t>, Y. Zhang, G. </a:t>
            </a:r>
            <a:r>
              <a:rPr lang="en-US" sz="2600" dirty="0" err="1">
                <a:latin typeface="Times New Roman" panose="02020603050405020304" pitchFamily="18" charset="0"/>
                <a:cs typeface="Times New Roman" panose="02020603050405020304" pitchFamily="18" charset="0"/>
              </a:rPr>
              <a:t>Shen</a:t>
            </a:r>
            <a:r>
              <a:rPr lang="en-US" sz="2600" dirty="0">
                <a:latin typeface="Times New Roman" panose="02020603050405020304" pitchFamily="18" charset="0"/>
                <a:cs typeface="Times New Roman" panose="02020603050405020304" pitchFamily="18" charset="0"/>
              </a:rPr>
              <a:t>, L. </a:t>
            </a:r>
            <a:r>
              <a:rPr lang="en-US" sz="2600" dirty="0" err="1">
                <a:latin typeface="Times New Roman" panose="02020603050405020304" pitchFamily="18" charset="0"/>
                <a:cs typeface="Times New Roman" panose="02020603050405020304" pitchFamily="18" charset="0"/>
              </a:rPr>
              <a:t>Xie</a:t>
            </a:r>
            <a:r>
              <a:rPr lang="en-US" sz="2600" dirty="0">
                <a:latin typeface="Times New Roman" panose="02020603050405020304" pitchFamily="18" charset="0"/>
                <a:cs typeface="Times New Roman" panose="02020603050405020304" pitchFamily="18" charset="0"/>
              </a:rPr>
              <a:t>, J. Tang, L. Feng, and T. S. Chua, “Detecting stress based on social interactions in social networks,” IEEE Transactions on Knowledge and Data Engineering, vol. 29, no. 9, pp. 1820–1833, Sept 2017.</a:t>
            </a:r>
          </a:p>
          <a:p>
            <a:pPr marL="425196" lvl="0" indent="-342900" algn="just">
              <a:lnSpc>
                <a:spcPct val="150000"/>
              </a:lnSpc>
              <a:buFont typeface="+mj-lt"/>
              <a:buAutoNum type="arabicPeriod"/>
            </a:pPr>
            <a:r>
              <a:rPr lang="en-US" sz="2600" dirty="0" err="1">
                <a:latin typeface="Times New Roman" panose="02020603050405020304" pitchFamily="18" charset="0"/>
                <a:cs typeface="Times New Roman" panose="02020603050405020304" pitchFamily="18" charset="0"/>
              </a:rPr>
              <a:t>Budhaditya</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Saha</a:t>
            </a:r>
            <a:r>
              <a:rPr lang="en-US" sz="2600" dirty="0">
                <a:latin typeface="Times New Roman" panose="02020603050405020304" pitchFamily="18" charset="0"/>
                <a:cs typeface="Times New Roman" panose="02020603050405020304" pitchFamily="18" charset="0"/>
              </a:rPr>
              <a:t>, Thin Nguyen, </a:t>
            </a:r>
            <a:r>
              <a:rPr lang="en-US" sz="2600" dirty="0" err="1">
                <a:latin typeface="Times New Roman" panose="02020603050405020304" pitchFamily="18" charset="0"/>
                <a:cs typeface="Times New Roman" panose="02020603050405020304" pitchFamily="18" charset="0"/>
              </a:rPr>
              <a:t>Dinh</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Phung</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Svetha</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Venkatesh</a:t>
            </a:r>
            <a:r>
              <a:rPr lang="en-US" sz="2600" dirty="0">
                <a:latin typeface="Times New Roman" panose="02020603050405020304" pitchFamily="18" charset="0"/>
                <a:cs typeface="Times New Roman" panose="02020603050405020304" pitchFamily="18" charset="0"/>
              </a:rPr>
              <a:t>” A Framework for Classifying Online Mental Health Related Communities with an Interest in Depression” IEEE 2016.</a:t>
            </a:r>
          </a:p>
          <a:p>
            <a:pPr marL="425196" lvl="0" indent="-342900">
              <a:buFont typeface="+mj-lt"/>
              <a:buAutoNum type="arabicPeriod"/>
            </a:pPr>
            <a:endParaRPr lang="en-US" sz="2400" dirty="0"/>
          </a:p>
        </p:txBody>
      </p:sp>
    </p:spTree>
    <p:extLst>
      <p:ext uri="{BB962C8B-B14F-4D97-AF65-F5344CB8AC3E}">
        <p14:creationId xmlns:p14="http://schemas.microsoft.com/office/powerpoint/2010/main" val="386804564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xmlns="" id="{4535BB94-F628-886D-2549-A2E1CC770CDE}"/>
              </a:ext>
            </a:extLst>
          </p:cNvPr>
          <p:cNvSpPr>
            <a:spLocks noGrp="1"/>
          </p:cNvSpPr>
          <p:nvPr>
            <p:ph type="title"/>
          </p:nvPr>
        </p:nvSpPr>
        <p:spPr>
          <a:xfrm>
            <a:off x="838200" y="2103437"/>
            <a:ext cx="10515600" cy="1325563"/>
          </a:xfrm>
        </p:spPr>
        <p:txBody>
          <a:bodyPr>
            <a:normAutofit/>
          </a:bodyPr>
          <a:lstStyle/>
          <a:p>
            <a:pPr algn="ctr"/>
            <a:r>
              <a:rPr lang="en-IN" sz="8000" b="1" dirty="0" smtClean="0">
                <a:latin typeface="Times New Roman" panose="02020603050405020304" pitchFamily="18" charset="0"/>
                <a:cs typeface="Times New Roman" panose="02020603050405020304" pitchFamily="18" charset="0"/>
              </a:rPr>
              <a:t>Thank you !!!</a:t>
            </a:r>
            <a:endParaRPr lang="en-IN" sz="8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794283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723</TotalTime>
  <Words>2161</Words>
  <Application>Microsoft Office PowerPoint</Application>
  <PresentationFormat>Widescreen</PresentationFormat>
  <Paragraphs>238</Paragraphs>
  <Slides>34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34</vt:i4>
      </vt:variant>
    </vt:vector>
  </HeadingPairs>
  <TitlesOfParts>
    <vt:vector size="40" baseType="lpstr">
      <vt:lpstr>Arial</vt:lpstr>
      <vt:lpstr>Calibri</vt:lpstr>
      <vt:lpstr>Calibri Light</vt:lpstr>
      <vt:lpstr>Times New Roman</vt:lpstr>
      <vt:lpstr>Wingdings</vt:lpstr>
      <vt:lpstr>Office Theme</vt:lpstr>
      <vt:lpstr>PowerPoint Presentation</vt:lpstr>
      <vt:lpstr>CONTENTS</vt:lpstr>
      <vt:lpstr>MOTIVATION</vt:lpstr>
      <vt:lpstr>INTRODUCTION</vt:lpstr>
      <vt:lpstr>PowerPoint Presentation</vt:lpstr>
      <vt:lpstr>PROBLEM STATEMENT</vt:lpstr>
      <vt:lpstr>LITERATURE SURVEY</vt:lpstr>
      <vt:lpstr>LITERATURE SURVEY</vt:lpstr>
      <vt:lpstr>LITERATURE SURVEY</vt:lpstr>
      <vt:lpstr>GAP  ANALYSIS</vt:lpstr>
      <vt:lpstr>SYSTEM ARCHITECTURE</vt:lpstr>
      <vt:lpstr>PROPOSED ALGORITHM</vt:lpstr>
      <vt:lpstr>PROPOSED ALGORITHM</vt:lpstr>
      <vt:lpstr>MATHEMATICAL MODEL</vt:lpstr>
      <vt:lpstr>MATHEMATICAL MODEL</vt:lpstr>
      <vt:lpstr>SDLC MODEL</vt:lpstr>
      <vt:lpstr>COMPONENT DIAGRAM</vt:lpstr>
      <vt:lpstr>DEPLOYMENT DIAGRAM</vt:lpstr>
      <vt:lpstr>SYSTEM REQUIREMENTS</vt:lpstr>
      <vt:lpstr> Screen shots of implemented modules of project</vt:lpstr>
      <vt:lpstr>Screen shots of implemented modules of project</vt:lpstr>
      <vt:lpstr>Screen shots of implemented modules of project</vt:lpstr>
      <vt:lpstr>Screen shots of project output</vt:lpstr>
      <vt:lpstr>Screen shots of project output</vt:lpstr>
      <vt:lpstr>Screen shots of project output</vt:lpstr>
      <vt:lpstr>screen shots of project output</vt:lpstr>
      <vt:lpstr>screen shots of project output</vt:lpstr>
      <vt:lpstr>ADVANTAGES</vt:lpstr>
      <vt:lpstr>LIMITATIONS</vt:lpstr>
      <vt:lpstr>CONCLUSIONS</vt:lpstr>
      <vt:lpstr>FUTURE WORK</vt:lpstr>
      <vt:lpstr>LIST OF PUBLICATIONS</vt:lpstr>
      <vt:lpstr>REFERENCES</vt:lpstr>
      <vt:lpstr>Thank you !!!</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Contents</dc:title>
  <dc:creator>Sanskruti Patil</dc:creator>
  <cp:lastModifiedBy>Microsoft account</cp:lastModifiedBy>
  <cp:revision>28</cp:revision>
  <dcterms:created xsi:type="dcterms:W3CDTF">2024-05-21T16:34:21Z</dcterms:created>
  <dcterms:modified xsi:type="dcterms:W3CDTF">2024-05-25T10:17:13Z</dcterms:modified>
</cp:coreProperties>
</file>